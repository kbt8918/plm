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06" userDrawn="1">
          <p15:clr>
            <a:srgbClr val="A4A3A4"/>
          </p15:clr>
        </p15:guide>
        <p15:guide id="2" pos="3839" userDrawn="1">
          <p15:clr>
            <a:srgbClr val="A4A3A4"/>
          </p15:clr>
        </p15:guide>
        <p15:guide id="3" pos="157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181" autoAdjust="0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684" y="48"/>
      </p:cViewPr>
      <p:guideLst>
        <p:guide orient="horz" pos="1706"/>
        <p:guide pos="3839"/>
        <p:guide pos="157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5445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5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3315" y="0"/>
            <a:ext cx="11382323" cy="6858000"/>
          </a:xfrm>
          <a:prstGeom prst="rect">
            <a:avLst/>
          </a:prstGeom>
          <a:solidFill>
            <a:srgbClr val="343A4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07321" y="1639220"/>
            <a:ext cx="4014842" cy="11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 DESIGN DOCUMENT (SAMPLE)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4107321" y="1887644"/>
            <a:ext cx="4014842" cy="317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부품 공정 자동화 현황 — 화면 샘플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823350" y="2367318"/>
            <a:ext cx="542015" cy="20231"/>
          </a:xfrm>
          <a:prstGeom prst="rect">
            <a:avLst/>
          </a:prstGeom>
          <a:solidFill>
            <a:srgbClr val="ADB5B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107321" y="2550107"/>
            <a:ext cx="4014842" cy="682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44"/>
              </a:lnSpc>
              <a:buNone/>
            </a:pPr>
            <a:r>
              <a:rPr lang="en-US" sz="700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PLM 생기포털 고도화 프로젝트 — 화면설계서 부품 공정 자동화 현황 영역 검토용 샘플 와이어프레임입니다.</a:t>
            </a:r>
            <a:endParaRPr lang="en-US" sz="700" dirty="0"/>
          </a:p>
          <a:p>
            <a:pPr marL="0" indent="0" algn="ctr">
              <a:lnSpc>
                <a:spcPts val="1344"/>
              </a:lnSpc>
              <a:buNone/>
            </a:pPr>
            <a:r>
              <a:rPr lang="en-US" sz="700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완성도 확인 후 보정 작업을 진행합니다. 본 파일은 기존 화면설계서 산출물과 별개의 독립 파일입니다.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4107321" y="3162227"/>
            <a:ext cx="3974191" cy="897125"/>
          </a:xfrm>
          <a:prstGeom prst="roundRect">
            <a:avLst>
              <a:gd name="adj" fmla="val 9063"/>
            </a:avLst>
          </a:prstGeom>
          <a:solidFill>
            <a:srgbClr val="3E444A"/>
          </a:solidFill>
          <a:ln w="8467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290934" y="3345839"/>
            <a:ext cx="1789968" cy="211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2"/>
              </a:lnSpc>
              <a:buNone/>
            </a:pPr>
            <a:r>
              <a:rPr lang="en-US" sz="694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</a:t>
            </a:r>
            <a:endParaRPr lang="en-US" sz="694" dirty="0"/>
          </a:p>
          <a:p>
            <a:pPr marL="0" indent="0" algn="l">
              <a:lnSpc>
                <a:spcPts val="832"/>
              </a:lnSpc>
              <a:buNone/>
            </a:pPr>
            <a:r>
              <a:rPr lang="en-US" sz="69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PLM 생기포털 고도화</a:t>
            </a:r>
            <a:endParaRPr lang="en-US" sz="694" dirty="0"/>
          </a:p>
        </p:txBody>
      </p:sp>
      <p:sp>
        <p:nvSpPr>
          <p:cNvPr id="9" name="Text 7"/>
          <p:cNvSpPr txBox="1"/>
          <p:nvPr/>
        </p:nvSpPr>
        <p:spPr>
          <a:xfrm>
            <a:off x="6148583" y="3345839"/>
            <a:ext cx="1789968" cy="211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2"/>
              </a:lnSpc>
              <a:buNone/>
            </a:pPr>
            <a:r>
              <a:rPr lang="en-US" sz="694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Document Type</a:t>
            </a:r>
            <a:endParaRPr lang="en-US" sz="694" dirty="0"/>
          </a:p>
          <a:p>
            <a:pPr marL="0" indent="0" algn="l">
              <a:lnSpc>
                <a:spcPts val="832"/>
              </a:lnSpc>
              <a:buNone/>
            </a:pPr>
            <a:r>
              <a:rPr lang="en-US" sz="69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 Design Sample (Wireframe)</a:t>
            </a:r>
            <a:endParaRPr lang="en-US" sz="694" dirty="0"/>
          </a:p>
        </p:txBody>
      </p:sp>
      <p:sp>
        <p:nvSpPr>
          <p:cNvPr id="10" name="Text 8"/>
          <p:cNvSpPr txBox="1"/>
          <p:nvPr/>
        </p:nvSpPr>
        <p:spPr>
          <a:xfrm>
            <a:off x="4290934" y="3664955"/>
            <a:ext cx="1789968" cy="211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2"/>
              </a:lnSpc>
              <a:buNone/>
            </a:pPr>
            <a:r>
              <a:rPr lang="en-US" sz="694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Version</a:t>
            </a:r>
            <a:endParaRPr lang="en-US" sz="694" dirty="0"/>
          </a:p>
          <a:p>
            <a:pPr marL="0" indent="0" algn="l">
              <a:lnSpc>
                <a:spcPts val="832"/>
              </a:lnSpc>
              <a:buNone/>
            </a:pPr>
            <a:r>
              <a:rPr lang="en-US" sz="69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Draft 0.1</a:t>
            </a:r>
            <a:endParaRPr lang="en-US" sz="694" dirty="0"/>
          </a:p>
        </p:txBody>
      </p:sp>
      <p:sp>
        <p:nvSpPr>
          <p:cNvPr id="11" name="Text 9"/>
          <p:cNvSpPr txBox="1"/>
          <p:nvPr/>
        </p:nvSpPr>
        <p:spPr>
          <a:xfrm>
            <a:off x="6148583" y="3664955"/>
            <a:ext cx="1789968" cy="211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2"/>
              </a:lnSpc>
              <a:buNone/>
            </a:pPr>
            <a:r>
              <a:rPr lang="en-US" sz="694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Total Screens</a:t>
            </a:r>
            <a:endParaRPr lang="en-US" sz="694" dirty="0"/>
          </a:p>
          <a:p>
            <a:pPr marL="0" indent="0" algn="l">
              <a:lnSpc>
                <a:spcPts val="832"/>
              </a:lnSpc>
              <a:buNone/>
            </a:pPr>
            <a:r>
              <a:rPr lang="en-US" sz="69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 (SCR-001~014 + MTRM-MAIN)</a:t>
            </a:r>
            <a:endParaRPr lang="en-US" sz="694" dirty="0"/>
          </a:p>
        </p:txBody>
      </p:sp>
      <p:sp>
        <p:nvSpPr>
          <p:cNvPr id="12" name="Shape 10"/>
          <p:cNvSpPr/>
          <p:nvPr/>
        </p:nvSpPr>
        <p:spPr>
          <a:xfrm>
            <a:off x="4107321" y="4330359"/>
            <a:ext cx="1302107" cy="150560"/>
          </a:xfrm>
          <a:prstGeom prst="roundRect">
            <a:avLst>
              <a:gd name="adj" fmla="val 27000"/>
            </a:avLst>
          </a:prstGeom>
          <a:solidFill>
            <a:srgbClr val="3C424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175073" y="4364235"/>
            <a:ext cx="120725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587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SCR-001</a:t>
            </a:r>
            <a:r>
              <a:rPr lang="en-US" sz="587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부품 공정 자동화 현황</a:t>
            </a:r>
            <a:endParaRPr lang="en-US" sz="587" dirty="0"/>
          </a:p>
        </p:txBody>
      </p:sp>
      <p:sp>
        <p:nvSpPr>
          <p:cNvPr id="14" name="Shape 12"/>
          <p:cNvSpPr/>
          <p:nvPr/>
        </p:nvSpPr>
        <p:spPr>
          <a:xfrm>
            <a:off x="5443305" y="4330359"/>
            <a:ext cx="1302107" cy="150560"/>
          </a:xfrm>
          <a:prstGeom prst="roundRect">
            <a:avLst>
              <a:gd name="adj" fmla="val 27000"/>
            </a:avLst>
          </a:prstGeom>
          <a:solidFill>
            <a:srgbClr val="3C424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511056" y="4364235"/>
            <a:ext cx="120725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587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SCR-002</a:t>
            </a:r>
            <a:r>
              <a:rPr lang="en-US" sz="587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표준공정 마스터 관리</a:t>
            </a:r>
            <a:endParaRPr lang="en-US" sz="587" dirty="0"/>
          </a:p>
        </p:txBody>
      </p:sp>
      <p:sp>
        <p:nvSpPr>
          <p:cNvPr id="16" name="Shape 14"/>
          <p:cNvSpPr/>
          <p:nvPr/>
        </p:nvSpPr>
        <p:spPr>
          <a:xfrm>
            <a:off x="6779288" y="4330359"/>
            <a:ext cx="1302107" cy="150560"/>
          </a:xfrm>
          <a:prstGeom prst="roundRect">
            <a:avLst>
              <a:gd name="adj" fmla="val 27000"/>
            </a:avLst>
          </a:prstGeom>
          <a:solidFill>
            <a:srgbClr val="3C424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47040" y="4364235"/>
            <a:ext cx="120725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587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SCR-003</a:t>
            </a:r>
            <a:r>
              <a:rPr lang="en-US" sz="587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모듈 공정 자동화 현황</a:t>
            </a:r>
            <a:endParaRPr lang="en-US" sz="587" dirty="0"/>
          </a:p>
        </p:txBody>
      </p:sp>
      <p:sp>
        <p:nvSpPr>
          <p:cNvPr id="18" name="Shape 16"/>
          <p:cNvSpPr/>
          <p:nvPr/>
        </p:nvSpPr>
        <p:spPr>
          <a:xfrm>
            <a:off x="4107321" y="4514795"/>
            <a:ext cx="1302107" cy="150560"/>
          </a:xfrm>
          <a:prstGeom prst="roundRect">
            <a:avLst>
              <a:gd name="adj" fmla="val 27000"/>
            </a:avLst>
          </a:prstGeom>
          <a:solidFill>
            <a:srgbClr val="3C424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175073" y="4548671"/>
            <a:ext cx="120725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587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SCR-004</a:t>
            </a:r>
            <a:r>
              <a:rPr lang="en-US" sz="587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모듈 표준 작업명 관리</a:t>
            </a:r>
            <a:endParaRPr lang="en-US" sz="587" dirty="0"/>
          </a:p>
        </p:txBody>
      </p:sp>
      <p:sp>
        <p:nvSpPr>
          <p:cNvPr id="20" name="Shape 18"/>
          <p:cNvSpPr/>
          <p:nvPr/>
        </p:nvSpPr>
        <p:spPr>
          <a:xfrm>
            <a:off x="5443305" y="4514795"/>
            <a:ext cx="1302107" cy="150560"/>
          </a:xfrm>
          <a:prstGeom prst="roundRect">
            <a:avLst>
              <a:gd name="adj" fmla="val 27000"/>
            </a:avLst>
          </a:prstGeom>
          <a:solidFill>
            <a:srgbClr val="3C424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511056" y="4548671"/>
            <a:ext cx="120725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587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SCR-005</a:t>
            </a:r>
            <a:r>
              <a:rPr lang="en-US" sz="587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I/F 실행결과 관리</a:t>
            </a:r>
            <a:endParaRPr lang="en-US" sz="587" dirty="0"/>
          </a:p>
        </p:txBody>
      </p:sp>
      <p:sp>
        <p:nvSpPr>
          <p:cNvPr id="22" name="Shape 20"/>
          <p:cNvSpPr/>
          <p:nvPr/>
        </p:nvSpPr>
        <p:spPr>
          <a:xfrm>
            <a:off x="6779288" y="4514795"/>
            <a:ext cx="1302107" cy="150560"/>
          </a:xfrm>
          <a:prstGeom prst="roundRect">
            <a:avLst>
              <a:gd name="adj" fmla="val 27000"/>
            </a:avLst>
          </a:prstGeom>
          <a:solidFill>
            <a:srgbClr val="3C424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47040" y="4548671"/>
            <a:ext cx="120725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587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SCR-006</a:t>
            </a:r>
            <a:r>
              <a:rPr lang="en-US" sz="587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통합 로드맵</a:t>
            </a:r>
            <a:endParaRPr lang="en-US" sz="587" dirty="0"/>
          </a:p>
        </p:txBody>
      </p:sp>
      <p:sp>
        <p:nvSpPr>
          <p:cNvPr id="24" name="Shape 22"/>
          <p:cNvSpPr/>
          <p:nvPr/>
        </p:nvSpPr>
        <p:spPr>
          <a:xfrm>
            <a:off x="4107321" y="4699231"/>
            <a:ext cx="1302107" cy="150560"/>
          </a:xfrm>
          <a:prstGeom prst="roundRect">
            <a:avLst>
              <a:gd name="adj" fmla="val 27000"/>
            </a:avLst>
          </a:prstGeom>
          <a:solidFill>
            <a:srgbClr val="3C4248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175073" y="4733107"/>
            <a:ext cx="120725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587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SCR-007</a:t>
            </a:r>
            <a:r>
              <a:rPr lang="en-US" sz="587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상세과제 로드맵 관리</a:t>
            </a:r>
            <a:endParaRPr lang="en-US" sz="587" dirty="0"/>
          </a:p>
        </p:txBody>
      </p:sp>
      <p:sp>
        <p:nvSpPr>
          <p:cNvPr id="26" name="Shape 24"/>
          <p:cNvSpPr/>
          <p:nvPr/>
        </p:nvSpPr>
        <p:spPr>
          <a:xfrm>
            <a:off x="5443305" y="4699231"/>
            <a:ext cx="1302107" cy="150560"/>
          </a:xfrm>
          <a:prstGeom prst="roundRect">
            <a:avLst>
              <a:gd name="adj" fmla="val 27000"/>
            </a:avLst>
          </a:prstGeom>
          <a:solidFill>
            <a:srgbClr val="3C424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511056" y="4733107"/>
            <a:ext cx="120725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587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SCR-008</a:t>
            </a:r>
            <a:r>
              <a:rPr lang="en-US" sz="587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통합 로드맵 차트</a:t>
            </a:r>
            <a:endParaRPr lang="en-US" sz="587" dirty="0"/>
          </a:p>
        </p:txBody>
      </p:sp>
      <p:sp>
        <p:nvSpPr>
          <p:cNvPr id="28" name="Shape 26"/>
          <p:cNvSpPr/>
          <p:nvPr/>
        </p:nvSpPr>
        <p:spPr>
          <a:xfrm>
            <a:off x="6779288" y="4699231"/>
            <a:ext cx="1302107" cy="150560"/>
          </a:xfrm>
          <a:prstGeom prst="roundRect">
            <a:avLst>
              <a:gd name="adj" fmla="val 27000"/>
            </a:avLst>
          </a:prstGeom>
          <a:solidFill>
            <a:srgbClr val="3C4248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847040" y="4733107"/>
            <a:ext cx="120725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587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SCR-009</a:t>
            </a:r>
            <a:r>
              <a:rPr lang="en-US" sz="587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생산기술 Tech PR</a:t>
            </a:r>
            <a:endParaRPr lang="en-US" sz="587" dirty="0"/>
          </a:p>
        </p:txBody>
      </p:sp>
      <p:sp>
        <p:nvSpPr>
          <p:cNvPr id="30" name="Shape 28"/>
          <p:cNvSpPr/>
          <p:nvPr/>
        </p:nvSpPr>
        <p:spPr>
          <a:xfrm>
            <a:off x="4107321" y="4883666"/>
            <a:ext cx="1302107" cy="150560"/>
          </a:xfrm>
          <a:prstGeom prst="roundRect">
            <a:avLst>
              <a:gd name="adj" fmla="val 27000"/>
            </a:avLst>
          </a:prstGeom>
          <a:solidFill>
            <a:srgbClr val="3C4248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175073" y="4917542"/>
            <a:ext cx="120725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587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SCR-010</a:t>
            </a:r>
            <a:r>
              <a:rPr lang="en-US" sz="587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생산기술 Tech PR 관리자</a:t>
            </a:r>
            <a:endParaRPr lang="en-US" sz="587" dirty="0"/>
          </a:p>
        </p:txBody>
      </p:sp>
      <p:sp>
        <p:nvSpPr>
          <p:cNvPr id="32" name="Shape 30"/>
          <p:cNvSpPr/>
          <p:nvPr/>
        </p:nvSpPr>
        <p:spPr>
          <a:xfrm>
            <a:off x="5443305" y="4883666"/>
            <a:ext cx="1302107" cy="150560"/>
          </a:xfrm>
          <a:prstGeom prst="roundRect">
            <a:avLst>
              <a:gd name="adj" fmla="val 27000"/>
            </a:avLst>
          </a:prstGeom>
          <a:solidFill>
            <a:srgbClr val="3C424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511056" y="4917542"/>
            <a:ext cx="120725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587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SCR-011</a:t>
            </a:r>
            <a:r>
              <a:rPr lang="en-US" sz="587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mTRM 협의체</a:t>
            </a:r>
            <a:endParaRPr lang="en-US" sz="587" dirty="0"/>
          </a:p>
        </p:txBody>
      </p:sp>
      <p:sp>
        <p:nvSpPr>
          <p:cNvPr id="34" name="Shape 32"/>
          <p:cNvSpPr/>
          <p:nvPr/>
        </p:nvSpPr>
        <p:spPr>
          <a:xfrm>
            <a:off x="6779288" y="4883666"/>
            <a:ext cx="1302107" cy="150560"/>
          </a:xfrm>
          <a:prstGeom prst="roundRect">
            <a:avLst>
              <a:gd name="adj" fmla="val 27000"/>
            </a:avLst>
          </a:prstGeom>
          <a:solidFill>
            <a:srgbClr val="3C4248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847040" y="4917542"/>
            <a:ext cx="120725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587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SCR-012</a:t>
            </a:r>
            <a:r>
              <a:rPr lang="en-US" sz="587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mTRM 관리</a:t>
            </a:r>
            <a:endParaRPr lang="en-US" sz="587" dirty="0"/>
          </a:p>
        </p:txBody>
      </p:sp>
      <p:sp>
        <p:nvSpPr>
          <p:cNvPr id="36" name="Shape 34"/>
          <p:cNvSpPr/>
          <p:nvPr/>
        </p:nvSpPr>
        <p:spPr>
          <a:xfrm>
            <a:off x="4107321" y="5068102"/>
            <a:ext cx="1302107" cy="150560"/>
          </a:xfrm>
          <a:prstGeom prst="roundRect">
            <a:avLst>
              <a:gd name="adj" fmla="val 27000"/>
            </a:avLst>
          </a:prstGeom>
          <a:solidFill>
            <a:srgbClr val="3C4248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4175073" y="5101978"/>
            <a:ext cx="120725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587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SCR-013</a:t>
            </a:r>
            <a:r>
              <a:rPr lang="en-US" sz="587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기술과제 관리</a:t>
            </a:r>
            <a:endParaRPr lang="en-US" sz="587" dirty="0"/>
          </a:p>
        </p:txBody>
      </p:sp>
      <p:sp>
        <p:nvSpPr>
          <p:cNvPr id="38" name="Shape 36"/>
          <p:cNvSpPr/>
          <p:nvPr/>
        </p:nvSpPr>
        <p:spPr>
          <a:xfrm>
            <a:off x="5443305" y="5068102"/>
            <a:ext cx="1302107" cy="150560"/>
          </a:xfrm>
          <a:prstGeom prst="roundRect">
            <a:avLst>
              <a:gd name="adj" fmla="val 27000"/>
            </a:avLst>
          </a:prstGeom>
          <a:solidFill>
            <a:srgbClr val="3C4248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5511056" y="5101978"/>
            <a:ext cx="120725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587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SCR-014</a:t>
            </a:r>
            <a:r>
              <a:rPr lang="en-US" sz="587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기술동향</a:t>
            </a:r>
            <a:endParaRPr lang="en-US" sz="587" dirty="0"/>
          </a:p>
        </p:txBody>
      </p:sp>
      <p:sp>
        <p:nvSpPr>
          <p:cNvPr id="40" name="Shape 38"/>
          <p:cNvSpPr/>
          <p:nvPr/>
        </p:nvSpPr>
        <p:spPr>
          <a:xfrm>
            <a:off x="6779288" y="5068102"/>
            <a:ext cx="1302107" cy="150560"/>
          </a:xfrm>
          <a:prstGeom prst="roundRect">
            <a:avLst>
              <a:gd name="adj" fmla="val 27000"/>
            </a:avLst>
          </a:prstGeom>
          <a:solidFill>
            <a:srgbClr val="3C4248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847040" y="5101978"/>
            <a:ext cx="120725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587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MTRM-MAIN</a:t>
            </a:r>
            <a:r>
              <a:rPr lang="en-US" sz="587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메인 대시보드</a:t>
            </a:r>
            <a:endParaRPr lang="en-US" sz="587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1561314" y="2014338"/>
            <a:ext cx="7539187" cy="1134068"/>
          </a:xfrm>
          <a:prstGeom prst="rect">
            <a:avLst/>
          </a:prstGeom>
          <a:ln w="8467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61314" y="3549432"/>
            <a:ext cx="7539187" cy="3128883"/>
          </a:xfrm>
          <a:prstGeom prst="rect">
            <a:avLst/>
          </a:prstGeom>
          <a:ln w="8467">
            <a:solidFill>
              <a:srgbClr val="CCCC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46788" y="1074006"/>
            <a:ext cx="157551" cy="157551"/>
          </a:xfrm>
          <a:prstGeom prst="ellipse">
            <a:avLst/>
          </a:prstGeom>
          <a:solidFill>
            <a:srgbClr val="E67700"/>
          </a:solidFill>
          <a:ln/>
          <a:effectLst>
            <a:outerShdw blurRad="42975" dist="14325" dir="5400000" algn="bl" rotWithShape="0">
              <a:srgbClr val="E67700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1446788" y="1074006"/>
            <a:ext cx="181183" cy="1575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564" dirty="0"/>
          </a:p>
        </p:txBody>
      </p:sp>
      <p:sp>
        <p:nvSpPr>
          <p:cNvPr id="12" name="Shape 10"/>
          <p:cNvSpPr/>
          <p:nvPr/>
        </p:nvSpPr>
        <p:spPr>
          <a:xfrm>
            <a:off x="1511201" y="1790260"/>
            <a:ext cx="157551" cy="157551"/>
          </a:xfrm>
          <a:prstGeom prst="ellipse">
            <a:avLst/>
          </a:prstGeom>
          <a:solidFill>
            <a:srgbClr val="E67700"/>
          </a:solidFill>
          <a:ln/>
          <a:effectLst>
            <a:outerShdw blurRad="42975" dist="14325" dir="5400000" algn="bl" rotWithShape="0">
              <a:srgbClr val="E677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1511201" y="1790260"/>
            <a:ext cx="181183" cy="1575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564" dirty="0"/>
          </a:p>
        </p:txBody>
      </p:sp>
      <p:sp>
        <p:nvSpPr>
          <p:cNvPr id="14" name="Shape 12"/>
          <p:cNvSpPr/>
          <p:nvPr/>
        </p:nvSpPr>
        <p:spPr>
          <a:xfrm>
            <a:off x="1532714" y="3072303"/>
            <a:ext cx="157551" cy="157551"/>
          </a:xfrm>
          <a:prstGeom prst="ellipse">
            <a:avLst/>
          </a:prstGeom>
          <a:solidFill>
            <a:srgbClr val="E67700"/>
          </a:solidFill>
          <a:ln/>
          <a:effectLst>
            <a:outerShdw blurRad="42975" dist="14325" dir="5400000" algn="bl" rotWithShape="0">
              <a:srgbClr val="E67700">
                <a:alpha val="3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1532714" y="3072303"/>
            <a:ext cx="181183" cy="1575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564" dirty="0"/>
          </a:p>
        </p:txBody>
      </p:sp>
      <p:sp>
        <p:nvSpPr>
          <p:cNvPr id="16" name="Shape 14"/>
          <p:cNvSpPr/>
          <p:nvPr/>
        </p:nvSpPr>
        <p:spPr>
          <a:xfrm>
            <a:off x="8935738" y="3072303"/>
            <a:ext cx="157551" cy="157551"/>
          </a:xfrm>
          <a:prstGeom prst="ellipse">
            <a:avLst/>
          </a:prstGeom>
          <a:solidFill>
            <a:srgbClr val="E67700"/>
          </a:solidFill>
          <a:ln/>
          <a:effectLst>
            <a:outerShdw blurRad="42975" dist="14325" dir="5400000" algn="bl" rotWithShape="0">
              <a:srgbClr val="E6770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935738" y="3072303"/>
            <a:ext cx="181183" cy="1575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564" dirty="0"/>
          </a:p>
        </p:txBody>
      </p:sp>
      <p:sp>
        <p:nvSpPr>
          <p:cNvPr id="18" name="Shape 16"/>
          <p:cNvSpPr/>
          <p:nvPr/>
        </p:nvSpPr>
        <p:spPr>
          <a:xfrm>
            <a:off x="8985851" y="658555"/>
            <a:ext cx="157551" cy="157551"/>
          </a:xfrm>
          <a:prstGeom prst="ellipse">
            <a:avLst/>
          </a:prstGeom>
          <a:solidFill>
            <a:srgbClr val="E67700"/>
          </a:solidFill>
          <a:ln/>
          <a:effectLst>
            <a:outerShdw blurRad="42975" dist="14325" dir="5400000" algn="bl" rotWithShape="0">
              <a:srgbClr val="E67700">
                <a:alpha val="3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985851" y="658555"/>
            <a:ext cx="181183" cy="1575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564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45469" y="114526"/>
          <a:ext cx="2650883" cy="251050"/>
        </p:xfrm>
        <a:graphic>
          <a:graphicData uri="http://schemas.openxmlformats.org/drawingml/2006/table">
            <a:tbl>
              <a:tblPr/>
              <a:tblGrid>
                <a:gridCol w="2650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10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125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Description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7300" marR="57300" marT="42975" marB="429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4821569"/>
              </p:ext>
            </p:extLst>
          </p:nvPr>
        </p:nvGraphicFramePr>
        <p:xfrm>
          <a:off x="9345469" y="305527"/>
          <a:ext cx="2650883" cy="6270731"/>
        </p:xfrm>
        <a:graphic>
          <a:graphicData uri="http://schemas.openxmlformats.org/drawingml/2006/table">
            <a:tbl>
              <a:tblPr/>
              <a:tblGrid>
                <a:gridCol w="2435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73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1625" marR="71625" marT="57300" marB="57300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상세설명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1625" marR="71625" marT="57300" marB="57300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A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96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E677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1625" marR="71625" marT="57300" marB="57300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영역명: 탭 영역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ㄴ 부품 공정 / 모듈 공정 탭으로 공정 유형을 전환하는 영역이다. 요소 2종(부품 공정 탭, 모듈 공정 탭)으로 구성된다.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1-1 부품 공정 탭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노출조건:</a:t>
                      </a: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화면 진입 시 항상 표시. 기본 활성 탭.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입력조건:</a:t>
                      </a: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클릭 시 활성화. 활성화되면 하단 요약 현황·공정별 상세 표가 부품 공정 데이터로 갱신.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출력조건:</a:t>
                      </a: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활성 시 다크 배경의 필 형태로 강조 표시.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인터랙션:</a:t>
                      </a: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탭 전환 시 하단 콘텐츠 페이드 전환.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1-2 모듈 공정 탭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노출조건:</a:t>
                      </a: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화면 진입 시 항상 표시.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입력조건:</a:t>
                      </a: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클릭 시 활성화, 하단 표가 모듈 공정 데이터로 갱신.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출력조건:</a:t>
                      </a: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비활성 시 회색 텍스트로 표시.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인터랙션:</a:t>
                      </a: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탭 전환 시 하단 콘텐츠 페이드 전환.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1625" marR="71625" marT="57300" marB="57300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992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E677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1625" marR="71625" marT="57300" marB="57300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영역명: 필터 영역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ㄴ 제품군/제품/지역/공정/라인 5종 셀렉트 필터와 조회 버튼으로 구성된 조건 필터 영역이다.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조건 필터 &amp; 조회 버튼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노출조건:</a:t>
                      </a: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항상 표시. 제품군/제품/지역/공장/라인 5종 셀렉트 각각 기본값 "{필터명} 전체".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입력조건:</a:t>
                      </a: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각 셀렉트는 옵션 1개(기본값)만 노출되는 프로토타입 목업으로, 값 선택/필터 간 연동 없음. 조회 버튼 클릭 시 toast: "필터 조건으로 조회가 완료되었습니다." 노출(하단 표는 정적 데이터 유지, 실제 재조회 없음).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BE 연동:</a:t>
                      </a: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GET /api/automation/parts/summary?factory=&amp;line=®ion=&amp;product=&amp;group=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1625" marR="71625" marT="57300" marB="57300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226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E677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1625" marR="71625" marT="57300" marB="57300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영역명: 요약 현황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ㄴ 라인별 자동화율/직접인원/완료일정을 비교하는 요약 매트릭스 표이다.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요약 현황 표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노출조건:</a:t>
                      </a: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필터 조회 결과에 따라 라인 컬럼이 동적으로 구성.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1625" marR="71625" marT="57300" marB="57300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6457">
                <a:tc>
                  <a:txBody>
                    <a:bodyPr/>
                    <a:lstStyle/>
                    <a:p>
                      <a:endParaRPr/>
                    </a:p>
                  </a:txBody>
                  <a:tcPr marL="71625" marR="71625" marT="57300" marB="57300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출력조건:</a:t>
                      </a: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자동화율은 "현재% → 목표%(증감폭)", 직접인원은 "현재명 → 목표명(감소폭)" 형식으로 표시. [B/P] 창원2C 라인 컬럼은 기준(베이스라인)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1625" marR="71625" marT="57300" marB="57300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0721410"/>
              </p:ext>
            </p:extLst>
          </p:nvPr>
        </p:nvGraphicFramePr>
        <p:xfrm>
          <a:off x="3" y="57201"/>
          <a:ext cx="9222982" cy="521895"/>
        </p:xfrm>
        <a:graphic>
          <a:graphicData uri="http://schemas.openxmlformats.org/drawingml/2006/table">
            <a:tbl>
              <a:tblPr/>
              <a:tblGrid>
                <a:gridCol w="9843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76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14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57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137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18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0" marR="0" marT="14325" marB="1432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ADB5B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Screen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부품 공정 자동화 현황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325" marB="143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ADB5B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URL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/portal/automation/parts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325" marB="143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ADB5B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Status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와이어프레임 (샘플, 보정 예정)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325" marB="143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0" marR="0" marT="14325" marB="1432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9780965"/>
              </p:ext>
            </p:extLst>
          </p:nvPr>
        </p:nvGraphicFramePr>
        <p:xfrm>
          <a:off x="401009" y="237010"/>
          <a:ext cx="543283" cy="162152"/>
        </p:xfrm>
        <a:graphic>
          <a:graphicData uri="http://schemas.openxmlformats.org/drawingml/2006/table">
            <a:tbl>
              <a:tblPr/>
              <a:tblGrid>
                <a:gridCol w="271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89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21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17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4950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SCR-001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17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9468675"/>
              </p:ext>
            </p:extLst>
          </p:nvPr>
        </p:nvGraphicFramePr>
        <p:xfrm>
          <a:off x="85907" y="644255"/>
          <a:ext cx="9129121" cy="372427"/>
        </p:xfrm>
        <a:graphic>
          <a:graphicData uri="http://schemas.openxmlformats.org/drawingml/2006/table">
            <a:tbl>
              <a:tblPr/>
              <a:tblGrid>
                <a:gridCol w="1377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5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85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794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13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18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666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24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0" marR="0" marT="14325" marB="1432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PNDES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325" marB="143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88888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생기포털&gt;공정 자동화 현황&gt;부품 공정 자동화 현황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325" marB="143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0" marR="0" marT="14325" marB="1432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홍길동 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325" marB="143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|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325" marB="143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로그아웃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325" marB="143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9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1809120"/>
              </p:ext>
            </p:extLst>
          </p:nvPr>
        </p:nvGraphicFramePr>
        <p:xfrm>
          <a:off x="95051" y="1016682"/>
          <a:ext cx="1360881" cy="5016030"/>
        </p:xfrm>
        <a:graphic>
          <a:graphicData uri="http://schemas.openxmlformats.org/drawingml/2006/table">
            <a:tbl>
              <a:tblPr/>
              <a:tblGrid>
                <a:gridCol w="12328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270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9999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공정 자동화 현황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70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0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부품 공정 자동화 현황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50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표준공정 마스터 관리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50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모듈 공정 자동화 현황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50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모듈 표준 작업명 관리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50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I/F 실행결과 관리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29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9999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중장기 방향성 공유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70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50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메인 대시보드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50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통합 로드맵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›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268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77777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  상세과제 로드맵 관리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70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268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77777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  통합 로드맵 차트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70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50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생산기술 Tech PR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50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생산기술 Tech PR 관리자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50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mTRM 협의체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50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mTRM 관리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50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기술과제 관리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050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기술동향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graphicFrame>
        <p:nvGraphicFramePr>
          <p:cNvPr id="30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61314" y="1131207"/>
          <a:ext cx="7539188" cy="240243"/>
        </p:xfrm>
        <a:graphic>
          <a:graphicData uri="http://schemas.openxmlformats.org/drawingml/2006/table">
            <a:tbl>
              <a:tblPr/>
              <a:tblGrid>
                <a:gridCol w="8504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29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35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02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6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부품 공정</a:t>
                      </a:r>
                      <a:endParaRPr lang="en-US" sz="936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325" marB="143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6" dirty="0">
                          <a:solidFill>
                            <a:srgbClr val="77777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모듈 공정</a:t>
                      </a:r>
                      <a:endParaRPr lang="en-US" sz="936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325" marB="143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0" marR="0" marT="14325" marB="1432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2452817"/>
              </p:ext>
            </p:extLst>
          </p:nvPr>
        </p:nvGraphicFramePr>
        <p:xfrm>
          <a:off x="8408372" y="1500277"/>
          <a:ext cx="679888" cy="229176"/>
        </p:xfrm>
        <a:graphic>
          <a:graphicData uri="http://schemas.openxmlformats.org/drawingml/2006/table">
            <a:tbl>
              <a:tblPr/>
              <a:tblGrid>
                <a:gridCol w="6798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91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325" marB="143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4631863"/>
              </p:ext>
            </p:extLst>
          </p:nvPr>
        </p:nvGraphicFramePr>
        <p:xfrm>
          <a:off x="1561314" y="1828254"/>
          <a:ext cx="7555607" cy="181050"/>
        </p:xfrm>
        <a:graphic>
          <a:graphicData uri="http://schemas.openxmlformats.org/drawingml/2006/table">
            <a:tbl>
              <a:tblPr/>
              <a:tblGrid>
                <a:gridCol w="75556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73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요약 현황</a:t>
                      </a:r>
                      <a:r>
                        <a:rPr lang="en-US" sz="792" b="1" dirty="0">
                          <a:solidFill>
                            <a:srgbClr val="9999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</a:t>
                      </a:r>
                      <a:r>
                        <a:rPr lang="en-US" sz="700" b="1" dirty="0">
                          <a:solidFill>
                            <a:srgbClr val="9999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(공장/라인별 자동화율·직접인원 현재→개선 및 중장기 완료일정)</a:t>
                      </a:r>
                      <a:endParaRPr lang="en-US" sz="10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325" marB="143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1279675"/>
              </p:ext>
            </p:extLst>
          </p:nvPr>
        </p:nvGraphicFramePr>
        <p:xfrm>
          <a:off x="1569273" y="2022296"/>
          <a:ext cx="7523267" cy="1210556"/>
        </p:xfrm>
        <a:graphic>
          <a:graphicData uri="http://schemas.openxmlformats.org/drawingml/2006/table">
            <a:tbl>
              <a:tblPr/>
              <a:tblGrid>
                <a:gridCol w="647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5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40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40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40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405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405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405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4405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4254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11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[B/P] 창원2C 라인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창원 2A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창원 2B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창원 2D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창원 2E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MSK 조립1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MMX 조립1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MWX 조립1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MWX 조립2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952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자동화율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72% → 94% (22%▲)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71% → 94% (23%▲)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67% → 94% (27%▲)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63%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63% → 94% (31%▲)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47% → 93% (46%▲)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40% → 93% (53%▲)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47% → 93% (46%▲)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40% → 93% (53%▲)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952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직접인원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4명 → </a:t>
                      </a:r>
                      <a:r>
                        <a:rPr lang="en-US" sz="700" b="1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r>
                        <a:rPr lang="en-US" sz="700" b="1" smtClean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명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700" b="1" smtClean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</a:t>
                      </a:r>
                      <a:r>
                        <a:rPr lang="en-US" sz="7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3명▼)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4명 → </a:t>
                      </a:r>
                      <a:r>
                        <a:rPr lang="en-US" sz="70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r>
                        <a:rPr lang="en-US" sz="700" smtClean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명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700" smtClean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</a:t>
                      </a: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3명▼)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5명 → </a:t>
                      </a:r>
                      <a:r>
                        <a:rPr lang="en-US" sz="70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r>
                        <a:rPr lang="en-US" sz="700" smtClean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명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700" smtClean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</a:t>
                      </a: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4명▼)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4명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4명 → </a:t>
                      </a:r>
                      <a:r>
                        <a:rPr lang="en-US" sz="70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r>
                        <a:rPr lang="en-US" sz="700" smtClean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명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700" smtClean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</a:t>
                      </a: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3명▼)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5명 → </a:t>
                      </a:r>
                      <a:r>
                        <a:rPr lang="en-US" sz="70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r>
                        <a:rPr lang="en-US" sz="700" smtClean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명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700" smtClean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</a:t>
                      </a: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4명▼)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6명 → </a:t>
                      </a:r>
                      <a:r>
                        <a:rPr lang="en-US" sz="70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r>
                        <a:rPr lang="en-US" sz="700" smtClean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명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700" smtClean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</a:t>
                      </a: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5명▼)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5명 → </a:t>
                      </a:r>
                      <a:r>
                        <a:rPr lang="en-US" sz="70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r>
                        <a:rPr lang="en-US" sz="700" smtClean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명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700" smtClean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</a:t>
                      </a: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4명▼)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6명 → </a:t>
                      </a:r>
                      <a:r>
                        <a:rPr lang="en-US" sz="70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r>
                        <a:rPr lang="en-US" sz="700" smtClean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명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700" smtClean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</a:t>
                      </a: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5명▼)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완료일정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'27년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'27년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'30년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'30년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'30년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'30년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'30년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'30년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3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6193189"/>
              </p:ext>
            </p:extLst>
          </p:nvPr>
        </p:nvGraphicFramePr>
        <p:xfrm>
          <a:off x="1561314" y="3352089"/>
          <a:ext cx="5763351" cy="181050"/>
        </p:xfrm>
        <a:graphic>
          <a:graphicData uri="http://schemas.openxmlformats.org/drawingml/2006/table">
            <a:tbl>
              <a:tblPr/>
              <a:tblGrid>
                <a:gridCol w="57633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73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공정별 상세</a:t>
                      </a:r>
                      <a:r>
                        <a:rPr lang="en-US" sz="792" b="1" dirty="0">
                          <a:solidFill>
                            <a:srgbClr val="9999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</a:t>
                      </a:r>
                      <a:r>
                        <a:rPr lang="en-US" sz="700" b="1" dirty="0">
                          <a:solidFill>
                            <a:srgbClr val="9999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(현재/개선/주요내용 · 공정/라인별 확대전개계획, 현재=자동 선택 시 동영상 팝업)</a:t>
                      </a:r>
                      <a:endParaRPr lang="en-US" sz="10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325" marB="143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3851189"/>
              </p:ext>
            </p:extLst>
          </p:nvPr>
        </p:nvGraphicFramePr>
        <p:xfrm>
          <a:off x="1569273" y="3557390"/>
          <a:ext cx="7523270" cy="3145261"/>
        </p:xfrm>
        <a:graphic>
          <a:graphicData uri="http://schemas.openxmlformats.org/drawingml/2006/table">
            <a:tbl>
              <a:tblPr/>
              <a:tblGrid>
                <a:gridCol w="203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99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0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90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10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995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995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995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4995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4995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4995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4995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5145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11960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공정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[B/P] 창원2C 라인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4E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창원 2A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창원 2B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창원 2D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창원 2E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MSK 조립1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MMX 조립1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MWX 조립1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MWX 조립2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96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현재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개선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주요내용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4E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348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오버몰딩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미해당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미해당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협의必(ROI 13년) 1명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348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파워헤드 버퍼적재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수동 1명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가능('27)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6축로봇 + 버퍼교체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가능('27)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6축로봇 + 버퍼교체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가능('27)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가능('28)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미해당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미해당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가능('27)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협의必(회수 불가) 1명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138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인풋풀 조립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수동 1명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가능('27)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인풋풀 조립 인덱스, 컬럼 로딩/조립로봇 外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가능('27)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인풋풀 조립 인덱스, 컬럼 로딩/조립로봇 外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가능('27)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가능('28)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미적용(협의中) 1명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가능('29)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협의必(ROI 42년) 1명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협의必(회수불가) 1명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348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컬럼 조립 (추정)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수동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가능('28)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가능('29)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가능('28)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가능('29)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미적용(협의中) 1명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가능('30)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협의必(ROI 45년) 1명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협의必(회수불가) 1명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협의必(회수불가) 1명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협의必(회수불가) 1명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348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smtClean="0"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5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smtClean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ECU S/W 다운</a:t>
                      </a:r>
                      <a:endParaRPr lang="en-US" altLang="ko-KR" sz="700" smtClean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smtClean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旣자동화</a:t>
                      </a:r>
                      <a:endParaRPr lang="en-US" altLang="ko-KR" sz="700" smtClean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smtClean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altLang="ko-KR" sz="700" smtClean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smtClean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altLang="ko-KR" sz="700" smtClean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smtClean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altLang="ko-KR" sz="700" smtClean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smtClean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altLang="ko-KR" sz="700" smtClean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smtClean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미적용(협의完) 1명</a:t>
                      </a:r>
                      <a:endParaRPr lang="en-US" altLang="ko-KR" sz="700" smtClean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smtClean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가능('29)</a:t>
                      </a:r>
                      <a:endParaRPr lang="en-US" altLang="ko-KR" sz="700" smtClean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smtClean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협의必(ROI 18년) 1명</a:t>
                      </a:r>
                      <a:endParaRPr lang="en-US" altLang="ko-KR" sz="700" smtClean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smtClean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협의必(ROI 44년) 1명</a:t>
                      </a:r>
                      <a:endParaRPr lang="en-US" altLang="ko-KR" sz="700" smtClean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smtClean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협의必(ROI 159년) 1명</a:t>
                      </a:r>
                      <a:endParaRPr lang="en-US" altLang="ko-KR" sz="700" smtClean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smtClean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협의必(회수불가) 1명</a:t>
                      </a:r>
                      <a:endParaRPr lang="en-US" altLang="ko-KR" sz="700" smtClean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6262170"/>
                  </a:ext>
                </a:extLst>
              </a:tr>
              <a:tr h="256032">
                <a:tc gridSpan="1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전체 공정 목록(NO 1–17)은 다음 화면(공정별 상세 전체)에서 확인 가능합니다.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3" name="Shape 18"/>
          <p:cNvSpPr/>
          <p:nvPr/>
        </p:nvSpPr>
        <p:spPr>
          <a:xfrm>
            <a:off x="1446788" y="1074006"/>
            <a:ext cx="157551" cy="157551"/>
          </a:xfrm>
          <a:prstGeom prst="ellipse">
            <a:avLst/>
          </a:prstGeom>
          <a:solidFill>
            <a:srgbClr val="E67700"/>
          </a:solidFill>
          <a:ln/>
          <a:effectLst>
            <a:outerShdw blurRad="42975" dist="14325" dir="5400000" algn="bl" rotWithShape="0">
              <a:srgbClr val="E67700">
                <a:alpha val="35000"/>
              </a:srgbClr>
            </a:outerShdw>
          </a:effectLst>
        </p:spPr>
      </p:sp>
      <p:sp>
        <p:nvSpPr>
          <p:cNvPr id="34" name="Text 19"/>
          <p:cNvSpPr txBox="1"/>
          <p:nvPr/>
        </p:nvSpPr>
        <p:spPr>
          <a:xfrm>
            <a:off x="1446788" y="1074006"/>
            <a:ext cx="181183" cy="1575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564" dirty="0"/>
          </a:p>
        </p:txBody>
      </p:sp>
      <p:sp>
        <p:nvSpPr>
          <p:cNvPr id="37" name="Shape 22"/>
          <p:cNvSpPr/>
          <p:nvPr/>
        </p:nvSpPr>
        <p:spPr>
          <a:xfrm>
            <a:off x="1511201" y="1790260"/>
            <a:ext cx="157551" cy="157551"/>
          </a:xfrm>
          <a:prstGeom prst="ellipse">
            <a:avLst/>
          </a:prstGeom>
          <a:solidFill>
            <a:srgbClr val="E67700"/>
          </a:solidFill>
          <a:ln/>
          <a:effectLst>
            <a:outerShdw blurRad="42975" dist="14325" dir="5400000" algn="bl" rotWithShape="0">
              <a:srgbClr val="E67700">
                <a:alpha val="35000"/>
              </a:srgbClr>
            </a:outerShdw>
          </a:effectLst>
        </p:spPr>
      </p:sp>
      <p:sp>
        <p:nvSpPr>
          <p:cNvPr id="38" name="Text 23"/>
          <p:cNvSpPr txBox="1"/>
          <p:nvPr/>
        </p:nvSpPr>
        <p:spPr>
          <a:xfrm>
            <a:off x="1511201" y="1790260"/>
            <a:ext cx="181183" cy="1575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564" dirty="0"/>
          </a:p>
        </p:txBody>
      </p:sp>
      <p:sp>
        <p:nvSpPr>
          <p:cNvPr id="39" name="Shape 24"/>
          <p:cNvSpPr/>
          <p:nvPr/>
        </p:nvSpPr>
        <p:spPr>
          <a:xfrm>
            <a:off x="1532714" y="3072303"/>
            <a:ext cx="157551" cy="157551"/>
          </a:xfrm>
          <a:prstGeom prst="ellipse">
            <a:avLst/>
          </a:prstGeom>
          <a:solidFill>
            <a:srgbClr val="E67700"/>
          </a:solidFill>
          <a:ln/>
          <a:effectLst>
            <a:outerShdw blurRad="42975" dist="14325" dir="5400000" algn="bl" rotWithShape="0">
              <a:srgbClr val="E67700">
                <a:alpha val="35000"/>
              </a:srgbClr>
            </a:outerShdw>
          </a:effectLst>
        </p:spPr>
      </p:sp>
      <p:sp>
        <p:nvSpPr>
          <p:cNvPr id="40" name="Text 25"/>
          <p:cNvSpPr txBox="1"/>
          <p:nvPr/>
        </p:nvSpPr>
        <p:spPr>
          <a:xfrm>
            <a:off x="1532714" y="3072303"/>
            <a:ext cx="181183" cy="1575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564" dirty="0"/>
          </a:p>
        </p:txBody>
      </p:sp>
      <p:sp>
        <p:nvSpPr>
          <p:cNvPr id="41" name="Shape 26"/>
          <p:cNvSpPr/>
          <p:nvPr/>
        </p:nvSpPr>
        <p:spPr>
          <a:xfrm>
            <a:off x="8935738" y="3072303"/>
            <a:ext cx="157551" cy="157551"/>
          </a:xfrm>
          <a:prstGeom prst="ellipse">
            <a:avLst/>
          </a:prstGeom>
          <a:solidFill>
            <a:srgbClr val="E67700"/>
          </a:solidFill>
          <a:ln/>
          <a:effectLst>
            <a:outerShdw blurRad="42975" dist="14325" dir="5400000" algn="bl" rotWithShape="0">
              <a:srgbClr val="E67700">
                <a:alpha val="35000"/>
              </a:srgbClr>
            </a:outerShdw>
          </a:effectLst>
        </p:spPr>
      </p:sp>
      <p:sp>
        <p:nvSpPr>
          <p:cNvPr id="42" name="Text 27"/>
          <p:cNvSpPr txBox="1"/>
          <p:nvPr/>
        </p:nvSpPr>
        <p:spPr>
          <a:xfrm>
            <a:off x="8935738" y="3072303"/>
            <a:ext cx="181183" cy="1575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564" dirty="0"/>
          </a:p>
        </p:txBody>
      </p:sp>
      <p:sp>
        <p:nvSpPr>
          <p:cNvPr id="43" name="Shape 28"/>
          <p:cNvSpPr/>
          <p:nvPr/>
        </p:nvSpPr>
        <p:spPr>
          <a:xfrm>
            <a:off x="8985851" y="658555"/>
            <a:ext cx="157551" cy="157551"/>
          </a:xfrm>
          <a:prstGeom prst="ellipse">
            <a:avLst/>
          </a:prstGeom>
          <a:solidFill>
            <a:srgbClr val="E67700"/>
          </a:solidFill>
          <a:ln/>
          <a:effectLst>
            <a:outerShdw blurRad="42975" dist="14325" dir="5400000" algn="bl" rotWithShape="0">
              <a:srgbClr val="E67700">
                <a:alpha val="35000"/>
              </a:srgbClr>
            </a:outerShdw>
          </a:effectLst>
        </p:spPr>
      </p:sp>
      <p:sp>
        <p:nvSpPr>
          <p:cNvPr id="44" name="Text 29"/>
          <p:cNvSpPr txBox="1"/>
          <p:nvPr/>
        </p:nvSpPr>
        <p:spPr>
          <a:xfrm>
            <a:off x="8985851" y="658555"/>
            <a:ext cx="181183" cy="1575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564" dirty="0"/>
          </a:p>
        </p:txBody>
      </p:sp>
      <p:sp>
        <p:nvSpPr>
          <p:cNvPr id="45" name="Text 30"/>
          <p:cNvSpPr/>
          <p:nvPr/>
        </p:nvSpPr>
        <p:spPr>
          <a:xfrm>
            <a:off x="9345469" y="6565392"/>
            <a:ext cx="2650883" cy="292608"/>
          </a:xfrm>
          <a:prstGeom prst="rect">
            <a:avLst/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화면에 계속 ▼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042430" y="3571691"/>
            <a:ext cx="35813" cy="3012740"/>
          </a:xfrm>
          <a:prstGeom prst="roundRect">
            <a:avLst>
              <a:gd name="adj" fmla="val 50000"/>
            </a:avLst>
          </a:prstGeom>
          <a:solidFill>
            <a:srgbClr val="CCCCCC"/>
          </a:solidFill>
          <a:ln/>
        </p:spPr>
      </p:sp>
      <p:sp>
        <p:nvSpPr>
          <p:cNvPr id="6" name="Shape 4"/>
          <p:cNvSpPr/>
          <p:nvPr/>
        </p:nvSpPr>
        <p:spPr>
          <a:xfrm>
            <a:off x="1583573" y="6620244"/>
            <a:ext cx="7423044" cy="35813"/>
          </a:xfrm>
          <a:prstGeom prst="roundRect">
            <a:avLst>
              <a:gd name="adj" fmla="val 50000"/>
            </a:avLst>
          </a:prstGeom>
          <a:solidFill>
            <a:srgbClr val="CCCCCC"/>
          </a:solidFill>
          <a:ln/>
        </p:spPr>
      </p:sp>
      <p:sp>
        <p:nvSpPr>
          <p:cNvPr id="2" name="Shape 0"/>
          <p:cNvSpPr/>
          <p:nvPr/>
        </p:nvSpPr>
        <p:spPr>
          <a:xfrm>
            <a:off x="77949" y="636296"/>
            <a:ext cx="9145036" cy="6221704"/>
          </a:xfrm>
          <a:prstGeom prst="rect">
            <a:avLst/>
          </a:prstGeom>
          <a:noFill/>
          <a:ln w="8467">
            <a:solidFill>
              <a:srgbClr val="CCCCCC"/>
            </a:solidFill>
            <a:prstDash val="solid"/>
          </a:ln>
        </p:spPr>
      </p:sp>
      <p:graphicFrame>
        <p:nvGraphicFramePr>
          <p:cNvPr id="48" name="표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4774571"/>
              </p:ext>
            </p:extLst>
          </p:nvPr>
        </p:nvGraphicFramePr>
        <p:xfrm>
          <a:off x="1561314" y="1484603"/>
          <a:ext cx="1087055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7055">
                  <a:extLst>
                    <a:ext uri="{9D8B030D-6E8A-4147-A177-3AD203B41FA5}">
                      <a16:colId xmlns:a16="http://schemas.microsoft.com/office/drawing/2014/main" val="3625164918"/>
                    </a:ext>
                  </a:extLst>
                </a:gridCol>
              </a:tblGrid>
              <a:tr h="23242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mtClean="0">
                          <a:solidFill>
                            <a:schemeClr val="tx1"/>
                          </a:solidFill>
                        </a:rPr>
                        <a:t>제품군 전체     </a:t>
                      </a:r>
                      <a:r>
                        <a:rPr lang="en-US" altLang="ko-KR" sz="1000" b="1" smtClean="0">
                          <a:solidFill>
                            <a:srgbClr val="5555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▾</a:t>
                      </a:r>
                      <a:endParaRPr lang="en-US" altLang="ko-KR" sz="1000" b="1" smtClean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7144122"/>
                  </a:ext>
                </a:extLst>
              </a:tr>
            </a:tbl>
          </a:graphicData>
        </a:graphic>
      </p:graphicFrame>
      <p:graphicFrame>
        <p:nvGraphicFramePr>
          <p:cNvPr id="51" name="표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5619212"/>
              </p:ext>
            </p:extLst>
          </p:nvPr>
        </p:nvGraphicFramePr>
        <p:xfrm>
          <a:off x="2738257" y="1487394"/>
          <a:ext cx="1087055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7055">
                  <a:extLst>
                    <a:ext uri="{9D8B030D-6E8A-4147-A177-3AD203B41FA5}">
                      <a16:colId xmlns:a16="http://schemas.microsoft.com/office/drawing/2014/main" val="3625164918"/>
                    </a:ext>
                  </a:extLst>
                </a:gridCol>
              </a:tblGrid>
              <a:tr h="23242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mtClean="0">
                          <a:solidFill>
                            <a:schemeClr val="tx1"/>
                          </a:solidFill>
                        </a:rPr>
                        <a:t>제품 전체     </a:t>
                      </a:r>
                      <a:r>
                        <a:rPr lang="en-US" altLang="ko-KR" sz="1000" b="1" smtClean="0">
                          <a:solidFill>
                            <a:srgbClr val="5555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▾</a:t>
                      </a:r>
                      <a:endParaRPr lang="en-US" altLang="ko-KR" sz="1000" b="1" smtClean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7144122"/>
                  </a:ext>
                </a:extLst>
              </a:tr>
            </a:tbl>
          </a:graphicData>
        </a:graphic>
      </p:graphicFrame>
      <p:graphicFrame>
        <p:nvGraphicFramePr>
          <p:cNvPr id="52" name="표 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4712958"/>
              </p:ext>
            </p:extLst>
          </p:nvPr>
        </p:nvGraphicFramePr>
        <p:xfrm>
          <a:off x="3915200" y="1487394"/>
          <a:ext cx="1087055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7055">
                  <a:extLst>
                    <a:ext uri="{9D8B030D-6E8A-4147-A177-3AD203B41FA5}">
                      <a16:colId xmlns:a16="http://schemas.microsoft.com/office/drawing/2014/main" val="3625164918"/>
                    </a:ext>
                  </a:extLst>
                </a:gridCol>
              </a:tblGrid>
              <a:tr h="23242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mtClean="0">
                          <a:solidFill>
                            <a:schemeClr val="tx1"/>
                          </a:solidFill>
                        </a:rPr>
                        <a:t>지역 전체     </a:t>
                      </a:r>
                      <a:r>
                        <a:rPr lang="en-US" altLang="ko-KR" sz="1000" b="1" smtClean="0">
                          <a:solidFill>
                            <a:srgbClr val="5555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▾</a:t>
                      </a:r>
                      <a:endParaRPr lang="en-US" altLang="ko-KR" sz="1000" b="1" smtClean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7144122"/>
                  </a:ext>
                </a:extLst>
              </a:tr>
            </a:tbl>
          </a:graphicData>
        </a:graphic>
      </p:graphicFrame>
      <p:graphicFrame>
        <p:nvGraphicFramePr>
          <p:cNvPr id="53" name="표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4287881"/>
              </p:ext>
            </p:extLst>
          </p:nvPr>
        </p:nvGraphicFramePr>
        <p:xfrm>
          <a:off x="5107637" y="1487394"/>
          <a:ext cx="1087055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7055">
                  <a:extLst>
                    <a:ext uri="{9D8B030D-6E8A-4147-A177-3AD203B41FA5}">
                      <a16:colId xmlns:a16="http://schemas.microsoft.com/office/drawing/2014/main" val="3625164918"/>
                    </a:ext>
                  </a:extLst>
                </a:gridCol>
              </a:tblGrid>
              <a:tr h="23242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mtClean="0">
                          <a:solidFill>
                            <a:schemeClr val="tx1"/>
                          </a:solidFill>
                        </a:rPr>
                        <a:t>공장 전체     </a:t>
                      </a:r>
                      <a:r>
                        <a:rPr lang="en-US" altLang="ko-KR" sz="1000" b="1" smtClean="0">
                          <a:solidFill>
                            <a:srgbClr val="5555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▾</a:t>
                      </a:r>
                      <a:endParaRPr lang="en-US" altLang="ko-KR" sz="1000" b="1" smtClean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7144122"/>
                  </a:ext>
                </a:extLst>
              </a:tr>
            </a:tbl>
          </a:graphicData>
        </a:graphic>
      </p:graphicFrame>
      <p:graphicFrame>
        <p:nvGraphicFramePr>
          <p:cNvPr id="54" name="표 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4600997"/>
              </p:ext>
            </p:extLst>
          </p:nvPr>
        </p:nvGraphicFramePr>
        <p:xfrm>
          <a:off x="6300074" y="1487394"/>
          <a:ext cx="1087055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7055">
                  <a:extLst>
                    <a:ext uri="{9D8B030D-6E8A-4147-A177-3AD203B41FA5}">
                      <a16:colId xmlns:a16="http://schemas.microsoft.com/office/drawing/2014/main" val="3625164918"/>
                    </a:ext>
                  </a:extLst>
                </a:gridCol>
              </a:tblGrid>
              <a:tr h="23242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mtClean="0">
                          <a:solidFill>
                            <a:schemeClr val="tx1"/>
                          </a:solidFill>
                        </a:rPr>
                        <a:t>라인 전체     </a:t>
                      </a:r>
                      <a:r>
                        <a:rPr lang="en-US" altLang="ko-KR" sz="1000" b="1" smtClean="0">
                          <a:solidFill>
                            <a:srgbClr val="5555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▾</a:t>
                      </a:r>
                      <a:endParaRPr lang="en-US" altLang="ko-KR" sz="1000" b="1" smtClean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7144122"/>
                  </a:ext>
                </a:extLst>
              </a:tr>
            </a:tbl>
          </a:graphicData>
        </a:graphic>
      </p:graphicFrame>
      <p:grpSp>
        <p:nvGrpSpPr>
          <p:cNvPr id="55" name="그룹 54"/>
          <p:cNvGrpSpPr/>
          <p:nvPr/>
        </p:nvGrpSpPr>
        <p:grpSpPr>
          <a:xfrm>
            <a:off x="1511201" y="1417708"/>
            <a:ext cx="181183" cy="157551"/>
            <a:chOff x="1511201" y="1417708"/>
            <a:chExt cx="181183" cy="157551"/>
          </a:xfrm>
        </p:grpSpPr>
        <p:sp>
          <p:nvSpPr>
            <p:cNvPr id="10" name="Shape 8"/>
            <p:cNvSpPr/>
            <p:nvPr/>
          </p:nvSpPr>
          <p:spPr>
            <a:xfrm>
              <a:off x="1511201" y="1417708"/>
              <a:ext cx="157551" cy="157551"/>
            </a:xfrm>
            <a:prstGeom prst="ellipse">
              <a:avLst/>
            </a:prstGeom>
            <a:solidFill>
              <a:srgbClr val="E67700"/>
            </a:solidFill>
            <a:ln/>
            <a:effectLst>
              <a:outerShdw blurRad="42975" dist="14325" dir="5400000" algn="bl" rotWithShape="0">
                <a:srgbClr val="E67700">
                  <a:alpha val="35000"/>
                </a:srgbClr>
              </a:outerShdw>
            </a:effectLst>
          </p:spPr>
        </p:sp>
        <p:sp>
          <p:nvSpPr>
            <p:cNvPr id="11" name="Text 9"/>
            <p:cNvSpPr txBox="1"/>
            <p:nvPr/>
          </p:nvSpPr>
          <p:spPr>
            <a:xfrm>
              <a:off x="1511201" y="1417708"/>
              <a:ext cx="181183" cy="15755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564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2</a:t>
              </a:r>
              <a:endParaRPr lang="en-US" sz="564" dirty="0"/>
            </a:p>
          </p:txBody>
        </p:sp>
        <p:sp>
          <p:nvSpPr>
            <p:cNvPr id="35" name="Shape 20"/>
            <p:cNvSpPr/>
            <p:nvPr/>
          </p:nvSpPr>
          <p:spPr>
            <a:xfrm>
              <a:off x="1511201" y="1417708"/>
              <a:ext cx="157551" cy="157551"/>
            </a:xfrm>
            <a:prstGeom prst="ellipse">
              <a:avLst/>
            </a:prstGeom>
            <a:solidFill>
              <a:srgbClr val="E67700"/>
            </a:solidFill>
            <a:ln/>
            <a:effectLst>
              <a:outerShdw blurRad="42975" dist="14325" dir="5400000" algn="bl" rotWithShape="0">
                <a:srgbClr val="E67700">
                  <a:alpha val="35000"/>
                </a:srgbClr>
              </a:outerShdw>
            </a:effectLst>
          </p:spPr>
        </p:sp>
        <p:sp>
          <p:nvSpPr>
            <p:cNvPr id="36" name="Text 21"/>
            <p:cNvSpPr txBox="1"/>
            <p:nvPr/>
          </p:nvSpPr>
          <p:spPr>
            <a:xfrm>
              <a:off x="1511201" y="1417708"/>
              <a:ext cx="181183" cy="15755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564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2</a:t>
              </a:r>
              <a:endParaRPr lang="en-US" sz="564" dirty="0"/>
            </a:p>
          </p:txBody>
        </p:sp>
      </p:grpSp>
      <p:graphicFrame>
        <p:nvGraphicFramePr>
          <p:cNvPr id="56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9172803"/>
              </p:ext>
            </p:extLst>
          </p:nvPr>
        </p:nvGraphicFramePr>
        <p:xfrm>
          <a:off x="7057186" y="3295205"/>
          <a:ext cx="679888" cy="229176"/>
        </p:xfrm>
        <a:graphic>
          <a:graphicData uri="http://schemas.openxmlformats.org/drawingml/2006/table">
            <a:tbl>
              <a:tblPr/>
              <a:tblGrid>
                <a:gridCol w="6798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917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smtClean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 공정 등록</a:t>
                      </a:r>
                      <a:endParaRPr lang="en-US" altLang="ko-KR" sz="864" smtClean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325" marB="143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7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0372983"/>
              </p:ext>
            </p:extLst>
          </p:nvPr>
        </p:nvGraphicFramePr>
        <p:xfrm>
          <a:off x="7819761" y="3295392"/>
          <a:ext cx="454064" cy="229176"/>
        </p:xfrm>
        <a:graphic>
          <a:graphicData uri="http://schemas.openxmlformats.org/drawingml/2006/table">
            <a:tbl>
              <a:tblPr/>
              <a:tblGrid>
                <a:gridCol w="4540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917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smtClean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charset="0"/>
                        </a:rPr>
                        <a:t>엑셀</a:t>
                      </a:r>
                      <a:endParaRPr lang="en-US" altLang="ko-KR" sz="864" smtClean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325" marB="1432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4715440"/>
              </p:ext>
            </p:extLst>
          </p:nvPr>
        </p:nvGraphicFramePr>
        <p:xfrm>
          <a:off x="8356512" y="3295521"/>
          <a:ext cx="729382" cy="229176"/>
        </p:xfrm>
        <a:graphic>
          <a:graphicData uri="http://schemas.openxmlformats.org/drawingml/2006/table">
            <a:tbl>
              <a:tblPr/>
              <a:tblGrid>
                <a:gridCol w="7293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917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smtClean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charset="0"/>
                        </a:rPr>
                        <a:t>이메일 공유</a:t>
                      </a:r>
                      <a:endParaRPr lang="en-US" altLang="ko-KR" sz="864" smtClean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325" marB="1432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62" name="그룹 61"/>
          <p:cNvGrpSpPr/>
          <p:nvPr/>
        </p:nvGrpSpPr>
        <p:grpSpPr>
          <a:xfrm>
            <a:off x="8304416" y="799318"/>
            <a:ext cx="664188" cy="171851"/>
            <a:chOff x="8304416" y="799318"/>
            <a:chExt cx="664188" cy="171851"/>
          </a:xfrm>
        </p:grpSpPr>
        <p:sp>
          <p:nvSpPr>
            <p:cNvPr id="63" name="Shape 275"/>
            <p:cNvSpPr/>
            <p:nvPr/>
          </p:nvSpPr>
          <p:spPr>
            <a:xfrm>
              <a:off x="8304416" y="799318"/>
              <a:ext cx="171851" cy="171851"/>
            </a:xfrm>
            <a:prstGeom prst="ellipse">
              <a:avLst/>
            </a:prstGeom>
            <a:solidFill>
              <a:srgbClr val="EE2B2B"/>
            </a:solidFill>
            <a:ln w="8467">
              <a:solidFill>
                <a:srgbClr val="FFFFFF"/>
              </a:solidFill>
              <a:prstDash val="solid"/>
            </a:ln>
            <a:effectLst>
              <a:outerShdw blurRad="42975" dist="14325" dir="54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64" name="Text 276"/>
            <p:cNvSpPr txBox="1"/>
            <p:nvPr/>
          </p:nvSpPr>
          <p:spPr>
            <a:xfrm>
              <a:off x="8304416" y="799318"/>
              <a:ext cx="197629" cy="17185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508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6-1</a:t>
              </a:r>
              <a:endParaRPr lang="en-US" sz="508" dirty="0"/>
            </a:p>
          </p:txBody>
        </p:sp>
        <p:sp>
          <p:nvSpPr>
            <p:cNvPr id="65" name="Shape 277"/>
            <p:cNvSpPr/>
            <p:nvPr/>
          </p:nvSpPr>
          <p:spPr>
            <a:xfrm>
              <a:off x="8770975" y="799318"/>
              <a:ext cx="171851" cy="171851"/>
            </a:xfrm>
            <a:prstGeom prst="ellipse">
              <a:avLst/>
            </a:prstGeom>
            <a:solidFill>
              <a:srgbClr val="EE2B2B"/>
            </a:solidFill>
            <a:ln w="8467">
              <a:solidFill>
                <a:srgbClr val="FFFFFF"/>
              </a:solidFill>
              <a:prstDash val="solid"/>
            </a:ln>
            <a:effectLst>
              <a:outerShdw blurRad="42975" dist="14325" dir="54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66" name="Text 278"/>
            <p:cNvSpPr txBox="1"/>
            <p:nvPr/>
          </p:nvSpPr>
          <p:spPr>
            <a:xfrm>
              <a:off x="8770975" y="799318"/>
              <a:ext cx="197629" cy="17185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508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6-2</a:t>
              </a:r>
              <a:endParaRPr lang="en-US" sz="508" dirty="0"/>
            </a:p>
          </p:txBody>
        </p:sp>
      </p:grpSp>
      <p:grpSp>
        <p:nvGrpSpPr>
          <p:cNvPr id="67" name="그룹 66"/>
          <p:cNvGrpSpPr/>
          <p:nvPr/>
        </p:nvGrpSpPr>
        <p:grpSpPr>
          <a:xfrm>
            <a:off x="7825919" y="3419736"/>
            <a:ext cx="1335302" cy="179810"/>
            <a:chOff x="7825919" y="3419736"/>
            <a:chExt cx="1335302" cy="179810"/>
          </a:xfrm>
        </p:grpSpPr>
        <p:sp>
          <p:nvSpPr>
            <p:cNvPr id="68" name="Shape 283"/>
            <p:cNvSpPr/>
            <p:nvPr/>
          </p:nvSpPr>
          <p:spPr>
            <a:xfrm>
              <a:off x="7825919" y="3427695"/>
              <a:ext cx="171851" cy="171851"/>
            </a:xfrm>
            <a:prstGeom prst="ellipse">
              <a:avLst/>
            </a:prstGeom>
            <a:solidFill>
              <a:srgbClr val="EE2B2B"/>
            </a:solidFill>
            <a:ln w="8467">
              <a:solidFill>
                <a:srgbClr val="FFFFFF"/>
              </a:solidFill>
              <a:prstDash val="solid"/>
            </a:ln>
            <a:effectLst>
              <a:outerShdw blurRad="42975" dist="14325" dir="54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69" name="Text 284"/>
            <p:cNvSpPr txBox="1"/>
            <p:nvPr/>
          </p:nvSpPr>
          <p:spPr>
            <a:xfrm>
              <a:off x="7825919" y="3427695"/>
              <a:ext cx="197629" cy="17185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508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5-1</a:t>
              </a:r>
              <a:endParaRPr lang="en-US" sz="508" dirty="0"/>
            </a:p>
          </p:txBody>
        </p:sp>
        <p:sp>
          <p:nvSpPr>
            <p:cNvPr id="70" name="Shape 285"/>
            <p:cNvSpPr/>
            <p:nvPr/>
          </p:nvSpPr>
          <p:spPr>
            <a:xfrm>
              <a:off x="8276188" y="3419736"/>
              <a:ext cx="171851" cy="171851"/>
            </a:xfrm>
            <a:prstGeom prst="ellipse">
              <a:avLst/>
            </a:prstGeom>
            <a:solidFill>
              <a:srgbClr val="EE2B2B"/>
            </a:solidFill>
            <a:ln w="8467">
              <a:solidFill>
                <a:srgbClr val="FFFFFF"/>
              </a:solidFill>
              <a:prstDash val="solid"/>
            </a:ln>
            <a:effectLst>
              <a:outerShdw blurRad="42975" dist="14325" dir="54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71" name="Text 286"/>
            <p:cNvSpPr txBox="1"/>
            <p:nvPr/>
          </p:nvSpPr>
          <p:spPr>
            <a:xfrm>
              <a:off x="8276188" y="3419736"/>
              <a:ext cx="197629" cy="17185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508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5-2</a:t>
              </a:r>
              <a:endParaRPr lang="en-US" sz="508" dirty="0"/>
            </a:p>
          </p:txBody>
        </p:sp>
        <p:sp>
          <p:nvSpPr>
            <p:cNvPr id="72" name="Shape 287"/>
            <p:cNvSpPr/>
            <p:nvPr/>
          </p:nvSpPr>
          <p:spPr>
            <a:xfrm>
              <a:off x="8963592" y="3419736"/>
              <a:ext cx="171851" cy="171851"/>
            </a:xfrm>
            <a:prstGeom prst="ellipse">
              <a:avLst/>
            </a:prstGeom>
            <a:solidFill>
              <a:srgbClr val="EE2B2B"/>
            </a:solidFill>
            <a:ln w="8467">
              <a:solidFill>
                <a:srgbClr val="FFFFFF"/>
              </a:solidFill>
              <a:prstDash val="solid"/>
            </a:ln>
            <a:effectLst>
              <a:outerShdw blurRad="42975" dist="14325" dir="54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73" name="Text 288"/>
            <p:cNvSpPr txBox="1"/>
            <p:nvPr/>
          </p:nvSpPr>
          <p:spPr>
            <a:xfrm>
              <a:off x="8963592" y="3419736"/>
              <a:ext cx="197629" cy="17185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508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5-3</a:t>
              </a:r>
              <a:endParaRPr lang="en-US" sz="508" dirty="0"/>
            </a:p>
          </p:txBody>
        </p:sp>
      </p:grpSp>
      <p:grpSp>
        <p:nvGrpSpPr>
          <p:cNvPr id="74" name="그룹 73"/>
          <p:cNvGrpSpPr/>
          <p:nvPr/>
        </p:nvGrpSpPr>
        <p:grpSpPr>
          <a:xfrm>
            <a:off x="2670705" y="4023379"/>
            <a:ext cx="197629" cy="171851"/>
            <a:chOff x="2062318" y="1264013"/>
            <a:chExt cx="197629" cy="171851"/>
          </a:xfrm>
        </p:grpSpPr>
        <p:sp>
          <p:nvSpPr>
            <p:cNvPr id="75" name="Shape 279"/>
            <p:cNvSpPr/>
            <p:nvPr/>
          </p:nvSpPr>
          <p:spPr>
            <a:xfrm>
              <a:off x="2062318" y="1264013"/>
              <a:ext cx="171851" cy="171851"/>
            </a:xfrm>
            <a:prstGeom prst="ellipse">
              <a:avLst/>
            </a:prstGeom>
            <a:solidFill>
              <a:srgbClr val="EE2B2B"/>
            </a:solidFill>
            <a:ln w="8467">
              <a:solidFill>
                <a:srgbClr val="FFFFFF"/>
              </a:solidFill>
              <a:prstDash val="solid"/>
            </a:ln>
            <a:effectLst>
              <a:outerShdw blurRad="42975" dist="14325" dir="54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76" name="Text 280"/>
            <p:cNvSpPr txBox="1"/>
            <p:nvPr/>
          </p:nvSpPr>
          <p:spPr>
            <a:xfrm>
              <a:off x="2062318" y="1264013"/>
              <a:ext cx="197629" cy="17185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508" b="1" smtClean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4-1</a:t>
              </a:r>
              <a:endParaRPr lang="en-US" sz="508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45469" y="114526"/>
          <a:ext cx="2650883" cy="251050"/>
        </p:xfrm>
        <a:graphic>
          <a:graphicData uri="http://schemas.openxmlformats.org/drawingml/2006/table">
            <a:tbl>
              <a:tblPr/>
              <a:tblGrid>
                <a:gridCol w="2650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10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125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Description (계속)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7300" marR="57300" marT="42975" marB="429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6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45469" y="305527"/>
          <a:ext cx="2650883" cy="6310563"/>
        </p:xfrm>
        <a:graphic>
          <a:graphicData uri="http://schemas.openxmlformats.org/drawingml/2006/table">
            <a:tbl>
              <a:tblPr/>
              <a:tblGrid>
                <a:gridCol w="2435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73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1625" marR="71625" marT="57300" marB="57300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상세설명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1625" marR="71625" marT="57300" marB="57300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A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040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E677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1625" marR="71625" marT="57300" marB="57300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으로 강조 표시.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BE 연동:</a:t>
                      </a: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부품/모듈 공정배치 원천 데이터 집계 배치 결과를 조회(GET /api/automation/parts/summary).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1625" marR="71625" marT="57300" marB="57300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316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E677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1625" marR="71625" marT="57300" marB="57300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영역명: 상세 영역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ㄴ 공정 단위로 현재/개선 상태와 라인별 확대(전개/계획) 현황을 표시하는 상세 매트릭스 표이다. NO/공정/[BP]창원2C 라인(현재/개선/주요내용)/창원2A~2E/MSK~MWX 조립 등 총 13개 컬럼으로 구성된다.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공정별 상세 표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노출조건:</a:t>
                      </a: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필터 조회 시 공정 목록과 라인 컬럼이 함께 갱신.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출력조건:</a:t>
                      </a: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셀 값은 "●자동/수동" 표기, "가능('연도)", "협의필(ROI·회수불가 사유) N명", "미적용(사유)" 등 상태별 표기 규칙을 따른다.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인터랙션:</a:t>
                      </a: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표 영역 내 세로 스크롤 가능(최대 높이 520px 초과 시, 헤더 행 상단 고정 sticky). 컬럼 수가 많아(11열) 표 영역 내에서 가로 스크롤도 함께 발생(세로/가로 모두 표 자체 wrapper 안에서 스크롤, 고정(freeze) 열 없음 — NO/공정 열도 가로 스크롤 시 함께 밀림).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관리자 화면 연동:</a:t>
                      </a: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(설계 목표) 신규 공정 등록 시 표준공정 마스터 관리(SCR-002) 목록에 반영 — 현재 프로토타입은 모달 닫힘/성공 토스트까지만 구현되어 있고 SCR-002 목록 데이터에는 실제 반영되지 않음(실 연동 시 BE에서 처리).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BE 연동:</a:t>
                      </a: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GET /api/automation/parts/process-detail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4-1 자동 배지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"현재=자동" 배지 클릭 시 동영상 팝업 오픈(NO=7 참고).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1625" marR="71625" marT="57300" marB="57300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7807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E677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1625" marR="71625" marT="57300" marB="57300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영역명: CTA 영역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ㄴ 공정별 상세 표에 대한 데이터 등록·내보내기·공유 액션 버튼 3종으로 구성된 영역이다.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5-1 + 공정 등록 버튼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노출조건:</a:t>
                      </a: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공정별 상세 표 상단 우측에 항상 표시.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입력조건:</a:t>
                      </a: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클릭 시 공정 등록 팝업 오픈.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예외 Case:</a:t>
                      </a: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필수값 누락 → alert: "필수 항목을 입력해주세요."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BE 연동:</a:t>
                      </a: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POST /api/automation/parts/process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1625" marR="71625" marT="57300" marB="57300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07" name="Text 303"/>
          <p:cNvSpPr/>
          <p:nvPr/>
        </p:nvSpPr>
        <p:spPr>
          <a:xfrm>
            <a:off x="9345469" y="6565392"/>
            <a:ext cx="2650883" cy="292608"/>
          </a:xfrm>
          <a:prstGeom prst="rect">
            <a:avLst/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화면에 계속 ▼</a:t>
            </a:r>
            <a:endParaRPr lang="en-US" sz="1000" dirty="0"/>
          </a:p>
        </p:txBody>
      </p:sp>
      <p:graphicFrame>
        <p:nvGraphicFramePr>
          <p:cNvPr id="3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7980539"/>
              </p:ext>
            </p:extLst>
          </p:nvPr>
        </p:nvGraphicFramePr>
        <p:xfrm>
          <a:off x="3" y="57201"/>
          <a:ext cx="9222982" cy="521895"/>
        </p:xfrm>
        <a:graphic>
          <a:graphicData uri="http://schemas.openxmlformats.org/drawingml/2006/table">
            <a:tbl>
              <a:tblPr/>
              <a:tblGrid>
                <a:gridCol w="9843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76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14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57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137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18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0" marR="0" marT="14325" marB="1432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ADB5B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Screen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부품 공정 자동화 현황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325" marB="143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ADB5B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URL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/portal/automation/parts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325" marB="143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ADB5B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Status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와이어프레임 (샘플, 보정 예정)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325" marB="143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0" marR="0" marT="14325" marB="1432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7411766"/>
              </p:ext>
            </p:extLst>
          </p:nvPr>
        </p:nvGraphicFramePr>
        <p:xfrm>
          <a:off x="401009" y="237010"/>
          <a:ext cx="543283" cy="162152"/>
        </p:xfrm>
        <a:graphic>
          <a:graphicData uri="http://schemas.openxmlformats.org/drawingml/2006/table">
            <a:tbl>
              <a:tblPr/>
              <a:tblGrid>
                <a:gridCol w="271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89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21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17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4950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SCR-001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17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48" name="Shape 1"/>
          <p:cNvSpPr/>
          <p:nvPr/>
        </p:nvSpPr>
        <p:spPr>
          <a:xfrm>
            <a:off x="1561314" y="2014338"/>
            <a:ext cx="7539187" cy="1134068"/>
          </a:xfrm>
          <a:prstGeom prst="rect">
            <a:avLst/>
          </a:prstGeom>
          <a:ln w="8467">
            <a:solidFill>
              <a:srgbClr val="CCCCCC"/>
            </a:solidFill>
            <a:prstDash val="solid"/>
          </a:ln>
        </p:spPr>
      </p:sp>
      <p:sp>
        <p:nvSpPr>
          <p:cNvPr id="349" name="Shape 2"/>
          <p:cNvSpPr/>
          <p:nvPr/>
        </p:nvSpPr>
        <p:spPr>
          <a:xfrm>
            <a:off x="1561314" y="3549432"/>
            <a:ext cx="7539187" cy="3128883"/>
          </a:xfrm>
          <a:prstGeom prst="rect">
            <a:avLst/>
          </a:prstGeom>
          <a:ln w="8467">
            <a:solidFill>
              <a:srgbClr val="CCCCCC"/>
            </a:solidFill>
            <a:prstDash val="solid"/>
          </a:ln>
        </p:spPr>
      </p:sp>
      <p:sp>
        <p:nvSpPr>
          <p:cNvPr id="350" name="Shape 6"/>
          <p:cNvSpPr/>
          <p:nvPr/>
        </p:nvSpPr>
        <p:spPr>
          <a:xfrm>
            <a:off x="1446788" y="1074006"/>
            <a:ext cx="157551" cy="157551"/>
          </a:xfrm>
          <a:prstGeom prst="ellipse">
            <a:avLst/>
          </a:prstGeom>
          <a:solidFill>
            <a:srgbClr val="E67700"/>
          </a:solidFill>
          <a:ln/>
          <a:effectLst>
            <a:outerShdw blurRad="42975" dist="14325" dir="5400000" algn="bl" rotWithShape="0">
              <a:srgbClr val="E67700">
                <a:alpha val="35000"/>
              </a:srgbClr>
            </a:outerShdw>
          </a:effectLst>
        </p:spPr>
      </p:sp>
      <p:sp>
        <p:nvSpPr>
          <p:cNvPr id="351" name="Text 7"/>
          <p:cNvSpPr txBox="1"/>
          <p:nvPr/>
        </p:nvSpPr>
        <p:spPr>
          <a:xfrm>
            <a:off x="1446788" y="1074006"/>
            <a:ext cx="181183" cy="1575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564" dirty="0"/>
          </a:p>
        </p:txBody>
      </p:sp>
      <p:sp>
        <p:nvSpPr>
          <p:cNvPr id="352" name="Shape 10"/>
          <p:cNvSpPr/>
          <p:nvPr/>
        </p:nvSpPr>
        <p:spPr>
          <a:xfrm>
            <a:off x="1511201" y="1790260"/>
            <a:ext cx="157551" cy="157551"/>
          </a:xfrm>
          <a:prstGeom prst="ellipse">
            <a:avLst/>
          </a:prstGeom>
          <a:solidFill>
            <a:srgbClr val="E67700"/>
          </a:solidFill>
          <a:ln/>
          <a:effectLst>
            <a:outerShdw blurRad="42975" dist="14325" dir="5400000" algn="bl" rotWithShape="0">
              <a:srgbClr val="E67700">
                <a:alpha val="35000"/>
              </a:srgbClr>
            </a:outerShdw>
          </a:effectLst>
        </p:spPr>
      </p:sp>
      <p:sp>
        <p:nvSpPr>
          <p:cNvPr id="353" name="Text 11"/>
          <p:cNvSpPr txBox="1"/>
          <p:nvPr/>
        </p:nvSpPr>
        <p:spPr>
          <a:xfrm>
            <a:off x="1511201" y="1790260"/>
            <a:ext cx="181183" cy="1575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564" dirty="0"/>
          </a:p>
        </p:txBody>
      </p:sp>
      <p:sp>
        <p:nvSpPr>
          <p:cNvPr id="354" name="Shape 12"/>
          <p:cNvSpPr/>
          <p:nvPr/>
        </p:nvSpPr>
        <p:spPr>
          <a:xfrm>
            <a:off x="1532714" y="3072303"/>
            <a:ext cx="157551" cy="157551"/>
          </a:xfrm>
          <a:prstGeom prst="ellipse">
            <a:avLst/>
          </a:prstGeom>
          <a:solidFill>
            <a:srgbClr val="E67700"/>
          </a:solidFill>
          <a:ln/>
          <a:effectLst>
            <a:outerShdw blurRad="42975" dist="14325" dir="5400000" algn="bl" rotWithShape="0">
              <a:srgbClr val="E67700">
                <a:alpha val="35000"/>
              </a:srgbClr>
            </a:outerShdw>
          </a:effectLst>
        </p:spPr>
      </p:sp>
      <p:sp>
        <p:nvSpPr>
          <p:cNvPr id="355" name="Text 13"/>
          <p:cNvSpPr txBox="1"/>
          <p:nvPr/>
        </p:nvSpPr>
        <p:spPr>
          <a:xfrm>
            <a:off x="1532714" y="3072303"/>
            <a:ext cx="181183" cy="1575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564" dirty="0"/>
          </a:p>
        </p:txBody>
      </p:sp>
      <p:sp>
        <p:nvSpPr>
          <p:cNvPr id="356" name="Shape 14"/>
          <p:cNvSpPr/>
          <p:nvPr/>
        </p:nvSpPr>
        <p:spPr>
          <a:xfrm>
            <a:off x="8935738" y="3072303"/>
            <a:ext cx="157551" cy="157551"/>
          </a:xfrm>
          <a:prstGeom prst="ellipse">
            <a:avLst/>
          </a:prstGeom>
          <a:solidFill>
            <a:srgbClr val="E67700"/>
          </a:solidFill>
          <a:ln/>
          <a:effectLst>
            <a:outerShdw blurRad="42975" dist="14325" dir="5400000" algn="bl" rotWithShape="0">
              <a:srgbClr val="E67700">
                <a:alpha val="35000"/>
              </a:srgbClr>
            </a:outerShdw>
          </a:effectLst>
        </p:spPr>
      </p:sp>
      <p:sp>
        <p:nvSpPr>
          <p:cNvPr id="357" name="Text 15"/>
          <p:cNvSpPr txBox="1"/>
          <p:nvPr/>
        </p:nvSpPr>
        <p:spPr>
          <a:xfrm>
            <a:off x="8935738" y="3072303"/>
            <a:ext cx="181183" cy="1575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564" dirty="0"/>
          </a:p>
        </p:txBody>
      </p:sp>
      <p:sp>
        <p:nvSpPr>
          <p:cNvPr id="358" name="Shape 16"/>
          <p:cNvSpPr/>
          <p:nvPr/>
        </p:nvSpPr>
        <p:spPr>
          <a:xfrm>
            <a:off x="8985851" y="658555"/>
            <a:ext cx="157551" cy="157551"/>
          </a:xfrm>
          <a:prstGeom prst="ellipse">
            <a:avLst/>
          </a:prstGeom>
          <a:solidFill>
            <a:srgbClr val="E67700"/>
          </a:solidFill>
          <a:ln/>
          <a:effectLst>
            <a:outerShdw blurRad="42975" dist="14325" dir="5400000" algn="bl" rotWithShape="0">
              <a:srgbClr val="E67700">
                <a:alpha val="35000"/>
              </a:srgbClr>
            </a:outerShdw>
          </a:effectLst>
        </p:spPr>
      </p:sp>
      <p:sp>
        <p:nvSpPr>
          <p:cNvPr id="359" name="Text 17"/>
          <p:cNvSpPr txBox="1"/>
          <p:nvPr/>
        </p:nvSpPr>
        <p:spPr>
          <a:xfrm>
            <a:off x="8985851" y="658555"/>
            <a:ext cx="181183" cy="1575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564" dirty="0"/>
          </a:p>
        </p:txBody>
      </p:sp>
      <p:graphicFrame>
        <p:nvGraphicFramePr>
          <p:cNvPr id="360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2708951"/>
              </p:ext>
            </p:extLst>
          </p:nvPr>
        </p:nvGraphicFramePr>
        <p:xfrm>
          <a:off x="85907" y="644255"/>
          <a:ext cx="9129121" cy="372427"/>
        </p:xfrm>
        <a:graphic>
          <a:graphicData uri="http://schemas.openxmlformats.org/drawingml/2006/table">
            <a:tbl>
              <a:tblPr/>
              <a:tblGrid>
                <a:gridCol w="1377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5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85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794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13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18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666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24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0" marR="0" marT="14325" marB="1432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PNDES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325" marB="143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88888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생기포털&gt;공정 자동화 현황&gt;부품 공정 자동화 현황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325" marB="143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0" marR="0" marT="14325" marB="1432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홍길동 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325" marB="143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|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325" marB="143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로그아웃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325" marB="143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61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2718146"/>
              </p:ext>
            </p:extLst>
          </p:nvPr>
        </p:nvGraphicFramePr>
        <p:xfrm>
          <a:off x="95051" y="1016682"/>
          <a:ext cx="1360881" cy="5016030"/>
        </p:xfrm>
        <a:graphic>
          <a:graphicData uri="http://schemas.openxmlformats.org/drawingml/2006/table">
            <a:tbl>
              <a:tblPr/>
              <a:tblGrid>
                <a:gridCol w="12328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270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9999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공정 자동화 현황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70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0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부품 공정 자동화 현황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50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표준공정 마스터 관리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50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모듈 공정 자동화 현황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50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모듈 표준 작업명 관리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50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I/F 실행결과 관리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29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9999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중장기 방향성 공유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70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50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메인 대시보드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50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통합 로드맵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›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268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77777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  상세과제 로드맵 관리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70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268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77777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  통합 로드맵 차트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70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50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생산기술 Tech PR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50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생산기술 Tech PR 관리자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50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mTRM 협의체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50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mTRM 관리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50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기술과제 관리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050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기술동향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graphicFrame>
        <p:nvGraphicFramePr>
          <p:cNvPr id="362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5125264"/>
              </p:ext>
            </p:extLst>
          </p:nvPr>
        </p:nvGraphicFramePr>
        <p:xfrm>
          <a:off x="1561314" y="1131207"/>
          <a:ext cx="7539188" cy="240243"/>
        </p:xfrm>
        <a:graphic>
          <a:graphicData uri="http://schemas.openxmlformats.org/drawingml/2006/table">
            <a:tbl>
              <a:tblPr/>
              <a:tblGrid>
                <a:gridCol w="8504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29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35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02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6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부품 공정</a:t>
                      </a:r>
                      <a:endParaRPr lang="en-US" sz="936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325" marB="143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6" dirty="0">
                          <a:solidFill>
                            <a:srgbClr val="77777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모듈 공정</a:t>
                      </a:r>
                      <a:endParaRPr lang="en-US" sz="936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325" marB="143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0" marR="0" marT="14325" marB="1432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63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6820379"/>
              </p:ext>
            </p:extLst>
          </p:nvPr>
        </p:nvGraphicFramePr>
        <p:xfrm>
          <a:off x="8408372" y="1500277"/>
          <a:ext cx="679888" cy="229176"/>
        </p:xfrm>
        <a:graphic>
          <a:graphicData uri="http://schemas.openxmlformats.org/drawingml/2006/table">
            <a:tbl>
              <a:tblPr/>
              <a:tblGrid>
                <a:gridCol w="6798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91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325" marB="143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64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2675207"/>
              </p:ext>
            </p:extLst>
          </p:nvPr>
        </p:nvGraphicFramePr>
        <p:xfrm>
          <a:off x="1561314" y="1828254"/>
          <a:ext cx="7555607" cy="181050"/>
        </p:xfrm>
        <a:graphic>
          <a:graphicData uri="http://schemas.openxmlformats.org/drawingml/2006/table">
            <a:tbl>
              <a:tblPr/>
              <a:tblGrid>
                <a:gridCol w="75556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73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요약 현황</a:t>
                      </a:r>
                      <a:r>
                        <a:rPr lang="en-US" sz="792" b="1" dirty="0">
                          <a:solidFill>
                            <a:srgbClr val="9999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</a:t>
                      </a:r>
                      <a:r>
                        <a:rPr lang="en-US" sz="700" b="1" dirty="0">
                          <a:solidFill>
                            <a:srgbClr val="9999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(공장/라인별 자동화율·직접인원 현재→개선 및 중장기 완료일정)</a:t>
                      </a:r>
                      <a:endParaRPr lang="en-US" sz="10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325" marB="143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65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0388"/>
              </p:ext>
            </p:extLst>
          </p:nvPr>
        </p:nvGraphicFramePr>
        <p:xfrm>
          <a:off x="1569273" y="2022296"/>
          <a:ext cx="7523267" cy="1210556"/>
        </p:xfrm>
        <a:graphic>
          <a:graphicData uri="http://schemas.openxmlformats.org/drawingml/2006/table">
            <a:tbl>
              <a:tblPr/>
              <a:tblGrid>
                <a:gridCol w="647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5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40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40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40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405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405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405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4405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4254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11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[B/P] 창원2C 라인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창원 2A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창원 2B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창원 2D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창원 2E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MSK 조립1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MMX 조립1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MWX 조립1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MWX 조립2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952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자동화율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72% → 94% (22%▲)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71% → 94% (23%▲)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67% → 94% (27%▲)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63%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63% → 94% (31%▲)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47% → 93% (46%▲)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40% → 93% (53%▲)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47% → 93% (46%▲)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40% → 93% (53%▲)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952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직접인원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4명 → </a:t>
                      </a:r>
                      <a:r>
                        <a:rPr lang="en-US" sz="700" b="1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r>
                        <a:rPr lang="en-US" sz="700" b="1" smtClean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명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700" b="1" smtClean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</a:t>
                      </a:r>
                      <a:r>
                        <a:rPr lang="en-US" sz="7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3명▼)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4명 → </a:t>
                      </a:r>
                      <a:r>
                        <a:rPr lang="en-US" sz="70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r>
                        <a:rPr lang="en-US" sz="700" smtClean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명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700" smtClean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</a:t>
                      </a: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3명▼)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5명 → </a:t>
                      </a:r>
                      <a:r>
                        <a:rPr lang="en-US" sz="70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r>
                        <a:rPr lang="en-US" sz="700" smtClean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명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700" smtClean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</a:t>
                      </a: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4명▼)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4명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4명 → </a:t>
                      </a:r>
                      <a:r>
                        <a:rPr lang="en-US" sz="70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r>
                        <a:rPr lang="en-US" sz="700" smtClean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명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700" smtClean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</a:t>
                      </a: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3명▼)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5명 → </a:t>
                      </a:r>
                      <a:r>
                        <a:rPr lang="en-US" sz="70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r>
                        <a:rPr lang="en-US" sz="700" smtClean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명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700" smtClean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</a:t>
                      </a: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4명▼)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6명 → </a:t>
                      </a:r>
                      <a:r>
                        <a:rPr lang="en-US" sz="70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r>
                        <a:rPr lang="en-US" sz="700" smtClean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명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700" smtClean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</a:t>
                      </a: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5명▼)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5명 → </a:t>
                      </a:r>
                      <a:r>
                        <a:rPr lang="en-US" sz="70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r>
                        <a:rPr lang="en-US" sz="700" smtClean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명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700" smtClean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</a:t>
                      </a: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4명▼)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6명 → </a:t>
                      </a:r>
                      <a:r>
                        <a:rPr lang="en-US" sz="70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r>
                        <a:rPr lang="en-US" sz="700" smtClean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명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700" smtClean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</a:t>
                      </a: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5명▼)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완료일정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'27년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'27년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'30년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'30년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'30년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'30년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'30년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'30년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66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1847142"/>
              </p:ext>
            </p:extLst>
          </p:nvPr>
        </p:nvGraphicFramePr>
        <p:xfrm>
          <a:off x="1561314" y="3352089"/>
          <a:ext cx="5763351" cy="181050"/>
        </p:xfrm>
        <a:graphic>
          <a:graphicData uri="http://schemas.openxmlformats.org/drawingml/2006/table">
            <a:tbl>
              <a:tblPr/>
              <a:tblGrid>
                <a:gridCol w="57633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73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공정별 상세</a:t>
                      </a:r>
                      <a:r>
                        <a:rPr lang="en-US" sz="792" b="1" dirty="0">
                          <a:solidFill>
                            <a:srgbClr val="9999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</a:t>
                      </a:r>
                      <a:r>
                        <a:rPr lang="en-US" sz="700" b="1" dirty="0">
                          <a:solidFill>
                            <a:srgbClr val="9999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(현재/개선/주요내용 · 공정/라인별 확대전개계획, 현재=자동 선택 시 동영상 팝업)</a:t>
                      </a:r>
                      <a:endParaRPr lang="en-US" sz="10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325" marB="143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67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377166"/>
              </p:ext>
            </p:extLst>
          </p:nvPr>
        </p:nvGraphicFramePr>
        <p:xfrm>
          <a:off x="1569273" y="3557390"/>
          <a:ext cx="7523270" cy="3145261"/>
        </p:xfrm>
        <a:graphic>
          <a:graphicData uri="http://schemas.openxmlformats.org/drawingml/2006/table">
            <a:tbl>
              <a:tblPr/>
              <a:tblGrid>
                <a:gridCol w="203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99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0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90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10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995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995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995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4995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4995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4995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4995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5145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11960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공정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[B/P] 창원2C 라인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4E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창원 2A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창원 2B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창원 2D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창원 2E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MSK 조립1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MMX 조립1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MWX 조립1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MWX 조립2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96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현재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개선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주요내용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4E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348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오버몰딩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미해당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미해당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협의必(ROI 13년) 1명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348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파워헤드 버퍼적재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수동 1명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가능('27)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6축로봇 + 버퍼교체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가능('27)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6축로봇 + 버퍼교체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가능('27)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가능('28)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미해당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미해당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가능('27)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협의必(회수 불가) 1명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138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인풋풀 조립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수동 1명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가능('27)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인풋풀 조립 인덱스, 컬럼 로딩/조립로봇 外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가능('27)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인풋풀 조립 인덱스, 컬럼 로딩/조립로봇 外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가능('27)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가능('28)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미적용(협의中) 1명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가능('29)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협의必(ROI 42년) 1명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협의必(회수불가) 1명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348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컬럼 조립 (추정)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수동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가능('28)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가능('29)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가능('28)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가능('29)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미적용(협의中) 1명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가능('30)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협의必(ROI 45년) 1명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협의必(회수불가) 1명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협의必(회수불가) 1명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협의必(회수불가) 1명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348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smtClean="0"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5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smtClean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ECU S/W 다운</a:t>
                      </a:r>
                      <a:endParaRPr lang="en-US" altLang="ko-KR" sz="700" smtClean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smtClean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旣자동화</a:t>
                      </a:r>
                      <a:endParaRPr lang="en-US" altLang="ko-KR" sz="700" smtClean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smtClean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altLang="ko-KR" sz="700" smtClean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smtClean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altLang="ko-KR" sz="700" smtClean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smtClean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altLang="ko-KR" sz="700" smtClean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smtClean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altLang="ko-KR" sz="700" smtClean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smtClean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미적용(협의完) 1명</a:t>
                      </a:r>
                      <a:endParaRPr lang="en-US" altLang="ko-KR" sz="700" smtClean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smtClean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가능('29)</a:t>
                      </a:r>
                      <a:endParaRPr lang="en-US" altLang="ko-KR" sz="700" smtClean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smtClean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협의必(ROI 18년) 1명</a:t>
                      </a:r>
                      <a:endParaRPr lang="en-US" altLang="ko-KR" sz="700" smtClean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smtClean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협의必(ROI 44년) 1명</a:t>
                      </a:r>
                      <a:endParaRPr lang="en-US" altLang="ko-KR" sz="700" smtClean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smtClean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협의必(ROI 159년) 1명</a:t>
                      </a:r>
                      <a:endParaRPr lang="en-US" altLang="ko-KR" sz="700" smtClean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smtClean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협의必(회수불가) 1명</a:t>
                      </a:r>
                      <a:endParaRPr lang="en-US" altLang="ko-KR" sz="700" smtClean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6262170"/>
                  </a:ext>
                </a:extLst>
              </a:tr>
              <a:tr h="256032">
                <a:tc gridSpan="1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전체 공정 목록(NO 1–17)은 다음 화면(공정별 상세 전체)에서 확인 가능합니다.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68" name="Shape 18"/>
          <p:cNvSpPr/>
          <p:nvPr/>
        </p:nvSpPr>
        <p:spPr>
          <a:xfrm>
            <a:off x="1446788" y="1074006"/>
            <a:ext cx="157551" cy="157551"/>
          </a:xfrm>
          <a:prstGeom prst="ellipse">
            <a:avLst/>
          </a:prstGeom>
          <a:solidFill>
            <a:srgbClr val="E67700"/>
          </a:solidFill>
          <a:ln/>
          <a:effectLst>
            <a:outerShdw blurRad="42975" dist="14325" dir="5400000" algn="bl" rotWithShape="0">
              <a:srgbClr val="E67700">
                <a:alpha val="35000"/>
              </a:srgbClr>
            </a:outerShdw>
          </a:effectLst>
        </p:spPr>
      </p:sp>
      <p:sp>
        <p:nvSpPr>
          <p:cNvPr id="369" name="Text 19"/>
          <p:cNvSpPr txBox="1"/>
          <p:nvPr/>
        </p:nvSpPr>
        <p:spPr>
          <a:xfrm>
            <a:off x="1446788" y="1074006"/>
            <a:ext cx="181183" cy="1575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564" dirty="0"/>
          </a:p>
        </p:txBody>
      </p:sp>
      <p:sp>
        <p:nvSpPr>
          <p:cNvPr id="370" name="Shape 22"/>
          <p:cNvSpPr/>
          <p:nvPr/>
        </p:nvSpPr>
        <p:spPr>
          <a:xfrm>
            <a:off x="1511201" y="1790260"/>
            <a:ext cx="157551" cy="157551"/>
          </a:xfrm>
          <a:prstGeom prst="ellipse">
            <a:avLst/>
          </a:prstGeom>
          <a:solidFill>
            <a:srgbClr val="E67700"/>
          </a:solidFill>
          <a:ln/>
          <a:effectLst>
            <a:outerShdw blurRad="42975" dist="14325" dir="5400000" algn="bl" rotWithShape="0">
              <a:srgbClr val="E67700">
                <a:alpha val="35000"/>
              </a:srgbClr>
            </a:outerShdw>
          </a:effectLst>
        </p:spPr>
      </p:sp>
      <p:sp>
        <p:nvSpPr>
          <p:cNvPr id="371" name="Text 23"/>
          <p:cNvSpPr txBox="1"/>
          <p:nvPr/>
        </p:nvSpPr>
        <p:spPr>
          <a:xfrm>
            <a:off x="1511201" y="1790260"/>
            <a:ext cx="181183" cy="1575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564" dirty="0"/>
          </a:p>
        </p:txBody>
      </p:sp>
      <p:sp>
        <p:nvSpPr>
          <p:cNvPr id="372" name="Shape 24"/>
          <p:cNvSpPr/>
          <p:nvPr/>
        </p:nvSpPr>
        <p:spPr>
          <a:xfrm>
            <a:off x="1532714" y="3072303"/>
            <a:ext cx="157551" cy="157551"/>
          </a:xfrm>
          <a:prstGeom prst="ellipse">
            <a:avLst/>
          </a:prstGeom>
          <a:solidFill>
            <a:srgbClr val="E67700"/>
          </a:solidFill>
          <a:ln/>
          <a:effectLst>
            <a:outerShdw blurRad="42975" dist="14325" dir="5400000" algn="bl" rotWithShape="0">
              <a:srgbClr val="E67700">
                <a:alpha val="35000"/>
              </a:srgbClr>
            </a:outerShdw>
          </a:effectLst>
        </p:spPr>
      </p:sp>
      <p:sp>
        <p:nvSpPr>
          <p:cNvPr id="373" name="Text 25"/>
          <p:cNvSpPr txBox="1"/>
          <p:nvPr/>
        </p:nvSpPr>
        <p:spPr>
          <a:xfrm>
            <a:off x="1532714" y="3072303"/>
            <a:ext cx="181183" cy="1575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564" dirty="0"/>
          </a:p>
        </p:txBody>
      </p:sp>
      <p:sp>
        <p:nvSpPr>
          <p:cNvPr id="374" name="Shape 26"/>
          <p:cNvSpPr/>
          <p:nvPr/>
        </p:nvSpPr>
        <p:spPr>
          <a:xfrm>
            <a:off x="8935738" y="3072303"/>
            <a:ext cx="157551" cy="157551"/>
          </a:xfrm>
          <a:prstGeom prst="ellipse">
            <a:avLst/>
          </a:prstGeom>
          <a:solidFill>
            <a:srgbClr val="E67700"/>
          </a:solidFill>
          <a:ln/>
          <a:effectLst>
            <a:outerShdw blurRad="42975" dist="14325" dir="5400000" algn="bl" rotWithShape="0">
              <a:srgbClr val="E67700">
                <a:alpha val="35000"/>
              </a:srgbClr>
            </a:outerShdw>
          </a:effectLst>
        </p:spPr>
      </p:sp>
      <p:sp>
        <p:nvSpPr>
          <p:cNvPr id="375" name="Text 27"/>
          <p:cNvSpPr txBox="1"/>
          <p:nvPr/>
        </p:nvSpPr>
        <p:spPr>
          <a:xfrm>
            <a:off x="8935738" y="3072303"/>
            <a:ext cx="181183" cy="1575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564" dirty="0"/>
          </a:p>
        </p:txBody>
      </p:sp>
      <p:sp>
        <p:nvSpPr>
          <p:cNvPr id="376" name="Shape 28"/>
          <p:cNvSpPr/>
          <p:nvPr/>
        </p:nvSpPr>
        <p:spPr>
          <a:xfrm>
            <a:off x="8985851" y="658555"/>
            <a:ext cx="157551" cy="157551"/>
          </a:xfrm>
          <a:prstGeom prst="ellipse">
            <a:avLst/>
          </a:prstGeom>
          <a:solidFill>
            <a:srgbClr val="E67700"/>
          </a:solidFill>
          <a:ln/>
          <a:effectLst>
            <a:outerShdw blurRad="42975" dist="14325" dir="5400000" algn="bl" rotWithShape="0">
              <a:srgbClr val="E67700">
                <a:alpha val="35000"/>
              </a:srgbClr>
            </a:outerShdw>
          </a:effectLst>
        </p:spPr>
      </p:sp>
      <p:sp>
        <p:nvSpPr>
          <p:cNvPr id="377" name="Text 29"/>
          <p:cNvSpPr txBox="1"/>
          <p:nvPr/>
        </p:nvSpPr>
        <p:spPr>
          <a:xfrm>
            <a:off x="8985851" y="658555"/>
            <a:ext cx="181183" cy="1575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564" dirty="0"/>
          </a:p>
        </p:txBody>
      </p:sp>
      <p:sp>
        <p:nvSpPr>
          <p:cNvPr id="378" name="Shape 3"/>
          <p:cNvSpPr/>
          <p:nvPr/>
        </p:nvSpPr>
        <p:spPr>
          <a:xfrm>
            <a:off x="9042430" y="3571691"/>
            <a:ext cx="35813" cy="3012740"/>
          </a:xfrm>
          <a:prstGeom prst="roundRect">
            <a:avLst>
              <a:gd name="adj" fmla="val 50000"/>
            </a:avLst>
          </a:prstGeom>
          <a:solidFill>
            <a:srgbClr val="CCCCCC"/>
          </a:solidFill>
          <a:ln/>
        </p:spPr>
      </p:sp>
      <p:sp>
        <p:nvSpPr>
          <p:cNvPr id="379" name="Shape 4"/>
          <p:cNvSpPr/>
          <p:nvPr/>
        </p:nvSpPr>
        <p:spPr>
          <a:xfrm>
            <a:off x="1583573" y="6620244"/>
            <a:ext cx="7423044" cy="35813"/>
          </a:xfrm>
          <a:prstGeom prst="roundRect">
            <a:avLst>
              <a:gd name="adj" fmla="val 50000"/>
            </a:avLst>
          </a:prstGeom>
          <a:solidFill>
            <a:srgbClr val="CCCCCC"/>
          </a:solidFill>
          <a:ln/>
        </p:spPr>
      </p:sp>
      <p:sp>
        <p:nvSpPr>
          <p:cNvPr id="380" name="Shape 0"/>
          <p:cNvSpPr/>
          <p:nvPr/>
        </p:nvSpPr>
        <p:spPr>
          <a:xfrm>
            <a:off x="77949" y="636296"/>
            <a:ext cx="9145036" cy="6221704"/>
          </a:xfrm>
          <a:prstGeom prst="rect">
            <a:avLst/>
          </a:prstGeom>
          <a:noFill/>
          <a:ln w="8467">
            <a:solidFill>
              <a:srgbClr val="CCCCCC"/>
            </a:solidFill>
            <a:prstDash val="solid"/>
          </a:ln>
        </p:spPr>
      </p:sp>
      <p:graphicFrame>
        <p:nvGraphicFramePr>
          <p:cNvPr id="381" name="표 38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7150716"/>
              </p:ext>
            </p:extLst>
          </p:nvPr>
        </p:nvGraphicFramePr>
        <p:xfrm>
          <a:off x="1561314" y="1484603"/>
          <a:ext cx="1087055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7055">
                  <a:extLst>
                    <a:ext uri="{9D8B030D-6E8A-4147-A177-3AD203B41FA5}">
                      <a16:colId xmlns:a16="http://schemas.microsoft.com/office/drawing/2014/main" val="3625164918"/>
                    </a:ext>
                  </a:extLst>
                </a:gridCol>
              </a:tblGrid>
              <a:tr h="23242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mtClean="0">
                          <a:solidFill>
                            <a:schemeClr val="tx1"/>
                          </a:solidFill>
                        </a:rPr>
                        <a:t>제품군 전체     </a:t>
                      </a:r>
                      <a:r>
                        <a:rPr lang="en-US" altLang="ko-KR" sz="1000" b="1" smtClean="0">
                          <a:solidFill>
                            <a:srgbClr val="5555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▾</a:t>
                      </a:r>
                      <a:endParaRPr lang="en-US" altLang="ko-KR" sz="1000" b="1" smtClean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7144122"/>
                  </a:ext>
                </a:extLst>
              </a:tr>
            </a:tbl>
          </a:graphicData>
        </a:graphic>
      </p:graphicFrame>
      <p:graphicFrame>
        <p:nvGraphicFramePr>
          <p:cNvPr id="382" name="표 38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2060549"/>
              </p:ext>
            </p:extLst>
          </p:nvPr>
        </p:nvGraphicFramePr>
        <p:xfrm>
          <a:off x="2738257" y="1487394"/>
          <a:ext cx="1087055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7055">
                  <a:extLst>
                    <a:ext uri="{9D8B030D-6E8A-4147-A177-3AD203B41FA5}">
                      <a16:colId xmlns:a16="http://schemas.microsoft.com/office/drawing/2014/main" val="3625164918"/>
                    </a:ext>
                  </a:extLst>
                </a:gridCol>
              </a:tblGrid>
              <a:tr h="23242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mtClean="0">
                          <a:solidFill>
                            <a:schemeClr val="tx1"/>
                          </a:solidFill>
                        </a:rPr>
                        <a:t>제품 전체     </a:t>
                      </a:r>
                      <a:r>
                        <a:rPr lang="en-US" altLang="ko-KR" sz="1000" b="1" smtClean="0">
                          <a:solidFill>
                            <a:srgbClr val="5555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▾</a:t>
                      </a:r>
                      <a:endParaRPr lang="en-US" altLang="ko-KR" sz="1000" b="1" smtClean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7144122"/>
                  </a:ext>
                </a:extLst>
              </a:tr>
            </a:tbl>
          </a:graphicData>
        </a:graphic>
      </p:graphicFrame>
      <p:graphicFrame>
        <p:nvGraphicFramePr>
          <p:cNvPr id="383" name="표 38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8868489"/>
              </p:ext>
            </p:extLst>
          </p:nvPr>
        </p:nvGraphicFramePr>
        <p:xfrm>
          <a:off x="3915200" y="1487394"/>
          <a:ext cx="1087055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7055">
                  <a:extLst>
                    <a:ext uri="{9D8B030D-6E8A-4147-A177-3AD203B41FA5}">
                      <a16:colId xmlns:a16="http://schemas.microsoft.com/office/drawing/2014/main" val="3625164918"/>
                    </a:ext>
                  </a:extLst>
                </a:gridCol>
              </a:tblGrid>
              <a:tr h="23242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mtClean="0">
                          <a:solidFill>
                            <a:schemeClr val="tx1"/>
                          </a:solidFill>
                        </a:rPr>
                        <a:t>지역 전체     </a:t>
                      </a:r>
                      <a:r>
                        <a:rPr lang="en-US" altLang="ko-KR" sz="1000" b="1" smtClean="0">
                          <a:solidFill>
                            <a:srgbClr val="5555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▾</a:t>
                      </a:r>
                      <a:endParaRPr lang="en-US" altLang="ko-KR" sz="1000" b="1" smtClean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7144122"/>
                  </a:ext>
                </a:extLst>
              </a:tr>
            </a:tbl>
          </a:graphicData>
        </a:graphic>
      </p:graphicFrame>
      <p:graphicFrame>
        <p:nvGraphicFramePr>
          <p:cNvPr id="384" name="표 38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4453655"/>
              </p:ext>
            </p:extLst>
          </p:nvPr>
        </p:nvGraphicFramePr>
        <p:xfrm>
          <a:off x="5107637" y="1487394"/>
          <a:ext cx="1087055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7055">
                  <a:extLst>
                    <a:ext uri="{9D8B030D-6E8A-4147-A177-3AD203B41FA5}">
                      <a16:colId xmlns:a16="http://schemas.microsoft.com/office/drawing/2014/main" val="3625164918"/>
                    </a:ext>
                  </a:extLst>
                </a:gridCol>
              </a:tblGrid>
              <a:tr h="23242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mtClean="0">
                          <a:solidFill>
                            <a:schemeClr val="tx1"/>
                          </a:solidFill>
                        </a:rPr>
                        <a:t>공장 전체     </a:t>
                      </a:r>
                      <a:r>
                        <a:rPr lang="en-US" altLang="ko-KR" sz="1000" b="1" smtClean="0">
                          <a:solidFill>
                            <a:srgbClr val="5555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▾</a:t>
                      </a:r>
                      <a:endParaRPr lang="en-US" altLang="ko-KR" sz="1000" b="1" smtClean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7144122"/>
                  </a:ext>
                </a:extLst>
              </a:tr>
            </a:tbl>
          </a:graphicData>
        </a:graphic>
      </p:graphicFrame>
      <p:graphicFrame>
        <p:nvGraphicFramePr>
          <p:cNvPr id="385" name="표 38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3984995"/>
              </p:ext>
            </p:extLst>
          </p:nvPr>
        </p:nvGraphicFramePr>
        <p:xfrm>
          <a:off x="6300074" y="1487394"/>
          <a:ext cx="1087055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7055">
                  <a:extLst>
                    <a:ext uri="{9D8B030D-6E8A-4147-A177-3AD203B41FA5}">
                      <a16:colId xmlns:a16="http://schemas.microsoft.com/office/drawing/2014/main" val="3625164918"/>
                    </a:ext>
                  </a:extLst>
                </a:gridCol>
              </a:tblGrid>
              <a:tr h="23242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mtClean="0">
                          <a:solidFill>
                            <a:schemeClr val="tx1"/>
                          </a:solidFill>
                        </a:rPr>
                        <a:t>라인 전체     </a:t>
                      </a:r>
                      <a:r>
                        <a:rPr lang="en-US" altLang="ko-KR" sz="1000" b="1" smtClean="0">
                          <a:solidFill>
                            <a:srgbClr val="5555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▾</a:t>
                      </a:r>
                      <a:endParaRPr lang="en-US" altLang="ko-KR" sz="1000" b="1" smtClean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7144122"/>
                  </a:ext>
                </a:extLst>
              </a:tr>
            </a:tbl>
          </a:graphicData>
        </a:graphic>
      </p:graphicFrame>
      <p:grpSp>
        <p:nvGrpSpPr>
          <p:cNvPr id="386" name="그룹 385"/>
          <p:cNvGrpSpPr/>
          <p:nvPr/>
        </p:nvGrpSpPr>
        <p:grpSpPr>
          <a:xfrm>
            <a:off x="1511201" y="1417708"/>
            <a:ext cx="181183" cy="157551"/>
            <a:chOff x="1511201" y="1417708"/>
            <a:chExt cx="181183" cy="157551"/>
          </a:xfrm>
        </p:grpSpPr>
        <p:sp>
          <p:nvSpPr>
            <p:cNvPr id="387" name="Shape 8"/>
            <p:cNvSpPr/>
            <p:nvPr/>
          </p:nvSpPr>
          <p:spPr>
            <a:xfrm>
              <a:off x="1511201" y="1417708"/>
              <a:ext cx="157551" cy="157551"/>
            </a:xfrm>
            <a:prstGeom prst="ellipse">
              <a:avLst/>
            </a:prstGeom>
            <a:solidFill>
              <a:srgbClr val="E67700"/>
            </a:solidFill>
            <a:ln/>
            <a:effectLst>
              <a:outerShdw blurRad="42975" dist="14325" dir="5400000" algn="bl" rotWithShape="0">
                <a:srgbClr val="E67700">
                  <a:alpha val="35000"/>
                </a:srgbClr>
              </a:outerShdw>
            </a:effectLst>
          </p:spPr>
        </p:sp>
        <p:sp>
          <p:nvSpPr>
            <p:cNvPr id="388" name="Text 9"/>
            <p:cNvSpPr txBox="1"/>
            <p:nvPr/>
          </p:nvSpPr>
          <p:spPr>
            <a:xfrm>
              <a:off x="1511201" y="1417708"/>
              <a:ext cx="181183" cy="15755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564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2</a:t>
              </a:r>
              <a:endParaRPr lang="en-US" sz="564" dirty="0"/>
            </a:p>
          </p:txBody>
        </p:sp>
        <p:sp>
          <p:nvSpPr>
            <p:cNvPr id="389" name="Shape 20"/>
            <p:cNvSpPr/>
            <p:nvPr/>
          </p:nvSpPr>
          <p:spPr>
            <a:xfrm>
              <a:off x="1511201" y="1417708"/>
              <a:ext cx="157551" cy="157551"/>
            </a:xfrm>
            <a:prstGeom prst="ellipse">
              <a:avLst/>
            </a:prstGeom>
            <a:solidFill>
              <a:srgbClr val="E67700"/>
            </a:solidFill>
            <a:ln/>
            <a:effectLst>
              <a:outerShdw blurRad="42975" dist="14325" dir="5400000" algn="bl" rotWithShape="0">
                <a:srgbClr val="E67700">
                  <a:alpha val="35000"/>
                </a:srgbClr>
              </a:outerShdw>
            </a:effectLst>
          </p:spPr>
        </p:sp>
        <p:sp>
          <p:nvSpPr>
            <p:cNvPr id="390" name="Text 21"/>
            <p:cNvSpPr txBox="1"/>
            <p:nvPr/>
          </p:nvSpPr>
          <p:spPr>
            <a:xfrm>
              <a:off x="1511201" y="1417708"/>
              <a:ext cx="181183" cy="15755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564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2</a:t>
              </a:r>
              <a:endParaRPr lang="en-US" sz="564" dirty="0"/>
            </a:p>
          </p:txBody>
        </p:sp>
      </p:grpSp>
      <p:graphicFrame>
        <p:nvGraphicFramePr>
          <p:cNvPr id="391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8467680"/>
              </p:ext>
            </p:extLst>
          </p:nvPr>
        </p:nvGraphicFramePr>
        <p:xfrm>
          <a:off x="7057186" y="3295205"/>
          <a:ext cx="679888" cy="229176"/>
        </p:xfrm>
        <a:graphic>
          <a:graphicData uri="http://schemas.openxmlformats.org/drawingml/2006/table">
            <a:tbl>
              <a:tblPr/>
              <a:tblGrid>
                <a:gridCol w="6798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917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smtClean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 공정 등록</a:t>
                      </a:r>
                      <a:endParaRPr lang="en-US" altLang="ko-KR" sz="864" smtClean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325" marB="143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92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6985422"/>
              </p:ext>
            </p:extLst>
          </p:nvPr>
        </p:nvGraphicFramePr>
        <p:xfrm>
          <a:off x="7819761" y="3295392"/>
          <a:ext cx="454064" cy="229176"/>
        </p:xfrm>
        <a:graphic>
          <a:graphicData uri="http://schemas.openxmlformats.org/drawingml/2006/table">
            <a:tbl>
              <a:tblPr/>
              <a:tblGrid>
                <a:gridCol w="4540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917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smtClean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charset="0"/>
                        </a:rPr>
                        <a:t>엑셀</a:t>
                      </a:r>
                      <a:endParaRPr lang="en-US" altLang="ko-KR" sz="864" smtClean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325" marB="1432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93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8836631"/>
              </p:ext>
            </p:extLst>
          </p:nvPr>
        </p:nvGraphicFramePr>
        <p:xfrm>
          <a:off x="8356512" y="3295521"/>
          <a:ext cx="729382" cy="229176"/>
        </p:xfrm>
        <a:graphic>
          <a:graphicData uri="http://schemas.openxmlformats.org/drawingml/2006/table">
            <a:tbl>
              <a:tblPr/>
              <a:tblGrid>
                <a:gridCol w="7293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917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smtClean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charset="0"/>
                        </a:rPr>
                        <a:t>이메일 공유</a:t>
                      </a:r>
                      <a:endParaRPr lang="en-US" altLang="ko-KR" sz="864" smtClean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325" marB="1432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394" name="그룹 393"/>
          <p:cNvGrpSpPr/>
          <p:nvPr/>
        </p:nvGrpSpPr>
        <p:grpSpPr>
          <a:xfrm>
            <a:off x="8304416" y="799318"/>
            <a:ext cx="664188" cy="171851"/>
            <a:chOff x="8304416" y="799318"/>
            <a:chExt cx="664188" cy="171851"/>
          </a:xfrm>
        </p:grpSpPr>
        <p:sp>
          <p:nvSpPr>
            <p:cNvPr id="395" name="Shape 275"/>
            <p:cNvSpPr/>
            <p:nvPr/>
          </p:nvSpPr>
          <p:spPr>
            <a:xfrm>
              <a:off x="8304416" y="799318"/>
              <a:ext cx="171851" cy="171851"/>
            </a:xfrm>
            <a:prstGeom prst="ellipse">
              <a:avLst/>
            </a:prstGeom>
            <a:solidFill>
              <a:srgbClr val="EE2B2B"/>
            </a:solidFill>
            <a:ln w="8467">
              <a:solidFill>
                <a:srgbClr val="FFFFFF"/>
              </a:solidFill>
              <a:prstDash val="solid"/>
            </a:ln>
            <a:effectLst>
              <a:outerShdw blurRad="42975" dist="14325" dir="54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396" name="Text 276"/>
            <p:cNvSpPr txBox="1"/>
            <p:nvPr/>
          </p:nvSpPr>
          <p:spPr>
            <a:xfrm>
              <a:off x="8304416" y="799318"/>
              <a:ext cx="197629" cy="17185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508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6-1</a:t>
              </a:r>
              <a:endParaRPr lang="en-US" sz="508" dirty="0"/>
            </a:p>
          </p:txBody>
        </p:sp>
        <p:sp>
          <p:nvSpPr>
            <p:cNvPr id="397" name="Shape 277"/>
            <p:cNvSpPr/>
            <p:nvPr/>
          </p:nvSpPr>
          <p:spPr>
            <a:xfrm>
              <a:off x="8770975" y="799318"/>
              <a:ext cx="171851" cy="171851"/>
            </a:xfrm>
            <a:prstGeom prst="ellipse">
              <a:avLst/>
            </a:prstGeom>
            <a:solidFill>
              <a:srgbClr val="EE2B2B"/>
            </a:solidFill>
            <a:ln w="8467">
              <a:solidFill>
                <a:srgbClr val="FFFFFF"/>
              </a:solidFill>
              <a:prstDash val="solid"/>
            </a:ln>
            <a:effectLst>
              <a:outerShdw blurRad="42975" dist="14325" dir="54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398" name="Text 278"/>
            <p:cNvSpPr txBox="1"/>
            <p:nvPr/>
          </p:nvSpPr>
          <p:spPr>
            <a:xfrm>
              <a:off x="8770975" y="799318"/>
              <a:ext cx="197629" cy="17185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508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6-2</a:t>
              </a:r>
              <a:endParaRPr lang="en-US" sz="508" dirty="0"/>
            </a:p>
          </p:txBody>
        </p:sp>
      </p:grpSp>
      <p:grpSp>
        <p:nvGrpSpPr>
          <p:cNvPr id="399" name="그룹 398"/>
          <p:cNvGrpSpPr/>
          <p:nvPr/>
        </p:nvGrpSpPr>
        <p:grpSpPr>
          <a:xfrm>
            <a:off x="7825919" y="3419736"/>
            <a:ext cx="1335302" cy="179810"/>
            <a:chOff x="7825919" y="3419736"/>
            <a:chExt cx="1335302" cy="179810"/>
          </a:xfrm>
        </p:grpSpPr>
        <p:sp>
          <p:nvSpPr>
            <p:cNvPr id="400" name="Shape 283"/>
            <p:cNvSpPr/>
            <p:nvPr/>
          </p:nvSpPr>
          <p:spPr>
            <a:xfrm>
              <a:off x="7825919" y="3427695"/>
              <a:ext cx="171851" cy="171851"/>
            </a:xfrm>
            <a:prstGeom prst="ellipse">
              <a:avLst/>
            </a:prstGeom>
            <a:solidFill>
              <a:srgbClr val="EE2B2B"/>
            </a:solidFill>
            <a:ln w="8467">
              <a:solidFill>
                <a:srgbClr val="FFFFFF"/>
              </a:solidFill>
              <a:prstDash val="solid"/>
            </a:ln>
            <a:effectLst>
              <a:outerShdw blurRad="42975" dist="14325" dir="54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401" name="Text 284"/>
            <p:cNvSpPr txBox="1"/>
            <p:nvPr/>
          </p:nvSpPr>
          <p:spPr>
            <a:xfrm>
              <a:off x="7825919" y="3427695"/>
              <a:ext cx="197629" cy="17185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508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5-1</a:t>
              </a:r>
              <a:endParaRPr lang="en-US" sz="508" dirty="0"/>
            </a:p>
          </p:txBody>
        </p:sp>
        <p:sp>
          <p:nvSpPr>
            <p:cNvPr id="402" name="Shape 285"/>
            <p:cNvSpPr/>
            <p:nvPr/>
          </p:nvSpPr>
          <p:spPr>
            <a:xfrm>
              <a:off x="8276188" y="3419736"/>
              <a:ext cx="171851" cy="171851"/>
            </a:xfrm>
            <a:prstGeom prst="ellipse">
              <a:avLst/>
            </a:prstGeom>
            <a:solidFill>
              <a:srgbClr val="EE2B2B"/>
            </a:solidFill>
            <a:ln w="8467">
              <a:solidFill>
                <a:srgbClr val="FFFFFF"/>
              </a:solidFill>
              <a:prstDash val="solid"/>
            </a:ln>
            <a:effectLst>
              <a:outerShdw blurRad="42975" dist="14325" dir="54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403" name="Text 286"/>
            <p:cNvSpPr txBox="1"/>
            <p:nvPr/>
          </p:nvSpPr>
          <p:spPr>
            <a:xfrm>
              <a:off x="8276188" y="3419736"/>
              <a:ext cx="197629" cy="17185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508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5-2</a:t>
              </a:r>
              <a:endParaRPr lang="en-US" sz="508" dirty="0"/>
            </a:p>
          </p:txBody>
        </p:sp>
        <p:sp>
          <p:nvSpPr>
            <p:cNvPr id="404" name="Shape 287"/>
            <p:cNvSpPr/>
            <p:nvPr/>
          </p:nvSpPr>
          <p:spPr>
            <a:xfrm>
              <a:off x="8963592" y="3419736"/>
              <a:ext cx="171851" cy="171851"/>
            </a:xfrm>
            <a:prstGeom prst="ellipse">
              <a:avLst/>
            </a:prstGeom>
            <a:solidFill>
              <a:srgbClr val="EE2B2B"/>
            </a:solidFill>
            <a:ln w="8467">
              <a:solidFill>
                <a:srgbClr val="FFFFFF"/>
              </a:solidFill>
              <a:prstDash val="solid"/>
            </a:ln>
            <a:effectLst>
              <a:outerShdw blurRad="42975" dist="14325" dir="54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405" name="Text 288"/>
            <p:cNvSpPr txBox="1"/>
            <p:nvPr/>
          </p:nvSpPr>
          <p:spPr>
            <a:xfrm>
              <a:off x="8963592" y="3419736"/>
              <a:ext cx="197629" cy="17185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508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5-3</a:t>
              </a:r>
              <a:endParaRPr lang="en-US" sz="508" dirty="0"/>
            </a:p>
          </p:txBody>
        </p:sp>
      </p:grpSp>
      <p:grpSp>
        <p:nvGrpSpPr>
          <p:cNvPr id="406" name="그룹 405"/>
          <p:cNvGrpSpPr/>
          <p:nvPr/>
        </p:nvGrpSpPr>
        <p:grpSpPr>
          <a:xfrm>
            <a:off x="2670705" y="4023379"/>
            <a:ext cx="197629" cy="171851"/>
            <a:chOff x="2062318" y="1264013"/>
            <a:chExt cx="197629" cy="171851"/>
          </a:xfrm>
        </p:grpSpPr>
        <p:sp>
          <p:nvSpPr>
            <p:cNvPr id="407" name="Shape 279"/>
            <p:cNvSpPr/>
            <p:nvPr/>
          </p:nvSpPr>
          <p:spPr>
            <a:xfrm>
              <a:off x="2062318" y="1264013"/>
              <a:ext cx="171851" cy="171851"/>
            </a:xfrm>
            <a:prstGeom prst="ellipse">
              <a:avLst/>
            </a:prstGeom>
            <a:solidFill>
              <a:srgbClr val="EE2B2B"/>
            </a:solidFill>
            <a:ln w="8467">
              <a:solidFill>
                <a:srgbClr val="FFFFFF"/>
              </a:solidFill>
              <a:prstDash val="solid"/>
            </a:ln>
            <a:effectLst>
              <a:outerShdw blurRad="42975" dist="14325" dir="54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408" name="Text 280"/>
            <p:cNvSpPr txBox="1"/>
            <p:nvPr/>
          </p:nvSpPr>
          <p:spPr>
            <a:xfrm>
              <a:off x="2062318" y="1264013"/>
              <a:ext cx="197629" cy="17185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508" b="1" smtClean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4-1</a:t>
              </a:r>
              <a:endParaRPr lang="en-US" sz="508" dirty="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45469" y="114525"/>
          <a:ext cx="2650883" cy="251050"/>
        </p:xfrm>
        <a:graphic>
          <a:graphicData uri="http://schemas.openxmlformats.org/drawingml/2006/table">
            <a:tbl>
              <a:tblPr/>
              <a:tblGrid>
                <a:gridCol w="2650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10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125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Description (계속 2)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7300" marR="57300" marT="42975" marB="429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4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45469" y="305527"/>
          <a:ext cx="2650883" cy="4336682"/>
        </p:xfrm>
        <a:graphic>
          <a:graphicData uri="http://schemas.openxmlformats.org/drawingml/2006/table">
            <a:tbl>
              <a:tblPr/>
              <a:tblGrid>
                <a:gridCol w="2435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73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1625" marR="71625" marT="57300" marB="57300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상세설명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1625" marR="71625" marT="57300" marB="57300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A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178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E677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1625" marR="71625" marT="57300" marB="57300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5-2 엑셀 버튼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노출조건:</a:t>
                      </a: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공정별 상세 표 상단 우측에 항상 표시.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입력조건:</a:t>
                      </a: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클릭 시 현재 조회 결과를 xlsx로 다운로드.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인터랙션:</a:t>
                      </a: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클릭 시 toast: "엑셀 다운로드 기능이 실행되었습니다." 노출(프로토타입 목업, 예외 처리 없음).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BE 연동:</a:t>
                      </a: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GET /api/automation/parts/export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5-3 이메일 공유 버튼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노출조건:</a:t>
                      </a: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공정별 상세 표 상단 우측에 항상 표시.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입력조건:</a:t>
                      </a: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클릭 시 이메일 공유 팝업 오픈(수신자 입력 후 전송).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예외 Case:</a:t>
                      </a: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수신자 미입력 → alert: "받는 사람을 입력해주세요."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BE 연동:</a:t>
                      </a: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POST /api/automation/parts/share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1625" marR="71625" marT="57300" marB="57300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259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E677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1625" marR="71625" marT="57300" marB="57300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영역명: 유틸 영역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ㄴ 상단 우측 유틸리티 메뉴 2종(사용자명/로그아웃)으로 구성된 영역이다.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6-1 사용자명 (홍길동 님)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노출조건:</a:t>
                      </a: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로그인 상태에서 항상 표시.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출력조건:</a:t>
                      </a: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SSO(MPASS) 로그인 사용자명으로 치환되어 표시.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6-2 로그아웃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노출조건:</a:t>
                      </a: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로그인 상태에서 항상 표시.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입력조건:</a:t>
                      </a: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클릭 시 세션 종료 후 PNDES 로그인 화면으로 이동.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1625" marR="71625" marT="57300" marB="57300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7980539"/>
              </p:ext>
            </p:extLst>
          </p:nvPr>
        </p:nvGraphicFramePr>
        <p:xfrm>
          <a:off x="3" y="57201"/>
          <a:ext cx="9222982" cy="521895"/>
        </p:xfrm>
        <a:graphic>
          <a:graphicData uri="http://schemas.openxmlformats.org/drawingml/2006/table">
            <a:tbl>
              <a:tblPr/>
              <a:tblGrid>
                <a:gridCol w="9843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76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14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57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137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18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0" marR="0" marT="14325" marB="1432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ADB5B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Screen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부품 공정 자동화 현황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325" marB="143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ADB5B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URL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/portal/automation/parts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325" marB="143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ADB5B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Status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와이어프레임 (샘플, 보정 예정)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325" marB="143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0" marR="0" marT="14325" marB="1432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0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7411766"/>
              </p:ext>
            </p:extLst>
          </p:nvPr>
        </p:nvGraphicFramePr>
        <p:xfrm>
          <a:off x="401009" y="237010"/>
          <a:ext cx="543283" cy="162152"/>
        </p:xfrm>
        <a:graphic>
          <a:graphicData uri="http://schemas.openxmlformats.org/drawingml/2006/table">
            <a:tbl>
              <a:tblPr/>
              <a:tblGrid>
                <a:gridCol w="271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89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21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17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4950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SCR-001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17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45" name="Shape 1"/>
          <p:cNvSpPr/>
          <p:nvPr/>
        </p:nvSpPr>
        <p:spPr>
          <a:xfrm>
            <a:off x="1561314" y="2014338"/>
            <a:ext cx="7539187" cy="1134068"/>
          </a:xfrm>
          <a:prstGeom prst="rect">
            <a:avLst/>
          </a:prstGeom>
          <a:ln w="8467">
            <a:solidFill>
              <a:srgbClr val="CCCCCC"/>
            </a:solidFill>
            <a:prstDash val="solid"/>
          </a:ln>
        </p:spPr>
      </p:sp>
      <p:sp>
        <p:nvSpPr>
          <p:cNvPr id="346" name="Shape 2"/>
          <p:cNvSpPr/>
          <p:nvPr/>
        </p:nvSpPr>
        <p:spPr>
          <a:xfrm>
            <a:off x="1561314" y="3549432"/>
            <a:ext cx="7539187" cy="3128883"/>
          </a:xfrm>
          <a:prstGeom prst="rect">
            <a:avLst/>
          </a:prstGeom>
          <a:ln w="8467">
            <a:solidFill>
              <a:srgbClr val="CCCCCC"/>
            </a:solidFill>
            <a:prstDash val="solid"/>
          </a:ln>
        </p:spPr>
      </p:sp>
      <p:sp>
        <p:nvSpPr>
          <p:cNvPr id="347" name="Shape 6"/>
          <p:cNvSpPr/>
          <p:nvPr/>
        </p:nvSpPr>
        <p:spPr>
          <a:xfrm>
            <a:off x="1446788" y="1074006"/>
            <a:ext cx="157551" cy="157551"/>
          </a:xfrm>
          <a:prstGeom prst="ellipse">
            <a:avLst/>
          </a:prstGeom>
          <a:solidFill>
            <a:srgbClr val="E67700"/>
          </a:solidFill>
          <a:ln/>
          <a:effectLst>
            <a:outerShdw blurRad="42975" dist="14325" dir="5400000" algn="bl" rotWithShape="0">
              <a:srgbClr val="E67700">
                <a:alpha val="35000"/>
              </a:srgbClr>
            </a:outerShdw>
          </a:effectLst>
        </p:spPr>
      </p:sp>
      <p:sp>
        <p:nvSpPr>
          <p:cNvPr id="348" name="Text 7"/>
          <p:cNvSpPr txBox="1"/>
          <p:nvPr/>
        </p:nvSpPr>
        <p:spPr>
          <a:xfrm>
            <a:off x="1446788" y="1074006"/>
            <a:ext cx="181183" cy="1575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564" dirty="0"/>
          </a:p>
        </p:txBody>
      </p:sp>
      <p:sp>
        <p:nvSpPr>
          <p:cNvPr id="349" name="Shape 10"/>
          <p:cNvSpPr/>
          <p:nvPr/>
        </p:nvSpPr>
        <p:spPr>
          <a:xfrm>
            <a:off x="1511201" y="1790260"/>
            <a:ext cx="157551" cy="157551"/>
          </a:xfrm>
          <a:prstGeom prst="ellipse">
            <a:avLst/>
          </a:prstGeom>
          <a:solidFill>
            <a:srgbClr val="E67700"/>
          </a:solidFill>
          <a:ln/>
          <a:effectLst>
            <a:outerShdw blurRad="42975" dist="14325" dir="5400000" algn="bl" rotWithShape="0">
              <a:srgbClr val="E67700">
                <a:alpha val="35000"/>
              </a:srgbClr>
            </a:outerShdw>
          </a:effectLst>
        </p:spPr>
      </p:sp>
      <p:sp>
        <p:nvSpPr>
          <p:cNvPr id="350" name="Text 11"/>
          <p:cNvSpPr txBox="1"/>
          <p:nvPr/>
        </p:nvSpPr>
        <p:spPr>
          <a:xfrm>
            <a:off x="1511201" y="1790260"/>
            <a:ext cx="181183" cy="1575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564" dirty="0"/>
          </a:p>
        </p:txBody>
      </p:sp>
      <p:sp>
        <p:nvSpPr>
          <p:cNvPr id="351" name="Shape 12"/>
          <p:cNvSpPr/>
          <p:nvPr/>
        </p:nvSpPr>
        <p:spPr>
          <a:xfrm>
            <a:off x="1532714" y="3072303"/>
            <a:ext cx="157551" cy="157551"/>
          </a:xfrm>
          <a:prstGeom prst="ellipse">
            <a:avLst/>
          </a:prstGeom>
          <a:solidFill>
            <a:srgbClr val="E67700"/>
          </a:solidFill>
          <a:ln/>
          <a:effectLst>
            <a:outerShdw blurRad="42975" dist="14325" dir="5400000" algn="bl" rotWithShape="0">
              <a:srgbClr val="E67700">
                <a:alpha val="35000"/>
              </a:srgbClr>
            </a:outerShdw>
          </a:effectLst>
        </p:spPr>
      </p:sp>
      <p:sp>
        <p:nvSpPr>
          <p:cNvPr id="352" name="Text 13"/>
          <p:cNvSpPr txBox="1"/>
          <p:nvPr/>
        </p:nvSpPr>
        <p:spPr>
          <a:xfrm>
            <a:off x="1532714" y="3072303"/>
            <a:ext cx="181183" cy="1575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564" dirty="0"/>
          </a:p>
        </p:txBody>
      </p:sp>
      <p:sp>
        <p:nvSpPr>
          <p:cNvPr id="353" name="Shape 14"/>
          <p:cNvSpPr/>
          <p:nvPr/>
        </p:nvSpPr>
        <p:spPr>
          <a:xfrm>
            <a:off x="8935738" y="3072303"/>
            <a:ext cx="157551" cy="157551"/>
          </a:xfrm>
          <a:prstGeom prst="ellipse">
            <a:avLst/>
          </a:prstGeom>
          <a:solidFill>
            <a:srgbClr val="E67700"/>
          </a:solidFill>
          <a:ln/>
          <a:effectLst>
            <a:outerShdw blurRad="42975" dist="14325" dir="5400000" algn="bl" rotWithShape="0">
              <a:srgbClr val="E67700">
                <a:alpha val="35000"/>
              </a:srgbClr>
            </a:outerShdw>
          </a:effectLst>
        </p:spPr>
      </p:sp>
      <p:sp>
        <p:nvSpPr>
          <p:cNvPr id="354" name="Text 15"/>
          <p:cNvSpPr txBox="1"/>
          <p:nvPr/>
        </p:nvSpPr>
        <p:spPr>
          <a:xfrm>
            <a:off x="8935738" y="3072303"/>
            <a:ext cx="181183" cy="1575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564" dirty="0"/>
          </a:p>
        </p:txBody>
      </p:sp>
      <p:sp>
        <p:nvSpPr>
          <p:cNvPr id="355" name="Shape 16"/>
          <p:cNvSpPr/>
          <p:nvPr/>
        </p:nvSpPr>
        <p:spPr>
          <a:xfrm>
            <a:off x="8985851" y="658555"/>
            <a:ext cx="157551" cy="157551"/>
          </a:xfrm>
          <a:prstGeom prst="ellipse">
            <a:avLst/>
          </a:prstGeom>
          <a:solidFill>
            <a:srgbClr val="E67700"/>
          </a:solidFill>
          <a:ln/>
          <a:effectLst>
            <a:outerShdw blurRad="42975" dist="14325" dir="5400000" algn="bl" rotWithShape="0">
              <a:srgbClr val="E67700">
                <a:alpha val="35000"/>
              </a:srgbClr>
            </a:outerShdw>
          </a:effectLst>
        </p:spPr>
      </p:sp>
      <p:sp>
        <p:nvSpPr>
          <p:cNvPr id="356" name="Text 17"/>
          <p:cNvSpPr txBox="1"/>
          <p:nvPr/>
        </p:nvSpPr>
        <p:spPr>
          <a:xfrm>
            <a:off x="8985851" y="658555"/>
            <a:ext cx="181183" cy="1575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564" dirty="0"/>
          </a:p>
        </p:txBody>
      </p:sp>
      <p:graphicFrame>
        <p:nvGraphicFramePr>
          <p:cNvPr id="357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2708951"/>
              </p:ext>
            </p:extLst>
          </p:nvPr>
        </p:nvGraphicFramePr>
        <p:xfrm>
          <a:off x="85907" y="644255"/>
          <a:ext cx="9129121" cy="372427"/>
        </p:xfrm>
        <a:graphic>
          <a:graphicData uri="http://schemas.openxmlformats.org/drawingml/2006/table">
            <a:tbl>
              <a:tblPr/>
              <a:tblGrid>
                <a:gridCol w="1377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5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85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794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13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18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666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24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0" marR="0" marT="14325" marB="1432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PNDES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325" marB="143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88888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생기포털&gt;공정 자동화 현황&gt;부품 공정 자동화 현황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325" marB="143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0" marR="0" marT="14325" marB="1432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홍길동 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325" marB="143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|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325" marB="143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로그아웃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325" marB="143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58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2718146"/>
              </p:ext>
            </p:extLst>
          </p:nvPr>
        </p:nvGraphicFramePr>
        <p:xfrm>
          <a:off x="95051" y="1016682"/>
          <a:ext cx="1360881" cy="5016030"/>
        </p:xfrm>
        <a:graphic>
          <a:graphicData uri="http://schemas.openxmlformats.org/drawingml/2006/table">
            <a:tbl>
              <a:tblPr/>
              <a:tblGrid>
                <a:gridCol w="12328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270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9999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공정 자동화 현황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70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0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부품 공정 자동화 현황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50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표준공정 마스터 관리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50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모듈 공정 자동화 현황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50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모듈 표준 작업명 관리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50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I/F 실행결과 관리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29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9999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중장기 방향성 공유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70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50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메인 대시보드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50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통합 로드맵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›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268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77777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  상세과제 로드맵 관리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70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268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77777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  통합 로드맵 차트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70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50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생산기술 Tech PR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50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생산기술 Tech PR 관리자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50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mTRM 협의체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50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mTRM 관리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50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기술과제 관리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050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기술동향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8650" marR="28650" marT="28650" marB="28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graphicFrame>
        <p:nvGraphicFramePr>
          <p:cNvPr id="359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5125264"/>
              </p:ext>
            </p:extLst>
          </p:nvPr>
        </p:nvGraphicFramePr>
        <p:xfrm>
          <a:off x="1561314" y="1131207"/>
          <a:ext cx="7539188" cy="240243"/>
        </p:xfrm>
        <a:graphic>
          <a:graphicData uri="http://schemas.openxmlformats.org/drawingml/2006/table">
            <a:tbl>
              <a:tblPr/>
              <a:tblGrid>
                <a:gridCol w="8504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29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35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02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6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부품 공정</a:t>
                      </a:r>
                      <a:endParaRPr lang="en-US" sz="936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325" marB="143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6" dirty="0">
                          <a:solidFill>
                            <a:srgbClr val="77777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모듈 공정</a:t>
                      </a:r>
                      <a:endParaRPr lang="en-US" sz="936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325" marB="143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0" marR="0" marT="14325" marB="1432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60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6820379"/>
              </p:ext>
            </p:extLst>
          </p:nvPr>
        </p:nvGraphicFramePr>
        <p:xfrm>
          <a:off x="8408372" y="1500277"/>
          <a:ext cx="679888" cy="229176"/>
        </p:xfrm>
        <a:graphic>
          <a:graphicData uri="http://schemas.openxmlformats.org/drawingml/2006/table">
            <a:tbl>
              <a:tblPr/>
              <a:tblGrid>
                <a:gridCol w="6798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91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325" marB="143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61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2675207"/>
              </p:ext>
            </p:extLst>
          </p:nvPr>
        </p:nvGraphicFramePr>
        <p:xfrm>
          <a:off x="1561314" y="1828254"/>
          <a:ext cx="7555607" cy="181050"/>
        </p:xfrm>
        <a:graphic>
          <a:graphicData uri="http://schemas.openxmlformats.org/drawingml/2006/table">
            <a:tbl>
              <a:tblPr/>
              <a:tblGrid>
                <a:gridCol w="75556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73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요약 현황</a:t>
                      </a:r>
                      <a:r>
                        <a:rPr lang="en-US" sz="792" b="1" dirty="0">
                          <a:solidFill>
                            <a:srgbClr val="9999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</a:t>
                      </a:r>
                      <a:r>
                        <a:rPr lang="en-US" sz="700" b="1" dirty="0">
                          <a:solidFill>
                            <a:srgbClr val="9999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(공장/라인별 자동화율·직접인원 현재→개선 및 중장기 완료일정)</a:t>
                      </a:r>
                      <a:endParaRPr lang="en-US" sz="10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325" marB="143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62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0388"/>
              </p:ext>
            </p:extLst>
          </p:nvPr>
        </p:nvGraphicFramePr>
        <p:xfrm>
          <a:off x="1569273" y="2022296"/>
          <a:ext cx="7523267" cy="1210556"/>
        </p:xfrm>
        <a:graphic>
          <a:graphicData uri="http://schemas.openxmlformats.org/drawingml/2006/table">
            <a:tbl>
              <a:tblPr/>
              <a:tblGrid>
                <a:gridCol w="647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5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40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40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40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405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405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405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4405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4254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11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[B/P] 창원2C 라인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창원 2A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창원 2B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창원 2D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창원 2E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MSK 조립1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MMX 조립1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MWX 조립1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MWX 조립2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952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자동화율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72% → 94% (22%▲)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71% → 94% (23%▲)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67% → 94% (27%▲)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63%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63% → 94% (31%▲)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47% → 93% (46%▲)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40% → 93% (53%▲)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47% → 93% (46%▲)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40% → 93% (53%▲)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952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직접인원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4명 → </a:t>
                      </a:r>
                      <a:r>
                        <a:rPr lang="en-US" sz="700" b="1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r>
                        <a:rPr lang="en-US" sz="700" b="1" smtClean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명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700" b="1" smtClean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</a:t>
                      </a:r>
                      <a:r>
                        <a:rPr lang="en-US" sz="7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3명▼)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4명 → </a:t>
                      </a:r>
                      <a:r>
                        <a:rPr lang="en-US" sz="70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r>
                        <a:rPr lang="en-US" sz="700" smtClean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명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700" smtClean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</a:t>
                      </a: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3명▼)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5명 → </a:t>
                      </a:r>
                      <a:r>
                        <a:rPr lang="en-US" sz="70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r>
                        <a:rPr lang="en-US" sz="700" smtClean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명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700" smtClean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</a:t>
                      </a: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4명▼)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4명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4명 → </a:t>
                      </a:r>
                      <a:r>
                        <a:rPr lang="en-US" sz="70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r>
                        <a:rPr lang="en-US" sz="700" smtClean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명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700" smtClean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</a:t>
                      </a: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3명▼)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5명 → </a:t>
                      </a:r>
                      <a:r>
                        <a:rPr lang="en-US" sz="70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r>
                        <a:rPr lang="en-US" sz="700" smtClean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명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700" smtClean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</a:t>
                      </a: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4명▼)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6명 → </a:t>
                      </a:r>
                      <a:r>
                        <a:rPr lang="en-US" sz="70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r>
                        <a:rPr lang="en-US" sz="700" smtClean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명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700" smtClean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</a:t>
                      </a: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5명▼)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5명 → </a:t>
                      </a:r>
                      <a:r>
                        <a:rPr lang="en-US" sz="70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r>
                        <a:rPr lang="en-US" sz="700" smtClean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명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700" smtClean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</a:t>
                      </a: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4명▼)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6명 → </a:t>
                      </a:r>
                      <a:r>
                        <a:rPr lang="en-US" sz="70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r>
                        <a:rPr lang="en-US" sz="700" smtClean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명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700" smtClean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</a:t>
                      </a: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5명▼)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완료일정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'27년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'27년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'30년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'30년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'30년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'30년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'30년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'30년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63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1847142"/>
              </p:ext>
            </p:extLst>
          </p:nvPr>
        </p:nvGraphicFramePr>
        <p:xfrm>
          <a:off x="1561314" y="3352089"/>
          <a:ext cx="5763351" cy="181050"/>
        </p:xfrm>
        <a:graphic>
          <a:graphicData uri="http://schemas.openxmlformats.org/drawingml/2006/table">
            <a:tbl>
              <a:tblPr/>
              <a:tblGrid>
                <a:gridCol w="57633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73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공정별 상세</a:t>
                      </a:r>
                      <a:r>
                        <a:rPr lang="en-US" sz="792" b="1" dirty="0">
                          <a:solidFill>
                            <a:srgbClr val="9999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</a:t>
                      </a:r>
                      <a:r>
                        <a:rPr lang="en-US" sz="700" b="1" dirty="0">
                          <a:solidFill>
                            <a:srgbClr val="9999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(현재/개선/주요내용 · 공정/라인별 확대전개계획, 현재=자동 선택 시 동영상 팝업)</a:t>
                      </a:r>
                      <a:endParaRPr lang="en-US" sz="10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325" marB="143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64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377166"/>
              </p:ext>
            </p:extLst>
          </p:nvPr>
        </p:nvGraphicFramePr>
        <p:xfrm>
          <a:off x="1569273" y="3557390"/>
          <a:ext cx="7523270" cy="3145261"/>
        </p:xfrm>
        <a:graphic>
          <a:graphicData uri="http://schemas.openxmlformats.org/drawingml/2006/table">
            <a:tbl>
              <a:tblPr/>
              <a:tblGrid>
                <a:gridCol w="203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99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0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90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10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995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995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995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4995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4995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4995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4995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5145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11960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공정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[B/P] 창원2C 라인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4E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창원 2A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창원 2B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창원 2D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창원 2E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MSK 조립1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MMX 조립1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MWX 조립1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MWX 조립2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96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현재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개선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주요내용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4E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348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오버몰딩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미해당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미해당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협의必(ROI 13년) 1명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348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파워헤드 버퍼적재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수동 1명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가능('27)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6축로봇 + 버퍼교체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가능('27)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6축로봇 + 버퍼교체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가능('27)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가능('28)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미해당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미해당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가능('27)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협의必(회수 불가) 1명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138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인풋풀 조립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수동 1명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가능('27)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인풋풀 조립 인덱스, 컬럼 로딩/조립로봇 外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가능('27)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인풋풀 조립 인덱스, 컬럼 로딩/조립로봇 外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가능('27)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가능('28)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미적용(협의中) 1명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가능('29)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협의必(ROI 42년) 1명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협의必(회수불가) 1명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348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컬럼 조립 (추정)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수동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가능('28)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가능('29)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가능('28)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가능('29)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미적용(협의中) 1명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가능('30)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협의必(ROI 45년) 1명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협의必(회수불가) 1명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협의必(회수불가) 1명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협의必(회수불가) 1명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348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smtClean="0"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5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smtClean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ECU S/W 다운</a:t>
                      </a:r>
                      <a:endParaRPr lang="en-US" altLang="ko-KR" sz="700" smtClean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smtClean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旣자동화</a:t>
                      </a:r>
                      <a:endParaRPr lang="en-US" altLang="ko-KR" sz="700" smtClean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smtClean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altLang="ko-KR" sz="700" smtClean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smtClean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altLang="ko-KR" sz="700" smtClean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smtClean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altLang="ko-KR" sz="700" smtClean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smtClean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altLang="ko-KR" sz="700" smtClean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smtClean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미적용(협의完) 1명</a:t>
                      </a:r>
                      <a:endParaRPr lang="en-US" altLang="ko-KR" sz="700" smtClean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smtClean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가능('29)</a:t>
                      </a:r>
                      <a:endParaRPr lang="en-US" altLang="ko-KR" sz="700" smtClean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smtClean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협의必(ROI 18년) 1명</a:t>
                      </a:r>
                      <a:endParaRPr lang="en-US" altLang="ko-KR" sz="700" smtClean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smtClean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협의必(ROI 44년) 1명</a:t>
                      </a:r>
                      <a:endParaRPr lang="en-US" altLang="ko-KR" sz="700" smtClean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smtClean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협의必(ROI 159년) 1명</a:t>
                      </a:r>
                      <a:endParaRPr lang="en-US" altLang="ko-KR" sz="700" smtClean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smtClean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협의必(회수불가) 1명</a:t>
                      </a:r>
                      <a:endParaRPr lang="en-US" altLang="ko-KR" sz="700" smtClean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6262170"/>
                  </a:ext>
                </a:extLst>
              </a:tr>
              <a:tr h="256032">
                <a:tc gridSpan="1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전체 공정 목록(NO 1–17)은 다음 화면(공정별 상세 전체)에서 확인 가능합니다.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975" marR="42975" marT="35813" marB="3581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65" name="Shape 18"/>
          <p:cNvSpPr/>
          <p:nvPr/>
        </p:nvSpPr>
        <p:spPr>
          <a:xfrm>
            <a:off x="1446788" y="1074006"/>
            <a:ext cx="157551" cy="157551"/>
          </a:xfrm>
          <a:prstGeom prst="ellipse">
            <a:avLst/>
          </a:prstGeom>
          <a:solidFill>
            <a:srgbClr val="E67700"/>
          </a:solidFill>
          <a:ln/>
          <a:effectLst>
            <a:outerShdw blurRad="42975" dist="14325" dir="5400000" algn="bl" rotWithShape="0">
              <a:srgbClr val="E67700">
                <a:alpha val="35000"/>
              </a:srgbClr>
            </a:outerShdw>
          </a:effectLst>
        </p:spPr>
      </p:sp>
      <p:sp>
        <p:nvSpPr>
          <p:cNvPr id="366" name="Text 19"/>
          <p:cNvSpPr txBox="1"/>
          <p:nvPr/>
        </p:nvSpPr>
        <p:spPr>
          <a:xfrm>
            <a:off x="1446788" y="1074006"/>
            <a:ext cx="181183" cy="1575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564" dirty="0"/>
          </a:p>
        </p:txBody>
      </p:sp>
      <p:sp>
        <p:nvSpPr>
          <p:cNvPr id="367" name="Shape 22"/>
          <p:cNvSpPr/>
          <p:nvPr/>
        </p:nvSpPr>
        <p:spPr>
          <a:xfrm>
            <a:off x="1511201" y="1790260"/>
            <a:ext cx="157551" cy="157551"/>
          </a:xfrm>
          <a:prstGeom prst="ellipse">
            <a:avLst/>
          </a:prstGeom>
          <a:solidFill>
            <a:srgbClr val="E67700"/>
          </a:solidFill>
          <a:ln/>
          <a:effectLst>
            <a:outerShdw blurRad="42975" dist="14325" dir="5400000" algn="bl" rotWithShape="0">
              <a:srgbClr val="E67700">
                <a:alpha val="35000"/>
              </a:srgbClr>
            </a:outerShdw>
          </a:effectLst>
        </p:spPr>
      </p:sp>
      <p:sp>
        <p:nvSpPr>
          <p:cNvPr id="368" name="Text 23"/>
          <p:cNvSpPr txBox="1"/>
          <p:nvPr/>
        </p:nvSpPr>
        <p:spPr>
          <a:xfrm>
            <a:off x="1511201" y="1790260"/>
            <a:ext cx="181183" cy="1575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564" dirty="0"/>
          </a:p>
        </p:txBody>
      </p:sp>
      <p:sp>
        <p:nvSpPr>
          <p:cNvPr id="369" name="Shape 24"/>
          <p:cNvSpPr/>
          <p:nvPr/>
        </p:nvSpPr>
        <p:spPr>
          <a:xfrm>
            <a:off x="1532714" y="3072303"/>
            <a:ext cx="157551" cy="157551"/>
          </a:xfrm>
          <a:prstGeom prst="ellipse">
            <a:avLst/>
          </a:prstGeom>
          <a:solidFill>
            <a:srgbClr val="E67700"/>
          </a:solidFill>
          <a:ln/>
          <a:effectLst>
            <a:outerShdw blurRad="42975" dist="14325" dir="5400000" algn="bl" rotWithShape="0">
              <a:srgbClr val="E67700">
                <a:alpha val="35000"/>
              </a:srgbClr>
            </a:outerShdw>
          </a:effectLst>
        </p:spPr>
      </p:sp>
      <p:sp>
        <p:nvSpPr>
          <p:cNvPr id="370" name="Text 25"/>
          <p:cNvSpPr txBox="1"/>
          <p:nvPr/>
        </p:nvSpPr>
        <p:spPr>
          <a:xfrm>
            <a:off x="1532714" y="3072303"/>
            <a:ext cx="181183" cy="1575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564" dirty="0"/>
          </a:p>
        </p:txBody>
      </p:sp>
      <p:sp>
        <p:nvSpPr>
          <p:cNvPr id="371" name="Shape 26"/>
          <p:cNvSpPr/>
          <p:nvPr/>
        </p:nvSpPr>
        <p:spPr>
          <a:xfrm>
            <a:off x="8935738" y="3072303"/>
            <a:ext cx="157551" cy="157551"/>
          </a:xfrm>
          <a:prstGeom prst="ellipse">
            <a:avLst/>
          </a:prstGeom>
          <a:solidFill>
            <a:srgbClr val="E67700"/>
          </a:solidFill>
          <a:ln/>
          <a:effectLst>
            <a:outerShdw blurRad="42975" dist="14325" dir="5400000" algn="bl" rotWithShape="0">
              <a:srgbClr val="E67700">
                <a:alpha val="35000"/>
              </a:srgbClr>
            </a:outerShdw>
          </a:effectLst>
        </p:spPr>
      </p:sp>
      <p:sp>
        <p:nvSpPr>
          <p:cNvPr id="372" name="Text 27"/>
          <p:cNvSpPr txBox="1"/>
          <p:nvPr/>
        </p:nvSpPr>
        <p:spPr>
          <a:xfrm>
            <a:off x="8935738" y="3072303"/>
            <a:ext cx="181183" cy="1575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564" dirty="0"/>
          </a:p>
        </p:txBody>
      </p:sp>
      <p:sp>
        <p:nvSpPr>
          <p:cNvPr id="373" name="Shape 28"/>
          <p:cNvSpPr/>
          <p:nvPr/>
        </p:nvSpPr>
        <p:spPr>
          <a:xfrm>
            <a:off x="8985851" y="658555"/>
            <a:ext cx="157551" cy="157551"/>
          </a:xfrm>
          <a:prstGeom prst="ellipse">
            <a:avLst/>
          </a:prstGeom>
          <a:solidFill>
            <a:srgbClr val="E67700"/>
          </a:solidFill>
          <a:ln/>
          <a:effectLst>
            <a:outerShdw blurRad="42975" dist="14325" dir="5400000" algn="bl" rotWithShape="0">
              <a:srgbClr val="E67700">
                <a:alpha val="35000"/>
              </a:srgbClr>
            </a:outerShdw>
          </a:effectLst>
        </p:spPr>
      </p:sp>
      <p:sp>
        <p:nvSpPr>
          <p:cNvPr id="374" name="Text 29"/>
          <p:cNvSpPr txBox="1"/>
          <p:nvPr/>
        </p:nvSpPr>
        <p:spPr>
          <a:xfrm>
            <a:off x="8985851" y="658555"/>
            <a:ext cx="181183" cy="1575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564" dirty="0"/>
          </a:p>
        </p:txBody>
      </p:sp>
      <p:sp>
        <p:nvSpPr>
          <p:cNvPr id="375" name="Shape 3"/>
          <p:cNvSpPr/>
          <p:nvPr/>
        </p:nvSpPr>
        <p:spPr>
          <a:xfrm>
            <a:off x="9042430" y="3571691"/>
            <a:ext cx="35813" cy="3012740"/>
          </a:xfrm>
          <a:prstGeom prst="roundRect">
            <a:avLst>
              <a:gd name="adj" fmla="val 50000"/>
            </a:avLst>
          </a:prstGeom>
          <a:solidFill>
            <a:srgbClr val="CCCCCC"/>
          </a:solidFill>
          <a:ln/>
        </p:spPr>
      </p:sp>
      <p:sp>
        <p:nvSpPr>
          <p:cNvPr id="376" name="Shape 4"/>
          <p:cNvSpPr/>
          <p:nvPr/>
        </p:nvSpPr>
        <p:spPr>
          <a:xfrm>
            <a:off x="1583573" y="6620244"/>
            <a:ext cx="7423044" cy="35813"/>
          </a:xfrm>
          <a:prstGeom prst="roundRect">
            <a:avLst>
              <a:gd name="adj" fmla="val 50000"/>
            </a:avLst>
          </a:prstGeom>
          <a:solidFill>
            <a:srgbClr val="CCCCCC"/>
          </a:solidFill>
          <a:ln/>
        </p:spPr>
      </p:sp>
      <p:sp>
        <p:nvSpPr>
          <p:cNvPr id="377" name="Shape 0"/>
          <p:cNvSpPr/>
          <p:nvPr/>
        </p:nvSpPr>
        <p:spPr>
          <a:xfrm>
            <a:off x="77949" y="636296"/>
            <a:ext cx="9145036" cy="6221704"/>
          </a:xfrm>
          <a:prstGeom prst="rect">
            <a:avLst/>
          </a:prstGeom>
          <a:noFill/>
          <a:ln w="8467">
            <a:solidFill>
              <a:srgbClr val="CCCCCC"/>
            </a:solidFill>
            <a:prstDash val="solid"/>
          </a:ln>
        </p:spPr>
      </p:sp>
      <p:graphicFrame>
        <p:nvGraphicFramePr>
          <p:cNvPr id="378" name="표 3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7150716"/>
              </p:ext>
            </p:extLst>
          </p:nvPr>
        </p:nvGraphicFramePr>
        <p:xfrm>
          <a:off x="1561314" y="1484603"/>
          <a:ext cx="1087055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7055">
                  <a:extLst>
                    <a:ext uri="{9D8B030D-6E8A-4147-A177-3AD203B41FA5}">
                      <a16:colId xmlns:a16="http://schemas.microsoft.com/office/drawing/2014/main" val="3625164918"/>
                    </a:ext>
                  </a:extLst>
                </a:gridCol>
              </a:tblGrid>
              <a:tr h="23242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mtClean="0">
                          <a:solidFill>
                            <a:schemeClr val="tx1"/>
                          </a:solidFill>
                        </a:rPr>
                        <a:t>제품군 전체     </a:t>
                      </a:r>
                      <a:r>
                        <a:rPr lang="en-US" altLang="ko-KR" sz="1000" b="1" smtClean="0">
                          <a:solidFill>
                            <a:srgbClr val="5555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▾</a:t>
                      </a:r>
                      <a:endParaRPr lang="en-US" altLang="ko-KR" sz="1000" b="1" smtClean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7144122"/>
                  </a:ext>
                </a:extLst>
              </a:tr>
            </a:tbl>
          </a:graphicData>
        </a:graphic>
      </p:graphicFrame>
      <p:graphicFrame>
        <p:nvGraphicFramePr>
          <p:cNvPr id="379" name="표 3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2060549"/>
              </p:ext>
            </p:extLst>
          </p:nvPr>
        </p:nvGraphicFramePr>
        <p:xfrm>
          <a:off x="2738257" y="1487394"/>
          <a:ext cx="1087055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7055">
                  <a:extLst>
                    <a:ext uri="{9D8B030D-6E8A-4147-A177-3AD203B41FA5}">
                      <a16:colId xmlns:a16="http://schemas.microsoft.com/office/drawing/2014/main" val="3625164918"/>
                    </a:ext>
                  </a:extLst>
                </a:gridCol>
              </a:tblGrid>
              <a:tr h="23242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mtClean="0">
                          <a:solidFill>
                            <a:schemeClr val="tx1"/>
                          </a:solidFill>
                        </a:rPr>
                        <a:t>제품 전체     </a:t>
                      </a:r>
                      <a:r>
                        <a:rPr lang="en-US" altLang="ko-KR" sz="1000" b="1" smtClean="0">
                          <a:solidFill>
                            <a:srgbClr val="5555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▾</a:t>
                      </a:r>
                      <a:endParaRPr lang="en-US" altLang="ko-KR" sz="1000" b="1" smtClean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7144122"/>
                  </a:ext>
                </a:extLst>
              </a:tr>
            </a:tbl>
          </a:graphicData>
        </a:graphic>
      </p:graphicFrame>
      <p:graphicFrame>
        <p:nvGraphicFramePr>
          <p:cNvPr id="380" name="표 3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8868489"/>
              </p:ext>
            </p:extLst>
          </p:nvPr>
        </p:nvGraphicFramePr>
        <p:xfrm>
          <a:off x="3915200" y="1487394"/>
          <a:ext cx="1087055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7055">
                  <a:extLst>
                    <a:ext uri="{9D8B030D-6E8A-4147-A177-3AD203B41FA5}">
                      <a16:colId xmlns:a16="http://schemas.microsoft.com/office/drawing/2014/main" val="3625164918"/>
                    </a:ext>
                  </a:extLst>
                </a:gridCol>
              </a:tblGrid>
              <a:tr h="23242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mtClean="0">
                          <a:solidFill>
                            <a:schemeClr val="tx1"/>
                          </a:solidFill>
                        </a:rPr>
                        <a:t>지역 전체     </a:t>
                      </a:r>
                      <a:r>
                        <a:rPr lang="en-US" altLang="ko-KR" sz="1000" b="1" smtClean="0">
                          <a:solidFill>
                            <a:srgbClr val="5555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▾</a:t>
                      </a:r>
                      <a:endParaRPr lang="en-US" altLang="ko-KR" sz="1000" b="1" smtClean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7144122"/>
                  </a:ext>
                </a:extLst>
              </a:tr>
            </a:tbl>
          </a:graphicData>
        </a:graphic>
      </p:graphicFrame>
      <p:graphicFrame>
        <p:nvGraphicFramePr>
          <p:cNvPr id="381" name="표 38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4453655"/>
              </p:ext>
            </p:extLst>
          </p:nvPr>
        </p:nvGraphicFramePr>
        <p:xfrm>
          <a:off x="5107637" y="1487394"/>
          <a:ext cx="1087055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7055">
                  <a:extLst>
                    <a:ext uri="{9D8B030D-6E8A-4147-A177-3AD203B41FA5}">
                      <a16:colId xmlns:a16="http://schemas.microsoft.com/office/drawing/2014/main" val="3625164918"/>
                    </a:ext>
                  </a:extLst>
                </a:gridCol>
              </a:tblGrid>
              <a:tr h="23242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mtClean="0">
                          <a:solidFill>
                            <a:schemeClr val="tx1"/>
                          </a:solidFill>
                        </a:rPr>
                        <a:t>공장 전체     </a:t>
                      </a:r>
                      <a:r>
                        <a:rPr lang="en-US" altLang="ko-KR" sz="1000" b="1" smtClean="0">
                          <a:solidFill>
                            <a:srgbClr val="5555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▾</a:t>
                      </a:r>
                      <a:endParaRPr lang="en-US" altLang="ko-KR" sz="1000" b="1" smtClean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7144122"/>
                  </a:ext>
                </a:extLst>
              </a:tr>
            </a:tbl>
          </a:graphicData>
        </a:graphic>
      </p:graphicFrame>
      <p:graphicFrame>
        <p:nvGraphicFramePr>
          <p:cNvPr id="382" name="표 38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3984995"/>
              </p:ext>
            </p:extLst>
          </p:nvPr>
        </p:nvGraphicFramePr>
        <p:xfrm>
          <a:off x="6300074" y="1487394"/>
          <a:ext cx="1087055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7055">
                  <a:extLst>
                    <a:ext uri="{9D8B030D-6E8A-4147-A177-3AD203B41FA5}">
                      <a16:colId xmlns:a16="http://schemas.microsoft.com/office/drawing/2014/main" val="3625164918"/>
                    </a:ext>
                  </a:extLst>
                </a:gridCol>
              </a:tblGrid>
              <a:tr h="23242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mtClean="0">
                          <a:solidFill>
                            <a:schemeClr val="tx1"/>
                          </a:solidFill>
                        </a:rPr>
                        <a:t>라인 전체     </a:t>
                      </a:r>
                      <a:r>
                        <a:rPr lang="en-US" altLang="ko-KR" sz="1000" b="1" smtClean="0">
                          <a:solidFill>
                            <a:srgbClr val="5555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▾</a:t>
                      </a:r>
                      <a:endParaRPr lang="en-US" altLang="ko-KR" sz="1000" b="1" smtClean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7144122"/>
                  </a:ext>
                </a:extLst>
              </a:tr>
            </a:tbl>
          </a:graphicData>
        </a:graphic>
      </p:graphicFrame>
      <p:grpSp>
        <p:nvGrpSpPr>
          <p:cNvPr id="383" name="그룹 382"/>
          <p:cNvGrpSpPr/>
          <p:nvPr/>
        </p:nvGrpSpPr>
        <p:grpSpPr>
          <a:xfrm>
            <a:off x="1511201" y="1417708"/>
            <a:ext cx="181183" cy="157551"/>
            <a:chOff x="1511201" y="1417708"/>
            <a:chExt cx="181183" cy="157551"/>
          </a:xfrm>
        </p:grpSpPr>
        <p:sp>
          <p:nvSpPr>
            <p:cNvPr id="384" name="Shape 8"/>
            <p:cNvSpPr/>
            <p:nvPr/>
          </p:nvSpPr>
          <p:spPr>
            <a:xfrm>
              <a:off x="1511201" y="1417708"/>
              <a:ext cx="157551" cy="157551"/>
            </a:xfrm>
            <a:prstGeom prst="ellipse">
              <a:avLst/>
            </a:prstGeom>
            <a:solidFill>
              <a:srgbClr val="E67700"/>
            </a:solidFill>
            <a:ln/>
            <a:effectLst>
              <a:outerShdw blurRad="42975" dist="14325" dir="5400000" algn="bl" rotWithShape="0">
                <a:srgbClr val="E67700">
                  <a:alpha val="35000"/>
                </a:srgbClr>
              </a:outerShdw>
            </a:effectLst>
          </p:spPr>
        </p:sp>
        <p:sp>
          <p:nvSpPr>
            <p:cNvPr id="385" name="Text 9"/>
            <p:cNvSpPr txBox="1"/>
            <p:nvPr/>
          </p:nvSpPr>
          <p:spPr>
            <a:xfrm>
              <a:off x="1511201" y="1417708"/>
              <a:ext cx="181183" cy="15755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564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2</a:t>
              </a:r>
              <a:endParaRPr lang="en-US" sz="564" dirty="0"/>
            </a:p>
          </p:txBody>
        </p:sp>
        <p:sp>
          <p:nvSpPr>
            <p:cNvPr id="386" name="Shape 20"/>
            <p:cNvSpPr/>
            <p:nvPr/>
          </p:nvSpPr>
          <p:spPr>
            <a:xfrm>
              <a:off x="1511201" y="1417708"/>
              <a:ext cx="157551" cy="157551"/>
            </a:xfrm>
            <a:prstGeom prst="ellipse">
              <a:avLst/>
            </a:prstGeom>
            <a:solidFill>
              <a:srgbClr val="E67700"/>
            </a:solidFill>
            <a:ln/>
            <a:effectLst>
              <a:outerShdw blurRad="42975" dist="14325" dir="5400000" algn="bl" rotWithShape="0">
                <a:srgbClr val="E67700">
                  <a:alpha val="35000"/>
                </a:srgbClr>
              </a:outerShdw>
            </a:effectLst>
          </p:spPr>
        </p:sp>
        <p:sp>
          <p:nvSpPr>
            <p:cNvPr id="387" name="Text 21"/>
            <p:cNvSpPr txBox="1"/>
            <p:nvPr/>
          </p:nvSpPr>
          <p:spPr>
            <a:xfrm>
              <a:off x="1511201" y="1417708"/>
              <a:ext cx="181183" cy="15755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564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2</a:t>
              </a:r>
              <a:endParaRPr lang="en-US" sz="564" dirty="0"/>
            </a:p>
          </p:txBody>
        </p:sp>
      </p:grpSp>
      <p:graphicFrame>
        <p:nvGraphicFramePr>
          <p:cNvPr id="38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8467680"/>
              </p:ext>
            </p:extLst>
          </p:nvPr>
        </p:nvGraphicFramePr>
        <p:xfrm>
          <a:off x="7057186" y="3295205"/>
          <a:ext cx="679888" cy="229176"/>
        </p:xfrm>
        <a:graphic>
          <a:graphicData uri="http://schemas.openxmlformats.org/drawingml/2006/table">
            <a:tbl>
              <a:tblPr/>
              <a:tblGrid>
                <a:gridCol w="6798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917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smtClean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 공정 등록</a:t>
                      </a:r>
                      <a:endParaRPr lang="en-US" altLang="ko-KR" sz="864" smtClean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325" marB="143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89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6985422"/>
              </p:ext>
            </p:extLst>
          </p:nvPr>
        </p:nvGraphicFramePr>
        <p:xfrm>
          <a:off x="7819761" y="3295392"/>
          <a:ext cx="454064" cy="229176"/>
        </p:xfrm>
        <a:graphic>
          <a:graphicData uri="http://schemas.openxmlformats.org/drawingml/2006/table">
            <a:tbl>
              <a:tblPr/>
              <a:tblGrid>
                <a:gridCol w="4540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917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smtClean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charset="0"/>
                        </a:rPr>
                        <a:t>엑셀</a:t>
                      </a:r>
                      <a:endParaRPr lang="en-US" altLang="ko-KR" sz="864" smtClean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325" marB="1432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90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8836631"/>
              </p:ext>
            </p:extLst>
          </p:nvPr>
        </p:nvGraphicFramePr>
        <p:xfrm>
          <a:off x="8356512" y="3295521"/>
          <a:ext cx="729382" cy="229176"/>
        </p:xfrm>
        <a:graphic>
          <a:graphicData uri="http://schemas.openxmlformats.org/drawingml/2006/table">
            <a:tbl>
              <a:tblPr/>
              <a:tblGrid>
                <a:gridCol w="7293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917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smtClean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charset="0"/>
                        </a:rPr>
                        <a:t>이메일 공유</a:t>
                      </a:r>
                      <a:endParaRPr lang="en-US" altLang="ko-KR" sz="864" smtClean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325" marB="1432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391" name="그룹 390"/>
          <p:cNvGrpSpPr/>
          <p:nvPr/>
        </p:nvGrpSpPr>
        <p:grpSpPr>
          <a:xfrm>
            <a:off x="8304416" y="799318"/>
            <a:ext cx="664188" cy="171851"/>
            <a:chOff x="8304416" y="799318"/>
            <a:chExt cx="664188" cy="171851"/>
          </a:xfrm>
        </p:grpSpPr>
        <p:sp>
          <p:nvSpPr>
            <p:cNvPr id="392" name="Shape 275"/>
            <p:cNvSpPr/>
            <p:nvPr/>
          </p:nvSpPr>
          <p:spPr>
            <a:xfrm>
              <a:off x="8304416" y="799318"/>
              <a:ext cx="171851" cy="171851"/>
            </a:xfrm>
            <a:prstGeom prst="ellipse">
              <a:avLst/>
            </a:prstGeom>
            <a:solidFill>
              <a:srgbClr val="EE2B2B"/>
            </a:solidFill>
            <a:ln w="8467">
              <a:solidFill>
                <a:srgbClr val="FFFFFF"/>
              </a:solidFill>
              <a:prstDash val="solid"/>
            </a:ln>
            <a:effectLst>
              <a:outerShdw blurRad="42975" dist="14325" dir="54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393" name="Text 276"/>
            <p:cNvSpPr txBox="1"/>
            <p:nvPr/>
          </p:nvSpPr>
          <p:spPr>
            <a:xfrm>
              <a:off x="8304416" y="799318"/>
              <a:ext cx="197629" cy="17185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508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6-1</a:t>
              </a:r>
              <a:endParaRPr lang="en-US" sz="508" dirty="0"/>
            </a:p>
          </p:txBody>
        </p:sp>
        <p:sp>
          <p:nvSpPr>
            <p:cNvPr id="394" name="Shape 277"/>
            <p:cNvSpPr/>
            <p:nvPr/>
          </p:nvSpPr>
          <p:spPr>
            <a:xfrm>
              <a:off x="8770975" y="799318"/>
              <a:ext cx="171851" cy="171851"/>
            </a:xfrm>
            <a:prstGeom prst="ellipse">
              <a:avLst/>
            </a:prstGeom>
            <a:solidFill>
              <a:srgbClr val="EE2B2B"/>
            </a:solidFill>
            <a:ln w="8467">
              <a:solidFill>
                <a:srgbClr val="FFFFFF"/>
              </a:solidFill>
              <a:prstDash val="solid"/>
            </a:ln>
            <a:effectLst>
              <a:outerShdw blurRad="42975" dist="14325" dir="54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395" name="Text 278"/>
            <p:cNvSpPr txBox="1"/>
            <p:nvPr/>
          </p:nvSpPr>
          <p:spPr>
            <a:xfrm>
              <a:off x="8770975" y="799318"/>
              <a:ext cx="197629" cy="17185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508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6-2</a:t>
              </a:r>
              <a:endParaRPr lang="en-US" sz="508" dirty="0"/>
            </a:p>
          </p:txBody>
        </p:sp>
      </p:grpSp>
      <p:grpSp>
        <p:nvGrpSpPr>
          <p:cNvPr id="396" name="그룹 395"/>
          <p:cNvGrpSpPr/>
          <p:nvPr/>
        </p:nvGrpSpPr>
        <p:grpSpPr>
          <a:xfrm>
            <a:off x="7825919" y="3419736"/>
            <a:ext cx="1335302" cy="179810"/>
            <a:chOff x="7825919" y="3419736"/>
            <a:chExt cx="1335302" cy="179810"/>
          </a:xfrm>
        </p:grpSpPr>
        <p:sp>
          <p:nvSpPr>
            <p:cNvPr id="397" name="Shape 283"/>
            <p:cNvSpPr/>
            <p:nvPr/>
          </p:nvSpPr>
          <p:spPr>
            <a:xfrm>
              <a:off x="7825919" y="3427695"/>
              <a:ext cx="171851" cy="171851"/>
            </a:xfrm>
            <a:prstGeom prst="ellipse">
              <a:avLst/>
            </a:prstGeom>
            <a:solidFill>
              <a:srgbClr val="EE2B2B"/>
            </a:solidFill>
            <a:ln w="8467">
              <a:solidFill>
                <a:srgbClr val="FFFFFF"/>
              </a:solidFill>
              <a:prstDash val="solid"/>
            </a:ln>
            <a:effectLst>
              <a:outerShdw blurRad="42975" dist="14325" dir="54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398" name="Text 284"/>
            <p:cNvSpPr txBox="1"/>
            <p:nvPr/>
          </p:nvSpPr>
          <p:spPr>
            <a:xfrm>
              <a:off x="7825919" y="3427695"/>
              <a:ext cx="197629" cy="17185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508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5-1</a:t>
              </a:r>
              <a:endParaRPr lang="en-US" sz="508" dirty="0"/>
            </a:p>
          </p:txBody>
        </p:sp>
        <p:sp>
          <p:nvSpPr>
            <p:cNvPr id="399" name="Shape 285"/>
            <p:cNvSpPr/>
            <p:nvPr/>
          </p:nvSpPr>
          <p:spPr>
            <a:xfrm>
              <a:off x="8276188" y="3419736"/>
              <a:ext cx="171851" cy="171851"/>
            </a:xfrm>
            <a:prstGeom prst="ellipse">
              <a:avLst/>
            </a:prstGeom>
            <a:solidFill>
              <a:srgbClr val="EE2B2B"/>
            </a:solidFill>
            <a:ln w="8467">
              <a:solidFill>
                <a:srgbClr val="FFFFFF"/>
              </a:solidFill>
              <a:prstDash val="solid"/>
            </a:ln>
            <a:effectLst>
              <a:outerShdw blurRad="42975" dist="14325" dir="54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400" name="Text 286"/>
            <p:cNvSpPr txBox="1"/>
            <p:nvPr/>
          </p:nvSpPr>
          <p:spPr>
            <a:xfrm>
              <a:off x="8276188" y="3419736"/>
              <a:ext cx="197629" cy="17185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508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5-2</a:t>
              </a:r>
              <a:endParaRPr lang="en-US" sz="508" dirty="0"/>
            </a:p>
          </p:txBody>
        </p:sp>
        <p:sp>
          <p:nvSpPr>
            <p:cNvPr id="401" name="Shape 287"/>
            <p:cNvSpPr/>
            <p:nvPr/>
          </p:nvSpPr>
          <p:spPr>
            <a:xfrm>
              <a:off x="8963592" y="3419736"/>
              <a:ext cx="171851" cy="171851"/>
            </a:xfrm>
            <a:prstGeom prst="ellipse">
              <a:avLst/>
            </a:prstGeom>
            <a:solidFill>
              <a:srgbClr val="EE2B2B"/>
            </a:solidFill>
            <a:ln w="8467">
              <a:solidFill>
                <a:srgbClr val="FFFFFF"/>
              </a:solidFill>
              <a:prstDash val="solid"/>
            </a:ln>
            <a:effectLst>
              <a:outerShdw blurRad="42975" dist="14325" dir="54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402" name="Text 288"/>
            <p:cNvSpPr txBox="1"/>
            <p:nvPr/>
          </p:nvSpPr>
          <p:spPr>
            <a:xfrm>
              <a:off x="8963592" y="3419736"/>
              <a:ext cx="197629" cy="17185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508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5-3</a:t>
              </a:r>
              <a:endParaRPr lang="en-US" sz="508" dirty="0"/>
            </a:p>
          </p:txBody>
        </p:sp>
      </p:grpSp>
      <p:grpSp>
        <p:nvGrpSpPr>
          <p:cNvPr id="403" name="그룹 402"/>
          <p:cNvGrpSpPr/>
          <p:nvPr/>
        </p:nvGrpSpPr>
        <p:grpSpPr>
          <a:xfrm>
            <a:off x="2670705" y="4023379"/>
            <a:ext cx="197629" cy="171851"/>
            <a:chOff x="2062318" y="1264013"/>
            <a:chExt cx="197629" cy="171851"/>
          </a:xfrm>
        </p:grpSpPr>
        <p:sp>
          <p:nvSpPr>
            <p:cNvPr id="404" name="Shape 279"/>
            <p:cNvSpPr/>
            <p:nvPr/>
          </p:nvSpPr>
          <p:spPr>
            <a:xfrm>
              <a:off x="2062318" y="1264013"/>
              <a:ext cx="171851" cy="171851"/>
            </a:xfrm>
            <a:prstGeom prst="ellipse">
              <a:avLst/>
            </a:prstGeom>
            <a:solidFill>
              <a:srgbClr val="EE2B2B"/>
            </a:solidFill>
            <a:ln w="8467">
              <a:solidFill>
                <a:srgbClr val="FFFFFF"/>
              </a:solidFill>
              <a:prstDash val="solid"/>
            </a:ln>
            <a:effectLst>
              <a:outerShdw blurRad="42975" dist="14325" dir="54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405" name="Text 280"/>
            <p:cNvSpPr txBox="1"/>
            <p:nvPr/>
          </p:nvSpPr>
          <p:spPr>
            <a:xfrm>
              <a:off x="2062318" y="1264013"/>
              <a:ext cx="197629" cy="17185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508" b="1" smtClean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4-1</a:t>
              </a:r>
              <a:endParaRPr lang="en-US" sz="508" dirty="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9"/>
          <p:cNvSpPr/>
          <p:nvPr/>
        </p:nvSpPr>
        <p:spPr>
          <a:xfrm>
            <a:off x="0" y="586598"/>
            <a:ext cx="12188952" cy="6271402"/>
          </a:xfrm>
          <a:prstGeom prst="rect">
            <a:avLst/>
          </a:prstGeom>
          <a:solidFill>
            <a:srgbClr val="F2F2F2"/>
          </a:solidFill>
          <a:ln w="8467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61" y="594659"/>
            <a:ext cx="12172829" cy="3772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53168" y="714699"/>
            <a:ext cx="397481" cy="128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PNDES</a:t>
            </a:r>
            <a:endParaRPr lang="en-US" sz="700" dirty="0"/>
          </a:p>
        </p:txBody>
      </p:sp>
      <p:sp>
        <p:nvSpPr>
          <p:cNvPr id="14" name="Text 12"/>
          <p:cNvSpPr txBox="1"/>
          <p:nvPr/>
        </p:nvSpPr>
        <p:spPr>
          <a:xfrm>
            <a:off x="124071" y="1120167"/>
            <a:ext cx="3992018" cy="128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공정별 상세 (현재/개선/주요내용 · 공정/라인별 확대전개계획, 현재=자동 선택 시 동영상 팝업) 공정별 상세 1/2 (NO 1–9)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0266038" y="1087920"/>
            <a:ext cx="638368" cy="21766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266038" y="1087920"/>
            <a:ext cx="670287" cy="21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823"/>
              </a:lnSpc>
              <a:buNone/>
            </a:pPr>
            <a:r>
              <a:rPr lang="en-US" sz="686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공정 등록</a:t>
            </a:r>
            <a:endParaRPr lang="en-US" sz="686" dirty="0"/>
          </a:p>
        </p:txBody>
      </p:sp>
      <p:sp>
        <p:nvSpPr>
          <p:cNvPr id="17" name="Shape 15"/>
          <p:cNvSpPr/>
          <p:nvPr/>
        </p:nvSpPr>
        <p:spPr>
          <a:xfrm>
            <a:off x="10962348" y="1087920"/>
            <a:ext cx="406223" cy="217660"/>
          </a:xfrm>
          <a:prstGeom prst="rect">
            <a:avLst/>
          </a:prstGeom>
          <a:ln w="8467">
            <a:solidFill>
              <a:srgbClr val="99999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962348" y="1087920"/>
            <a:ext cx="449755" cy="2176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엑셀</a:t>
            </a:r>
            <a:endParaRPr lang="en-US" sz="686" dirty="0"/>
          </a:p>
        </p:txBody>
      </p:sp>
      <p:sp>
        <p:nvSpPr>
          <p:cNvPr id="19" name="Shape 17"/>
          <p:cNvSpPr/>
          <p:nvPr/>
        </p:nvSpPr>
        <p:spPr>
          <a:xfrm>
            <a:off x="11426513" y="1087920"/>
            <a:ext cx="638368" cy="217660"/>
          </a:xfrm>
          <a:prstGeom prst="rect">
            <a:avLst/>
          </a:prstGeom>
          <a:ln w="8467">
            <a:solidFill>
              <a:srgbClr val="99999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1426513" y="1087920"/>
            <a:ext cx="670287" cy="21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823"/>
              </a:lnSpc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이메일 공유</a:t>
            </a:r>
            <a:endParaRPr lang="en-US" sz="686" dirty="0"/>
          </a:p>
        </p:txBody>
      </p:sp>
      <p:sp>
        <p:nvSpPr>
          <p:cNvPr id="21" name="Shape 19"/>
          <p:cNvSpPr/>
          <p:nvPr/>
        </p:nvSpPr>
        <p:spPr>
          <a:xfrm>
            <a:off x="124071" y="1320066"/>
            <a:ext cx="11940810" cy="4045097"/>
          </a:xfrm>
          <a:prstGeom prst="rect">
            <a:avLst/>
          </a:prstGeom>
          <a:ln w="8467">
            <a:solidFill>
              <a:srgbClr val="CCCC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448802"/>
            <a:ext cx="12188952" cy="232019"/>
          </a:xfrm>
          <a:prstGeom prst="rect">
            <a:avLst/>
          </a:prstGeom>
          <a:solidFill>
            <a:srgbClr val="FFFFFF"/>
          </a:solidFill>
          <a:ln/>
        </p:spPr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2133" y="1328127"/>
          <a:ext cx="11924690" cy="5222835"/>
        </p:xfrm>
        <a:graphic>
          <a:graphicData uri="http://schemas.openxmlformats.org/drawingml/2006/table">
            <a:tbl>
              <a:tblPr/>
              <a:tblGrid>
                <a:gridCol w="3219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20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51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5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44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16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16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716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7169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7169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7169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7169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7407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12888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공정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[B/P] 창원2C 라인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4E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창원 2A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창원 2B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창원 2D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창원 2E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MSK 조립1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MMX 조립1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MWX 조립1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MWX 조립2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888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현재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개선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주요내용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4E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45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오버몰딩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미해당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미해당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협의必(ROI 13년) 1명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45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파워헤드 버퍼적재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수동 1명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가능('27)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6축로봇 + 버퍼교체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가능('27)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6축로봇 + 버퍼교체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가능('27)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가능('28)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미해당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미해당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가능('27)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협의必(회수 불가) 1명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40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인풋풀 조립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수동 1명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가능('27)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인풋풀 조립 인덱스, 컬럼 로딩/조립로봇 外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가능('27)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인풋풀 조립 인덱스, 컬럼 로딩/조립로봇 外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가능('27)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가능('28)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미적용(협의中) 1명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가능('29)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협의必(ROI 42년) 1명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협의必(회수불가) 1명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45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컬럼 조립 (추정)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가능('28)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가능('29)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가능('28)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가능('29)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미적용(협의中) 1명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가능('30)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협의必(ROI 45년) 1명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협의必(회수불가) 1명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협의必(회수불가) 1명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협의必(회수불가) 1명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45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ECU S/W 다운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旣자동화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미적용(협의完) 1명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가능('29)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협의必(ROI 18년) 1명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협의必(ROI 44년) 1명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협의必(ROI 159년) 1명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협의必(회수불가) 1명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파워팩 조립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旣자동화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적용('28)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적용('28)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440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센서 케이블 조립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X(기술) 1명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설계사양 변경 &amp; 신기술개발 검토 中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X(기술) 1명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X(기술) 1명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설계사양 변경 &amp; 신기술개발 검토 中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X(기술) 1명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X(기술) 1명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X(기술) 1명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X(기술) 1명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X(기술) 1명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X(기술) 1명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45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컬럼 작동 검사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旣자동화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협의必(ROI 102년) 2명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45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다이나믹검사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旣자동화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협의必(ROI 181년) 2명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노이즈 검사 (부하)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旣자동화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045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프릭션 검사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旣자동화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협의必(ROI 181년) 2명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노이즈 검사 (무부하)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旣자동화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작동 소음검사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旣자동화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2045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유니버설조인트 조립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수동 1명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가능('27)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가능('30)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가능('27)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가능('30)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가능('26)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미적용(협의完) 1명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가능('30)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협의必(ROI 28년) 1명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협의必(ROI 110년) 1명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협의必(회수불가) 1명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2045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유조인트조립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가능('26)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6축로봇 + 정렬유닛 外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가능('27)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6축로봇 + 정렬유닛 外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가능('27)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가능('30)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가능('26)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미적용(협의完) 1명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가능('30)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협의必(ROI 28년) 1명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협의必(ROI 110년) 1명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graphicFrame>
        <p:nvGraphicFramePr>
          <p:cNvPr id="2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3901522"/>
              </p:ext>
            </p:extLst>
          </p:nvPr>
        </p:nvGraphicFramePr>
        <p:xfrm>
          <a:off x="3" y="57201"/>
          <a:ext cx="9222982" cy="521895"/>
        </p:xfrm>
        <a:graphic>
          <a:graphicData uri="http://schemas.openxmlformats.org/drawingml/2006/table">
            <a:tbl>
              <a:tblPr/>
              <a:tblGrid>
                <a:gridCol w="9843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76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14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57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137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18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0" marR="0" marT="14325" marB="1432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ADB5B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Screen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부품 공정 자동화 현황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325" marB="143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ADB5B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URL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/portal/automation/parts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325" marB="143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ADB5B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Status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와이어프레임 (샘플, 보정 예정)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325" marB="143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smtClean="0"/>
                        <a:t>    </a:t>
                      </a:r>
                      <a:endParaRPr lang="en-US" sz="1200" dirty="0"/>
                    </a:p>
                  </a:txBody>
                  <a:tcPr marL="0" marR="0" marT="14325" marB="1432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4373832"/>
              </p:ext>
            </p:extLst>
          </p:nvPr>
        </p:nvGraphicFramePr>
        <p:xfrm>
          <a:off x="401009" y="237010"/>
          <a:ext cx="543283" cy="162152"/>
        </p:xfrm>
        <a:graphic>
          <a:graphicData uri="http://schemas.openxmlformats.org/drawingml/2006/table">
            <a:tbl>
              <a:tblPr/>
              <a:tblGrid>
                <a:gridCol w="271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89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21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17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4950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SCR-001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17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9"/>
          <p:cNvSpPr/>
          <p:nvPr/>
        </p:nvSpPr>
        <p:spPr>
          <a:xfrm>
            <a:off x="0" y="586598"/>
            <a:ext cx="12188952" cy="6271402"/>
          </a:xfrm>
          <a:prstGeom prst="rect">
            <a:avLst/>
          </a:prstGeom>
          <a:solidFill>
            <a:srgbClr val="F2F2F2"/>
          </a:solidFill>
          <a:ln w="8467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61" y="594661"/>
            <a:ext cx="12172829" cy="3772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53168" y="714699"/>
            <a:ext cx="397481" cy="128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PNDES</a:t>
            </a:r>
            <a:endParaRPr lang="en-US" sz="700" dirty="0"/>
          </a:p>
        </p:txBody>
      </p:sp>
      <p:sp>
        <p:nvSpPr>
          <p:cNvPr id="14" name="Text 12"/>
          <p:cNvSpPr txBox="1"/>
          <p:nvPr/>
        </p:nvSpPr>
        <p:spPr>
          <a:xfrm>
            <a:off x="124071" y="1120169"/>
            <a:ext cx="4073388" cy="128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공정별 상세 (현재/개선/주요내용 · 공정/라인별 확대전개계획, 현재=자동 선택 시 동영상 팝업) 공정별 상세 2/2 (NO 10–17)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0266038" y="1087920"/>
            <a:ext cx="638368" cy="21766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266038" y="1087920"/>
            <a:ext cx="670287" cy="21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823"/>
              </a:lnSpc>
              <a:buNone/>
            </a:pPr>
            <a:r>
              <a:rPr lang="en-US" sz="686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공정 등록</a:t>
            </a:r>
            <a:endParaRPr lang="en-US" sz="686" dirty="0"/>
          </a:p>
        </p:txBody>
      </p:sp>
      <p:sp>
        <p:nvSpPr>
          <p:cNvPr id="17" name="Shape 15"/>
          <p:cNvSpPr/>
          <p:nvPr/>
        </p:nvSpPr>
        <p:spPr>
          <a:xfrm>
            <a:off x="10962348" y="1087920"/>
            <a:ext cx="406223" cy="217660"/>
          </a:xfrm>
          <a:prstGeom prst="rect">
            <a:avLst/>
          </a:prstGeom>
          <a:ln w="8467">
            <a:solidFill>
              <a:srgbClr val="99999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962348" y="1087920"/>
            <a:ext cx="449755" cy="2176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엑셀</a:t>
            </a:r>
            <a:endParaRPr lang="en-US" sz="686" dirty="0"/>
          </a:p>
        </p:txBody>
      </p:sp>
      <p:sp>
        <p:nvSpPr>
          <p:cNvPr id="19" name="Shape 17"/>
          <p:cNvSpPr/>
          <p:nvPr/>
        </p:nvSpPr>
        <p:spPr>
          <a:xfrm>
            <a:off x="11426513" y="1087920"/>
            <a:ext cx="638368" cy="217660"/>
          </a:xfrm>
          <a:prstGeom prst="rect">
            <a:avLst/>
          </a:prstGeom>
          <a:ln w="8467">
            <a:solidFill>
              <a:srgbClr val="99999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1426513" y="1087920"/>
            <a:ext cx="670287" cy="21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823"/>
              </a:lnSpc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이메일 공유</a:t>
            </a:r>
            <a:endParaRPr lang="en-US" sz="686" dirty="0"/>
          </a:p>
        </p:txBody>
      </p:sp>
      <p:sp>
        <p:nvSpPr>
          <p:cNvPr id="21" name="Shape 19"/>
          <p:cNvSpPr/>
          <p:nvPr/>
        </p:nvSpPr>
        <p:spPr>
          <a:xfrm>
            <a:off x="124071" y="1320066"/>
            <a:ext cx="11940810" cy="3052528"/>
          </a:xfrm>
          <a:prstGeom prst="rect">
            <a:avLst/>
          </a:prstGeom>
          <a:ln w="8467">
            <a:solidFill>
              <a:srgbClr val="CCCC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448803"/>
            <a:ext cx="12188952" cy="232019"/>
          </a:xfrm>
          <a:prstGeom prst="rect">
            <a:avLst/>
          </a:prstGeom>
          <a:solidFill>
            <a:srgbClr val="FFFFFF"/>
          </a:solidFill>
          <a:ln/>
        </p:spPr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2133" y="1328129"/>
          <a:ext cx="11924690" cy="1002265"/>
        </p:xfrm>
        <a:graphic>
          <a:graphicData uri="http://schemas.openxmlformats.org/drawingml/2006/table">
            <a:tbl>
              <a:tblPr/>
              <a:tblGrid>
                <a:gridCol w="3219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20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51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5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44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16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16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716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7169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7169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7169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7169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7407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12888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공정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[B/P] 창원2C 라인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4E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창원 2A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창원 2B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창원 2D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창원 2E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MSK 조립1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MMX 조립1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MWX 조립1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MWX 조립2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888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현재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개선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주요내용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4E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45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라벨링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旣자동화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미적용(공간부족) 1명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협의必(ROI 27년) 1명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협의必(ROI 58년) 1명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협의必(회수불가) 1명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17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완제품 업로딩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旣자동화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938097"/>
              </p:ext>
            </p:extLst>
          </p:nvPr>
        </p:nvGraphicFramePr>
        <p:xfrm>
          <a:off x="3" y="57201"/>
          <a:ext cx="9222982" cy="521895"/>
        </p:xfrm>
        <a:graphic>
          <a:graphicData uri="http://schemas.openxmlformats.org/drawingml/2006/table">
            <a:tbl>
              <a:tblPr/>
              <a:tblGrid>
                <a:gridCol w="9843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76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14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57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137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18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0" marR="0" marT="14325" marB="1432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ADB5B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Screen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부품 공정 자동화 현황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325" marB="143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ADB5B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URL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/portal/automation/parts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325" marB="143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ADB5B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Status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와이어프레임 (샘플, 보정 예정)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325" marB="143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0" marR="0" marT="14325" marB="14325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4373832"/>
              </p:ext>
            </p:extLst>
          </p:nvPr>
        </p:nvGraphicFramePr>
        <p:xfrm>
          <a:off x="401009" y="237010"/>
          <a:ext cx="543283" cy="162152"/>
        </p:xfrm>
        <a:graphic>
          <a:graphicData uri="http://schemas.openxmlformats.org/drawingml/2006/table">
            <a:tbl>
              <a:tblPr/>
              <a:tblGrid>
                <a:gridCol w="271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89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21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17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4950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SCR-001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17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3865</Words>
  <Application>Microsoft Office PowerPoint</Application>
  <PresentationFormat>사용자 지정</PresentationFormat>
  <Paragraphs>977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유애경</cp:lastModifiedBy>
  <cp:revision>14</cp:revision>
  <dcterms:created xsi:type="dcterms:W3CDTF">2026-08-26T03:01:39Z</dcterms:created>
  <dcterms:modified xsi:type="dcterms:W3CDTF">2026-08-26T04:42:57Z</dcterms:modified>
</cp:coreProperties>
</file>