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0"/>
            <a:ext cx="3291840" cy="6858000"/>
          </a:xfrm>
          <a:prstGeom prst="rect">
            <a:avLst/>
          </a:prstGeom>
          <a:solidFill>
            <a:srgbClr val="0C1F33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651760"/>
            <a:ext cx="1554480" cy="1554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417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PNDES 생산기술포털 고도화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77240" y="19202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PLM 생기포털 고도화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2880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자동화 현황 및 중장기 방향성 공유 신규 기능 구축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F2A93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40233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기획서 (Service Plan)  ·  v1.0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작성일 2026-08-07  ·  근거: 착수보고서.md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6263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현대모비스 생산기술포털(PNDES) 내부 시스템 증설 프로젝트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10908792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73152" cy="9601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371600"/>
            <a:ext cx="103601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i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생기포털 내 부재했던 공정 자동화 현황 공유 체계와 중장기 생산기술 로드맵(mTRM) 공유 체계를 신규 구축하여, 공장·라인별 자동화 전개 현황과 중장기 기술 방향성을 전사에 공유한다.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640080" y="26060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8346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94436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08760" y="27889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서비스명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33832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공정 자동화 현황  ② 중장기 방향성 공유(mTRM)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52544" y="26060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81144" y="28346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94436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221224" y="27889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목표 시장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581144" y="33832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없음 — 사내 전사 시스템 증설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065008" y="26060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293608" y="28346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9443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33688" y="27889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타겟 사용자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293608" y="33832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생기 업무 담당자 · 공장/라인 현장 담당자 · 분과 담당자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4348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46634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77316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46177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가치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68680" y="5212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현황·Best Practice 공유, 중장기 로드맵 체계적 관리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352544" y="44348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581144" y="46634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773168"/>
            <a:ext cx="283464" cy="28346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221224" y="46177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수익 모델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581144" y="5212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없음 — 사내 IT 투자 프로젝트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065008" y="4434840"/>
            <a:ext cx="3483864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293608" y="4663440"/>
            <a:ext cx="502920" cy="50292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3336" y="4773168"/>
            <a:ext cx="283464" cy="28346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8933688" y="4617720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목표 기간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8293608" y="521208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2026-08-18 → 2차 오픈 2026-12-31 + 안정화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추진 배경 — 현행 시스템(AS-IS) 문제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5271516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5271516" cy="685800"/>
          </a:xfrm>
          <a:prstGeom prst="rect">
            <a:avLst/>
          </a:prstGeom>
          <a:solidFill>
            <a:srgbClr val="3E699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819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53619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공정 자동화 현황</a:t>
            </a:r>
            <a:endParaRPr lang="en-US" sz="16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3774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33172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생산기술포털 내 자동화 현황 관련 기능이 부재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60120" y="288036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공장·라인별 자동화 전개 현황 및 제약조건 극복 사례를 공유·관리할 체계가 없음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960120" y="3931920"/>
            <a:ext cx="4631436" cy="0"/>
          </a:xfrm>
          <a:prstGeom prst="line">
            <a:avLst/>
          </a:prstGeom>
          <a:noFill/>
          <a:ln w="12700">
            <a:solidFill>
              <a:srgbClr val="AFC9D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114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63040" y="406908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추진 방향 (TO-BE)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960120" y="4617720"/>
            <a:ext cx="46314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부품/모듈 공정별 자동화 적용 현황, 확대 전개 계획을 시스템으로 등록·조회·공유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277356" y="1417320"/>
            <a:ext cx="5271516" cy="4846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6277356" y="1417320"/>
            <a:ext cx="5271516" cy="685800"/>
          </a:xfrm>
          <a:prstGeom prst="rect">
            <a:avLst/>
          </a:prstGeom>
          <a:solidFill>
            <a:srgbClr val="3E6990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56" y="1581912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08876" y="1536192"/>
            <a:ext cx="43571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중장기 방향성 공유 (mTRM)</a:t>
            </a:r>
            <a:endParaRPr lang="en-US" sz="16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7396" y="2377440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00316" y="233172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로드맵 관리·제조기술 동향 공유 기능 부재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6597396" y="2880360"/>
            <a:ext cx="463143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분과별 중장기 로드맵 현황·개정이력·진행 과제를 체계적으로 관리하는 기능과 제조기술 동향 공유 기능이 부재함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597396" y="3931920"/>
            <a:ext cx="4631436" cy="0"/>
          </a:xfrm>
          <a:prstGeom prst="line">
            <a:avLst/>
          </a:prstGeom>
          <a:noFill/>
          <a:ln w="12700">
            <a:solidFill>
              <a:srgbClr val="AFC9DE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7396" y="4114800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00316" y="406908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추진 방향 (TO-BE)</a:t>
            </a:r>
            <a:endParaRPr lang="en-US" sz="1350" dirty="0"/>
          </a:p>
        </p:txBody>
      </p:sp>
      <p:sp>
        <p:nvSpPr>
          <p:cNvPr id="26" name="Text 18"/>
          <p:cNvSpPr/>
          <p:nvPr/>
        </p:nvSpPr>
        <p:spPr>
          <a:xfrm>
            <a:off x="6597396" y="4617720"/>
            <a:ext cx="463143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mTRM(통합/상세 로드맵, 협의체, Tech PR, 기술과제 연동, 기술동향)을 신규 구축하여 신기술 개발과 양산 적용 시점의 일관성 확보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시장 기회 / 경쟁 환경: 해당 없음 — 사내 전사 시스템의 기능 증설이므로 외부 시장 진입이나 경쟁사 비교 대상이 존재하지 않음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타겟 사용자 정의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착수보고서에 연령·직업 등 구체적 페르소나 정보가 없어, 인적사항을 임의로 만들지 않고 역할 기반 사용자 그룹으로 대체했습니다.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828800"/>
            <a:ext cx="342290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828800"/>
            <a:ext cx="3422904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8" name="Shape 6"/>
          <p:cNvSpPr/>
          <p:nvPr/>
        </p:nvSpPr>
        <p:spPr>
          <a:xfrm>
            <a:off x="1894332" y="2286000"/>
            <a:ext cx="914400" cy="91440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5500" y="2487168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429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생기(생산기술) 업무 담당자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345692" y="4160520"/>
            <a:ext cx="2011680" cy="310896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4160520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자동화 현황 · mTRM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914400" y="470916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공장/라인별 자동화 전개 현황 및 제약조건 극복 사례 공유·관리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83024" y="1828800"/>
            <a:ext cx="342290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383024" y="1828800"/>
            <a:ext cx="3422904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6" name="Shape 13"/>
          <p:cNvSpPr/>
          <p:nvPr/>
        </p:nvSpPr>
        <p:spPr>
          <a:xfrm>
            <a:off x="5637276" y="2286000"/>
            <a:ext cx="914400" cy="91440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2487168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611624" y="3429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공장/라인 현장 담당자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5088636" y="4160520"/>
            <a:ext cx="2011680" cy="310896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20" name="Text 16"/>
          <p:cNvSpPr/>
          <p:nvPr/>
        </p:nvSpPr>
        <p:spPr>
          <a:xfrm>
            <a:off x="4520184" y="4160520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자동화 현황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657344" y="470916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확대 전개 계획 조회, Best Practice 참고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25968" y="1828800"/>
            <a:ext cx="3422904" cy="4297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125968" y="1828800"/>
            <a:ext cx="3422904" cy="7315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Shape 20"/>
          <p:cNvSpPr/>
          <p:nvPr/>
        </p:nvSpPr>
        <p:spPr>
          <a:xfrm>
            <a:off x="9380220" y="2286000"/>
            <a:ext cx="914400" cy="914400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1388" y="2487168"/>
            <a:ext cx="512064" cy="51206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54568" y="3429000"/>
            <a:ext cx="29657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분과 담당자 / 의사결정자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8831580" y="4160520"/>
            <a:ext cx="2011680" cy="310896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28" name="Text 23"/>
          <p:cNvSpPr/>
          <p:nvPr/>
        </p:nvSpPr>
        <p:spPr>
          <a:xfrm>
            <a:off x="8263128" y="4160520"/>
            <a:ext cx="3148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방향성 공유(mTRM)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8400288" y="4709160"/>
            <a:ext cx="287426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분과별 중장기 로드맵 현황·개정이력·진행 과제의 체계적 관리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사용자 세그먼트별 비중(%)은 착수보고서에 데이터가 없어 해당 없음으로 처리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PROPOSITION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핵심 가치 제안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생기포털 사용자에게 공장·라인 단위 자동화 현황을 한눈에 비교·조회할 수 있는 체계와, 분과별 중장기 기술 로드맵을 간트 차트 형태로 관리·공유할 수 있는 체계를 제공하여, 자동화 확대 전개와 신기술 발굴·수평전개를 지원한다.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4572000"/>
            <a:ext cx="3108960" cy="1554480"/>
          </a:xfrm>
          <a:prstGeom prst="rect">
            <a:avLst/>
          </a:prstGeom>
          <a:solidFill>
            <a:srgbClr val="0C1F33"/>
          </a:solidFill>
          <a:ln w="12700">
            <a:solidFill>
              <a:srgbClr val="3E69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49560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74520" y="457200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현황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조회 체계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89120" y="4572000"/>
            <a:ext cx="3108960" cy="1554480"/>
          </a:xfrm>
          <a:prstGeom prst="rect">
            <a:avLst/>
          </a:prstGeom>
          <a:solidFill>
            <a:srgbClr val="0C1F33"/>
          </a:solidFill>
          <a:ln w="12700">
            <a:solidFill>
              <a:srgbClr val="3E69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495604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457200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mTRM 로드맵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간트차트 관리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7863840" y="4572000"/>
            <a:ext cx="3108960" cy="1554480"/>
          </a:xfrm>
          <a:prstGeom prst="rect">
            <a:avLst/>
          </a:prstGeom>
          <a:solidFill>
            <a:srgbClr val="0C1F33"/>
          </a:solidFill>
          <a:ln w="12700">
            <a:solidFill>
              <a:srgbClr val="3E69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4956048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3960" y="4572000"/>
            <a:ext cx="1965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기술과제 ↔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로드맵 연계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서비스 범위 (1/2) — 공정 자동화 현황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8191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00784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00200" y="149047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94560" y="152704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부품 공정 자동화 현황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309360" y="1527048"/>
            <a:ext cx="3410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공정별 현황 등록/조회, 공장별 비교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68712" y="172821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13" name="Text 10"/>
          <p:cNvSpPr/>
          <p:nvPr/>
        </p:nvSpPr>
        <p:spPr>
          <a:xfrm>
            <a:off x="10268712" y="17282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63347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752344"/>
            <a:ext cx="347472" cy="3474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600200" y="254203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4"/>
          <p:cNvSpPr/>
          <p:nvPr/>
        </p:nvSpPr>
        <p:spPr>
          <a:xfrm>
            <a:off x="16002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194560" y="257860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공장 라인별 표준공정 마스터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6309360" y="2578608"/>
            <a:ext cx="3410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표준공정 마스터 등록/조회, 엑셀 다운로드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0268712" y="277977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22" name="Text 18"/>
          <p:cNvSpPr/>
          <p:nvPr/>
        </p:nvSpPr>
        <p:spPr>
          <a:xfrm>
            <a:off x="10268712" y="27797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40080" y="352044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8680" y="368503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803904"/>
            <a:ext cx="347472" cy="3474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600200" y="359359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2"/>
          <p:cNvSpPr/>
          <p:nvPr/>
        </p:nvSpPr>
        <p:spPr>
          <a:xfrm>
            <a:off x="160020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194560" y="363016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 공정 자동화 현황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6309360" y="3630168"/>
            <a:ext cx="3410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모듈공정배치와 상호 데이터 연동, 공장별 비교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0268712" y="383133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31" name="Text 26"/>
          <p:cNvSpPr/>
          <p:nvPr/>
        </p:nvSpPr>
        <p:spPr>
          <a:xfrm>
            <a:off x="10268712" y="38313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40080" y="457200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68680" y="473659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855464"/>
            <a:ext cx="347472" cy="34747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600200" y="464515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0"/>
          <p:cNvSpPr/>
          <p:nvPr/>
        </p:nvSpPr>
        <p:spPr>
          <a:xfrm>
            <a:off x="1600200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194560" y="468172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 표준 작업명 관리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6309360" y="4681728"/>
            <a:ext cx="3410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표준 작업명 등록/조회/삭제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0268712" y="488289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40" name="Text 34"/>
          <p:cNvSpPr/>
          <p:nvPr/>
        </p:nvSpPr>
        <p:spPr>
          <a:xfrm>
            <a:off x="10268712" y="4882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40080" y="562356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868680" y="578815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907024"/>
            <a:ext cx="347472" cy="347472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600200" y="569671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5" name="Text 38"/>
          <p:cNvSpPr/>
          <p:nvPr/>
        </p:nvSpPr>
        <p:spPr>
          <a:xfrm>
            <a:off x="1600200" y="5696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2194560" y="5733288"/>
            <a:ext cx="3931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모듈공정배치 연동</a:t>
            </a:r>
            <a:endParaRPr lang="en-US" sz="1450" dirty="0"/>
          </a:p>
        </p:txBody>
      </p:sp>
      <p:sp>
        <p:nvSpPr>
          <p:cNvPr id="47" name="Text 40"/>
          <p:cNvSpPr/>
          <p:nvPr/>
        </p:nvSpPr>
        <p:spPr>
          <a:xfrm>
            <a:off x="6309360" y="5733288"/>
            <a:ext cx="3410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생기/생산 모듈공정배치 데이터 인터페이스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10268712" y="593445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49" name="Text 42"/>
          <p:cNvSpPr/>
          <p:nvPr/>
        </p:nvSpPr>
        <p:spPr>
          <a:xfrm>
            <a:off x="10268712" y="59344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서비스 범위 (2/2) — 중장기 방향성 공유 (mTRM)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8191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700784"/>
            <a:ext cx="347472" cy="347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00200" y="149047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9" name="Text 6"/>
          <p:cNvSpPr/>
          <p:nvPr/>
        </p:nvSpPr>
        <p:spPr>
          <a:xfrm>
            <a:off x="160020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194560" y="152704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mTRM 통합/상세 로드맵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452360" y="152704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등록/조회, 간트 차트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0268712" y="172821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13" name="Text 10"/>
          <p:cNvSpPr/>
          <p:nvPr/>
        </p:nvSpPr>
        <p:spPr>
          <a:xfrm>
            <a:off x="10268712" y="172821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40080" y="246888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263347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2752344"/>
            <a:ext cx="347472" cy="34747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600200" y="254203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4"/>
          <p:cNvSpPr/>
          <p:nvPr/>
        </p:nvSpPr>
        <p:spPr>
          <a:xfrm>
            <a:off x="16002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194560" y="257860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생산기술 Tech PR (사용자/관리자)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452360" y="257860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과제별 자료·동영상 그리드 조회, 메일 발송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10268712" y="277977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22" name="Text 18"/>
          <p:cNvSpPr/>
          <p:nvPr/>
        </p:nvSpPr>
        <p:spPr>
          <a:xfrm>
            <a:off x="10268712" y="27797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640080" y="352044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68680" y="368503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3803904"/>
            <a:ext cx="347472" cy="34747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1600200" y="359359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7" name="Text 22"/>
          <p:cNvSpPr/>
          <p:nvPr/>
        </p:nvSpPr>
        <p:spPr>
          <a:xfrm>
            <a:off x="1600200" y="3593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2194560" y="363016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mTRM 협의체 / 관리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7452360" y="363016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협의체 등록/조회, 분과장 메일 발송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10268712" y="383133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31" name="Text 26"/>
          <p:cNvSpPr/>
          <p:nvPr/>
        </p:nvSpPr>
        <p:spPr>
          <a:xfrm>
            <a:off x="10268712" y="383133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640080" y="457200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68680" y="473659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855464"/>
            <a:ext cx="347472" cy="347472"/>
          </a:xfrm>
          <a:prstGeom prst="rect">
            <a:avLst/>
          </a:prstGeom>
        </p:spPr>
      </p:pic>
      <p:sp>
        <p:nvSpPr>
          <p:cNvPr id="35" name="Shape 29"/>
          <p:cNvSpPr/>
          <p:nvPr/>
        </p:nvSpPr>
        <p:spPr>
          <a:xfrm>
            <a:off x="1600200" y="464515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6" name="Text 30"/>
          <p:cNvSpPr/>
          <p:nvPr/>
        </p:nvSpPr>
        <p:spPr>
          <a:xfrm>
            <a:off x="1600200" y="4645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194560" y="468172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기술과제 관리 연동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7452360" y="468172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계획등록 시 mTRM 연동</a:t>
            </a:r>
            <a:endParaRPr lang="en-US" sz="1200" dirty="0"/>
          </a:p>
        </p:txBody>
      </p:sp>
      <p:sp>
        <p:nvSpPr>
          <p:cNvPr id="39" name="Shape 33"/>
          <p:cNvSpPr/>
          <p:nvPr/>
        </p:nvSpPr>
        <p:spPr>
          <a:xfrm>
            <a:off x="10268712" y="488289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40" name="Text 34"/>
          <p:cNvSpPr/>
          <p:nvPr/>
        </p:nvSpPr>
        <p:spPr>
          <a:xfrm>
            <a:off x="10268712" y="488289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640080" y="5623560"/>
            <a:ext cx="10908792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6"/>
          <p:cNvSpPr/>
          <p:nvPr/>
        </p:nvSpPr>
        <p:spPr>
          <a:xfrm>
            <a:off x="868680" y="5788152"/>
            <a:ext cx="585216" cy="585216"/>
          </a:xfrm>
          <a:prstGeom prst="ellipse">
            <a:avLst/>
          </a:prstGeom>
          <a:solidFill>
            <a:srgbClr val="14304D"/>
          </a:solidFill>
          <a:ln/>
        </p:spPr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5907024"/>
            <a:ext cx="347472" cy="347472"/>
          </a:xfrm>
          <a:prstGeom prst="rect">
            <a:avLst/>
          </a:prstGeom>
        </p:spPr>
      </p:pic>
      <p:sp>
        <p:nvSpPr>
          <p:cNvPr id="44" name="Shape 37"/>
          <p:cNvSpPr/>
          <p:nvPr/>
        </p:nvSpPr>
        <p:spPr>
          <a:xfrm>
            <a:off x="1600200" y="5696712"/>
            <a:ext cx="411480" cy="41148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45" name="Text 38"/>
          <p:cNvSpPr/>
          <p:nvPr/>
        </p:nvSpPr>
        <p:spPr>
          <a:xfrm>
            <a:off x="1600200" y="5696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1F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46" name="Text 39"/>
          <p:cNvSpPr/>
          <p:nvPr/>
        </p:nvSpPr>
        <p:spPr>
          <a:xfrm>
            <a:off x="2194560" y="5733288"/>
            <a:ext cx="5120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기술동향</a:t>
            </a:r>
            <a:endParaRPr lang="en-US" sz="1450" dirty="0"/>
          </a:p>
        </p:txBody>
      </p:sp>
      <p:sp>
        <p:nvSpPr>
          <p:cNvPr id="47" name="Text 40"/>
          <p:cNvSpPr/>
          <p:nvPr/>
        </p:nvSpPr>
        <p:spPr>
          <a:xfrm>
            <a:off x="7452360" y="5733288"/>
            <a:ext cx="22677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트렌드/신기술 자료 등록·조회</a:t>
            </a:r>
            <a:endParaRPr lang="en-US" sz="1200" dirty="0"/>
          </a:p>
        </p:txBody>
      </p:sp>
      <p:sp>
        <p:nvSpPr>
          <p:cNvPr id="48" name="Shape 41"/>
          <p:cNvSpPr/>
          <p:nvPr/>
        </p:nvSpPr>
        <p:spPr>
          <a:xfrm>
            <a:off x="10268712" y="5934456"/>
            <a:ext cx="1051560" cy="292608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49" name="Text 42"/>
          <p:cNvSpPr/>
          <p:nvPr/>
        </p:nvSpPr>
        <p:spPr>
          <a:xfrm>
            <a:off x="10268712" y="593445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 · 신규메뉴</a:t>
            </a:r>
            <a:endParaRPr lang="en-US" sz="850" dirty="0"/>
          </a:p>
        </p:txBody>
      </p:sp>
      <p:sp>
        <p:nvSpPr>
          <p:cNvPr id="50" name="Text 43"/>
          <p:cNvSpPr/>
          <p:nvPr/>
        </p:nvSpPr>
        <p:spPr>
          <a:xfrm>
            <a:off x="640080" y="640080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범위 외 (Out of Scope): 시스템 개선 88건 (결재/프로젝트/조립공법서/기준정보 등) — 별도 트랙, 본 프로젝트 범위 아님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일정 (마일스톤)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3017520"/>
            <a:ext cx="10543032" cy="0"/>
          </a:xfrm>
          <a:prstGeom prst="line">
            <a:avLst/>
          </a:prstGeom>
          <a:noFill/>
          <a:ln w="38100">
            <a:solidFill>
              <a:srgbClr val="AFC9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6656" y="2871216"/>
            <a:ext cx="292608" cy="292608"/>
          </a:xfrm>
          <a:prstGeom prst="ellipse">
            <a:avLst/>
          </a:prstGeom>
          <a:solidFill>
            <a:srgbClr val="3E69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FC9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192938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분석/설계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~ 1차 오픈 이전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85262" y="2871216"/>
            <a:ext cx="292608" cy="292608"/>
          </a:xfrm>
          <a:prstGeom prst="ellipse">
            <a:avLst/>
          </a:prstGeom>
          <a:solidFill>
            <a:srgbClr val="3E69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11526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FC9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830" y="19293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154326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1차 개발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154326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착수 ~ 2026.09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39005" y="281635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720133" y="1783080"/>
            <a:ext cx="640080" cy="640080"/>
          </a:xfrm>
          <a:prstGeom prst="ellipse">
            <a:avLst/>
          </a:prstGeom>
          <a:solidFill>
            <a:srgbClr val="14304D"/>
          </a:solidFill>
          <a:ln w="254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6437" y="1929384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262933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1차 오픈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262933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2026-09-30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002475" y="2871216"/>
            <a:ext cx="292608" cy="292608"/>
          </a:xfrm>
          <a:prstGeom prst="ellipse">
            <a:avLst/>
          </a:prstGeom>
          <a:solidFill>
            <a:srgbClr val="3E69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28739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FC9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5043" y="1929384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71539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2차 개발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371539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2026.10 ~ 12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9056218" y="2816352"/>
            <a:ext cx="402336" cy="402336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937346" y="1783080"/>
            <a:ext cx="640080" cy="640080"/>
          </a:xfrm>
          <a:prstGeom prst="ellipse">
            <a:avLst/>
          </a:prstGeom>
          <a:solidFill>
            <a:srgbClr val="14304D"/>
          </a:solidFill>
          <a:ln w="25400">
            <a:solidFill>
              <a:srgbClr val="F2A9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3650" y="1929384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80146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2차 오픈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8480146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87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2026-12-31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1219688" y="2871216"/>
            <a:ext cx="292608" cy="292608"/>
          </a:xfrm>
          <a:prstGeom prst="ellipse">
            <a:avLst/>
          </a:prstGeom>
          <a:solidFill>
            <a:srgbClr val="3E699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11045952" y="178308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AFC9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92256" y="1929384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588752" y="3291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안정화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10588752" y="36393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오픈 이후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1613916" y="5074920"/>
            <a:ext cx="4206240" cy="137160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1613916" y="5074920"/>
            <a:ext cx="73152" cy="1371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8" name="Text 30"/>
          <p:cNvSpPr/>
          <p:nvPr/>
        </p:nvSpPr>
        <p:spPr>
          <a:xfrm>
            <a:off x="1933956" y="5221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오픈</a:t>
            </a:r>
            <a:endParaRPr lang="en-US" sz="1100" dirty="0"/>
          </a:p>
        </p:txBody>
      </p:sp>
      <p:sp>
        <p:nvSpPr>
          <p:cNvPr id="39" name="Text 31"/>
          <p:cNvSpPr/>
          <p:nvPr/>
        </p:nvSpPr>
        <p:spPr>
          <a:xfrm>
            <a:off x="1933956" y="5513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2026년 9월 30일</a:t>
            </a:r>
            <a:endParaRPr lang="en-US" sz="2000" dirty="0"/>
          </a:p>
        </p:txBody>
      </p:sp>
      <p:sp>
        <p:nvSpPr>
          <p:cNvPr id="40" name="Text 32"/>
          <p:cNvSpPr/>
          <p:nvPr/>
        </p:nvSpPr>
        <p:spPr>
          <a:xfrm>
            <a:off x="1933956" y="6007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자동화 현황 5종 메뉴 오픈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6368796" y="5074920"/>
            <a:ext cx="4206240" cy="137160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6368796" y="5074920"/>
            <a:ext cx="73152" cy="137160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43" name="Text 35"/>
          <p:cNvSpPr/>
          <p:nvPr/>
        </p:nvSpPr>
        <p:spPr>
          <a:xfrm>
            <a:off x="6688836" y="522122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오픈</a:t>
            </a:r>
            <a:endParaRPr lang="en-US" sz="1100" dirty="0"/>
          </a:p>
        </p:txBody>
      </p:sp>
      <p:sp>
        <p:nvSpPr>
          <p:cNvPr id="44" name="Text 36"/>
          <p:cNvSpPr/>
          <p:nvPr/>
        </p:nvSpPr>
        <p:spPr>
          <a:xfrm>
            <a:off x="6688836" y="55138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2026년 12월 31일</a:t>
            </a:r>
            <a:endParaRPr lang="en-US" sz="2000" dirty="0"/>
          </a:p>
        </p:txBody>
      </p:sp>
      <p:sp>
        <p:nvSpPr>
          <p:cNvPr id="45" name="Text 37"/>
          <p:cNvSpPr/>
          <p:nvPr/>
        </p:nvSpPr>
        <p:spPr>
          <a:xfrm>
            <a:off x="6688836" y="60076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방향성 공유(mTRM) 7종 메뉴 오픈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640080" y="6537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RFP 원안 일정(2차 오픈 11월 말) 대비 지연 — 착수보고서 §4 기준 확정 일정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리스크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10896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발생가능성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06240" y="1371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영향도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257800" y="13716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설명 / 대응 전략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0908792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691640"/>
            <a:ext cx="64008" cy="89611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91640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데이터 정합성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108960" y="2002536"/>
            <a:ext cx="100584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0" y="2002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06240" y="2002536"/>
            <a:ext cx="91440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20025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257800" y="1746504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현황이 기존 부품/모듈 공정배치 데이터를 재사용·연동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E6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집계 기준 표준화, 조회 전용 가공 테이블 별도 설계 및 정합성 관리 체계 수립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2679192"/>
            <a:ext cx="10908792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679192"/>
            <a:ext cx="64008" cy="89611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2679192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일정 리스크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108960" y="2990088"/>
            <a:ext cx="100584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9900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06240" y="2990088"/>
            <a:ext cx="91440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3" name="Text 21"/>
          <p:cNvSpPr/>
          <p:nvPr/>
        </p:nvSpPr>
        <p:spPr>
          <a:xfrm>
            <a:off x="4206240" y="2990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57800" y="2734056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오픈(12월 말)이 RFP 원안(11월 말)보다 지연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E6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WBS 수립 시 통합테스트·안정화 기간 명시 반영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3666744"/>
            <a:ext cx="10908792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666744"/>
            <a:ext cx="64008" cy="89611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666744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공통기능 의존성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108960" y="3977640"/>
            <a:ext cx="1005840" cy="274320"/>
          </a:xfrm>
          <a:prstGeom prst="rect">
            <a:avLst/>
          </a:prstGeom>
          <a:solidFill>
            <a:srgbClr val="2F9E6E"/>
          </a:solidFill>
          <a:ln/>
        </p:spPr>
      </p:sp>
      <p:sp>
        <p:nvSpPr>
          <p:cNvPr id="29" name="Text 27"/>
          <p:cNvSpPr/>
          <p:nvPr/>
        </p:nvSpPr>
        <p:spPr>
          <a:xfrm>
            <a:off x="310896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3977640"/>
            <a:ext cx="91440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39776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57800" y="3721608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결재/메일/권한 등 PNDES 공통 기능 변경 시 영향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E6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공통기능 변경 이력 사전 공유, 회귀시험 범위에 포함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0080" y="4654296"/>
            <a:ext cx="10908792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0080" y="4654296"/>
            <a:ext cx="64008" cy="896112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5" name="Text 33"/>
          <p:cNvSpPr/>
          <p:nvPr/>
        </p:nvSpPr>
        <p:spPr>
          <a:xfrm>
            <a:off x="868680" y="4654296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개발 인력 미확정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108960" y="4965192"/>
            <a:ext cx="100584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3108960" y="49651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206240" y="4965192"/>
            <a:ext cx="914400" cy="27432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39" name="Text 37"/>
          <p:cNvSpPr/>
          <p:nvPr/>
        </p:nvSpPr>
        <p:spPr>
          <a:xfrm>
            <a:off x="4206240" y="4965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57800" y="4709160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계약 전 인력 계획 미확정 (테이아 제안 기준 약 23 M/M)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E6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계약 체결 후 상세 인력 투입 계획 재확정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0080" y="5641848"/>
            <a:ext cx="10908792" cy="89611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5641848"/>
            <a:ext cx="64008" cy="896112"/>
          </a:xfrm>
          <a:prstGeom prst="rect">
            <a:avLst/>
          </a:prstGeom>
          <a:solidFill>
            <a:srgbClr val="2F9E6E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5641848"/>
            <a:ext cx="21488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프레임워크 불일치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108960" y="5952744"/>
            <a:ext cx="1005840" cy="274320"/>
          </a:xfrm>
          <a:prstGeom prst="rect">
            <a:avLst/>
          </a:prstGeom>
          <a:solidFill>
            <a:srgbClr val="C4453A"/>
          </a:solidFill>
          <a:ln/>
        </p:spPr>
      </p:sp>
      <p:sp>
        <p:nvSpPr>
          <p:cNvPr id="45" name="Text 43"/>
          <p:cNvSpPr/>
          <p:nvPr/>
        </p:nvSpPr>
        <p:spPr>
          <a:xfrm>
            <a:off x="3108960" y="595274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206240" y="5952744"/>
            <a:ext cx="914400" cy="274320"/>
          </a:xfrm>
          <a:prstGeom prst="rect">
            <a:avLst/>
          </a:prstGeom>
          <a:solidFill>
            <a:srgbClr val="2F9E6E"/>
          </a:solidFill>
          <a:ln/>
        </p:spPr>
      </p:sp>
      <p:sp>
        <p:nvSpPr>
          <p:cNvPr id="47" name="Text 45"/>
          <p:cNvSpPr/>
          <p:nvPr/>
        </p:nvSpPr>
        <p:spPr>
          <a:xfrm>
            <a:off x="4206240" y="59527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257800" y="5696712"/>
            <a:ext cx="6309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AP-Framework 기본 스택과 실제 배포환경(PNDES 온프레미스) 차이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E69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CLAUDE.md 커스텀 기술 스택 섹션을 구현 기준으로 강제 적용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4304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5603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성공 KPI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000232" y="20116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2521458" cy="192024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9641" y="1618488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10312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9.30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2697480"/>
            <a:ext cx="2338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1차 오픈일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299008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공정 자동화 현황 5종 메뉴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435858" y="1417320"/>
            <a:ext cx="2521458" cy="192024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419" y="1618488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7298" y="210312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12.31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3527298" y="2697480"/>
            <a:ext cx="2338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2차 오픈일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73018" y="299008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방향성 공유 7종 메뉴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6231636" y="1417320"/>
            <a:ext cx="2521458" cy="192024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1197" y="1618488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3076" y="210312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3초</a:t>
            </a:r>
            <a:endParaRPr lang="en-US" sz="2600" dirty="0"/>
          </a:p>
        </p:txBody>
      </p:sp>
      <p:sp>
        <p:nvSpPr>
          <p:cNvPr id="18" name="Text 13"/>
          <p:cNvSpPr/>
          <p:nvPr/>
        </p:nvSpPr>
        <p:spPr>
          <a:xfrm>
            <a:off x="6323076" y="2697480"/>
            <a:ext cx="2338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성능 목표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368796" y="299008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화면 응답 3초 이내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9027414" y="1417320"/>
            <a:ext cx="2521458" cy="1920240"/>
          </a:xfrm>
          <a:prstGeom prst="rect">
            <a:avLst/>
          </a:prstGeom>
          <a:solidFill>
            <a:srgbClr val="14304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6975" y="1618488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18854" y="2103120"/>
            <a:ext cx="23385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</a:t>
            </a:r>
            <a:endParaRPr lang="en-US" sz="2600" dirty="0"/>
          </a:p>
        </p:txBody>
      </p:sp>
      <p:sp>
        <p:nvSpPr>
          <p:cNvPr id="23" name="Text 17"/>
          <p:cNvSpPr/>
          <p:nvPr/>
        </p:nvSpPr>
        <p:spPr>
          <a:xfrm>
            <a:off x="9118854" y="2697480"/>
            <a:ext cx="23385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 기준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9164574" y="2990088"/>
            <a:ext cx="22471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Top 10 보안 점검 통과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40080" y="37033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/ No-Go 기준 (§9.1 목표 달성 여부를 오픈 시점 판단 기준으로 준용)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640080" y="4160520"/>
            <a:ext cx="1090879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640080" y="4160520"/>
            <a:ext cx="2103120" cy="1051560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28" name="Text 22"/>
          <p:cNvSpPr/>
          <p:nvPr/>
        </p:nvSpPr>
        <p:spPr>
          <a:xfrm>
            <a:off x="777240" y="41605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1차 오픈(9월 말) 직전</a:t>
            </a:r>
            <a:endParaRPr lang="en-US" sz="125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6080" y="4288536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337560" y="425196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 현황 5종 기능 단위테스트 완료 + 데이터 정합성 검증 완료</a:t>
            </a:r>
            <a:endParaRPr lang="en-US" sz="10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4288536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29600" y="425196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기능 미완료 또는 데이터 정합성 미검증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40080" y="5394960"/>
            <a:ext cx="10908792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0080" y="5394960"/>
            <a:ext cx="2103120" cy="1051560"/>
          </a:xfrm>
          <a:prstGeom prst="rect">
            <a:avLst/>
          </a:prstGeom>
          <a:solidFill>
            <a:srgbClr val="AFC9DE"/>
          </a:solidFill>
          <a:ln/>
        </p:spPr>
      </p:sp>
      <p:sp>
        <p:nvSpPr>
          <p:cNvPr id="35" name="Text 27"/>
          <p:cNvSpPr/>
          <p:nvPr/>
        </p:nvSpPr>
        <p:spPr>
          <a:xfrm>
            <a:off x="777240" y="539496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30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2차 오픈(12월 말) 직전</a:t>
            </a:r>
            <a:endParaRPr lang="en-US" sz="1250" dirty="0"/>
          </a:p>
        </p:txBody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6080" y="5522976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337560" y="54864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mTRM 7종 기능 통합테스트 완료 + 보안 점검 통과</a:t>
            </a:r>
            <a:endParaRPr lang="en-US" sz="105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18120" y="5522976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8229600" y="5486400"/>
            <a:ext cx="33192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4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통합테스트 미완료 또는 중대 보안 결함 미해결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C1F3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범위 밖 항목 및 참고 문서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프로젝트는 사내 전사 시스템 증설이므로, 아래 항목은 착수보고서 범위 밖(해당 없음)으로 명시했습니다.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22960" y="2130552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0299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환경 / 시장 규모  </a:t>
            </a:r>
            <a:pPr indent="0" marL="0">
              <a:buNone/>
            </a:pPr>
            <a:r>
              <a:rPr lang="en-US" sz="130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외부 시장 진입 대상이 아님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587752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4871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전략  </a:t>
            </a:r>
            <a:pPr indent="0" marL="0">
              <a:buNone/>
            </a:pPr>
            <a:r>
              <a:rPr lang="en-US" sz="130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PNDES 공통 UI 표준을 따름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44952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9443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모델 / 가격 전략  </a:t>
            </a:r>
            <a:pPr indent="0" marL="0">
              <a:buNone/>
            </a:pPr>
            <a:r>
              <a:rPr lang="en-US" sz="130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사내 IT 투자, 수익화 대상 아님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502152"/>
            <a:ext cx="201168" cy="20116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4015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페르소나(인적사항)  </a:t>
            </a:r>
            <a:pPr indent="0" marL="0">
              <a:buNone/>
            </a:pPr>
            <a:r>
              <a:rPr lang="en-US" sz="1300" i="1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착수보고서에 근거 데이터 없음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908792" cy="0"/>
          </a:xfrm>
          <a:prstGeom prst="line">
            <a:avLst/>
          </a:prstGeom>
          <a:noFill/>
          <a:ln w="12700">
            <a:solidFill>
              <a:srgbClr val="3E69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참고 문서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754880"/>
            <a:ext cx="9144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01.관리문서/착수보고서.md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본 서비스 기획서의 유일한 근거 자료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PRD.md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착수보고서의 원 근거, 상세 기술스택/대상사용자 확인 시 참고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3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PLM 생기포털 고도화 프로젝트  ·  서비스 기획서 v1.0  ·  2026-08-07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PLM 생기포털 고도화 — 서비스 기획서</dc:title>
  <dc:subject>PptxGenJS Presentation</dc:subject>
  <dc:creator>PLM 생기포털 고도화 프로젝트</dc:creator>
  <cp:lastModifiedBy>PLM 생기포털 고도화 프로젝트</cp:lastModifiedBy>
  <cp:revision>1</cp:revision>
  <dcterms:created xsi:type="dcterms:W3CDTF">2026-08-07T08:59:14Z</dcterms:created>
  <dcterms:modified xsi:type="dcterms:W3CDTF">2026-08-07T08:59:14Z</dcterms:modified>
</cp:coreProperties>
</file>