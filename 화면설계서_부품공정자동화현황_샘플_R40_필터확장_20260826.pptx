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79676" y="0"/>
            <a:ext cx="8229600" cy="6858000"/>
          </a:xfrm>
          <a:prstGeom prst="rect">
            <a:avLst/>
          </a:prstGeom>
          <a:solidFill>
            <a:srgbClr val="343A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657740" y="2132869"/>
            <a:ext cx="290278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DOCUMENT (SAMPLE)</a:t>
            </a:r>
            <a:endParaRPr lang="en-US" sz="540" dirty="0"/>
          </a:p>
        </p:txBody>
      </p:sp>
      <p:sp>
        <p:nvSpPr>
          <p:cNvPr id="4" name="Text 2"/>
          <p:cNvSpPr txBox="1"/>
          <p:nvPr/>
        </p:nvSpPr>
        <p:spPr>
          <a:xfrm>
            <a:off x="4657740" y="2309217"/>
            <a:ext cx="2902786" cy="22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89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 — 화면 샘플</a:t>
            </a:r>
            <a:endParaRPr lang="en-US" sz="1389" dirty="0"/>
          </a:p>
        </p:txBody>
      </p:sp>
      <p:sp>
        <p:nvSpPr>
          <p:cNvPr id="5" name="Text 3"/>
          <p:cNvSpPr txBox="1"/>
          <p:nvPr/>
        </p:nvSpPr>
        <p:spPr>
          <a:xfrm>
            <a:off x="4657740" y="2788282"/>
            <a:ext cx="290278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54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PLM 생기포털 고도화 프로젝트 — 화면설계서 부품 공정 자동화 현황 영역 검토용 샘플 와이어프레임입니다.</a:t>
            </a:r>
            <a:endParaRPr lang="en-US" sz="540" dirty="0"/>
          </a:p>
          <a:p>
            <a:pPr algn="ctr" indent="0" marL="0">
              <a:lnSpc>
                <a:spcPts val="972"/>
              </a:lnSpc>
              <a:buNone/>
            </a:pPr>
            <a:r>
              <a:rPr lang="en-US" sz="54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완성도 확인 후 보정 작업을 진행합니다. 본 파일은 기존 화면설계서 산출물과 별개의 독립 파일입니다.</a:t>
            </a:r>
            <a:endParaRPr lang="en-US" sz="540" dirty="0"/>
          </a:p>
        </p:txBody>
      </p:sp>
      <p:sp>
        <p:nvSpPr>
          <p:cNvPr id="6" name="Shape 4"/>
          <p:cNvSpPr/>
          <p:nvPr/>
        </p:nvSpPr>
        <p:spPr>
          <a:xfrm>
            <a:off x="4657740" y="3230991"/>
            <a:ext cx="2873395" cy="636814"/>
          </a:xfrm>
          <a:prstGeom prst="roundRect">
            <a:avLst>
              <a:gd name="adj" fmla="val 9231"/>
            </a:avLst>
          </a:prstGeom>
          <a:solidFill>
            <a:srgbClr val="3E444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90002" y="3363252"/>
            <a:ext cx="1294601" cy="15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</a:t>
            </a:r>
            <a:endParaRPr lang="en-US" sz="501" dirty="0"/>
          </a:p>
          <a:p>
            <a:pPr algn="l" indent="0" marL="0">
              <a:lnSpc>
                <a:spcPts val="602"/>
              </a:lnSpc>
              <a:buNone/>
            </a:pPr>
            <a:r>
              <a:rPr lang="en-US" sz="50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PLM 생기포털 고도화</a:t>
            </a:r>
            <a:endParaRPr lang="en-US" sz="501" dirty="0"/>
          </a:p>
        </p:txBody>
      </p:sp>
      <p:sp>
        <p:nvSpPr>
          <p:cNvPr id="8" name="Text 6"/>
          <p:cNvSpPr txBox="1"/>
          <p:nvPr/>
        </p:nvSpPr>
        <p:spPr>
          <a:xfrm>
            <a:off x="6133588" y="3363252"/>
            <a:ext cx="1294677" cy="15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Type</a:t>
            </a:r>
            <a:endParaRPr lang="en-US" sz="501" dirty="0"/>
          </a:p>
          <a:p>
            <a:pPr algn="l" indent="0" marL="0">
              <a:lnSpc>
                <a:spcPts val="602"/>
              </a:lnSpc>
              <a:buNone/>
            </a:pPr>
            <a:r>
              <a:rPr lang="en-US" sz="50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Sample (Wireframe)</a:t>
            </a:r>
            <a:endParaRPr lang="en-US" sz="501" dirty="0"/>
          </a:p>
        </p:txBody>
      </p:sp>
      <p:sp>
        <p:nvSpPr>
          <p:cNvPr id="9" name="Text 7"/>
          <p:cNvSpPr txBox="1"/>
          <p:nvPr/>
        </p:nvSpPr>
        <p:spPr>
          <a:xfrm>
            <a:off x="4790002" y="3588586"/>
            <a:ext cx="1294601" cy="15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Version</a:t>
            </a:r>
            <a:endParaRPr lang="en-US" sz="501" dirty="0"/>
          </a:p>
          <a:p>
            <a:pPr algn="l" indent="0" marL="0">
              <a:lnSpc>
                <a:spcPts val="602"/>
              </a:lnSpc>
              <a:buNone/>
            </a:pPr>
            <a:r>
              <a:rPr lang="en-US" sz="50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Draft 0.1</a:t>
            </a:r>
            <a:endParaRPr lang="en-US" sz="501" dirty="0"/>
          </a:p>
        </p:txBody>
      </p:sp>
      <p:sp>
        <p:nvSpPr>
          <p:cNvPr id="10" name="Text 8"/>
          <p:cNvSpPr txBox="1"/>
          <p:nvPr/>
        </p:nvSpPr>
        <p:spPr>
          <a:xfrm>
            <a:off x="6133588" y="3588586"/>
            <a:ext cx="1294677" cy="15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Screens</a:t>
            </a:r>
            <a:endParaRPr lang="en-US" sz="501" dirty="0"/>
          </a:p>
          <a:p>
            <a:pPr algn="l" indent="0" marL="0">
              <a:lnSpc>
                <a:spcPts val="602"/>
              </a:lnSpc>
              <a:buNone/>
            </a:pPr>
            <a:r>
              <a:rPr lang="en-US" sz="50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(SCR-001~014 + MTRM-MAIN)</a:t>
            </a:r>
            <a:endParaRPr lang="en-US" sz="501" dirty="0"/>
          </a:p>
        </p:txBody>
      </p:sp>
      <p:sp>
        <p:nvSpPr>
          <p:cNvPr id="11" name="Shape 9"/>
          <p:cNvSpPr/>
          <p:nvPr/>
        </p:nvSpPr>
        <p:spPr>
          <a:xfrm>
            <a:off x="4657740" y="406374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6726" y="408824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부품 공정 자동화 현황</a:t>
            </a:r>
            <a:endParaRPr lang="en-US" sz="424" dirty="0"/>
          </a:p>
        </p:txBody>
      </p:sp>
      <p:sp>
        <p:nvSpPr>
          <p:cNvPr id="13" name="Shape 11"/>
          <p:cNvSpPr/>
          <p:nvPr/>
        </p:nvSpPr>
        <p:spPr>
          <a:xfrm>
            <a:off x="5623677" y="406374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72663" y="408824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표준공정 마스터 관리</a:t>
            </a:r>
            <a:endParaRPr lang="en-US" sz="424" dirty="0"/>
          </a:p>
        </p:txBody>
      </p:sp>
      <p:sp>
        <p:nvSpPr>
          <p:cNvPr id="15" name="Shape 13"/>
          <p:cNvSpPr/>
          <p:nvPr/>
        </p:nvSpPr>
        <p:spPr>
          <a:xfrm>
            <a:off x="6589614" y="406374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38600" y="408824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모듈 공정 자동화 현황</a:t>
            </a:r>
            <a:endParaRPr lang="en-US" sz="424" dirty="0"/>
          </a:p>
        </p:txBody>
      </p:sp>
      <p:sp>
        <p:nvSpPr>
          <p:cNvPr id="17" name="Shape 15"/>
          <p:cNvSpPr/>
          <p:nvPr/>
        </p:nvSpPr>
        <p:spPr>
          <a:xfrm>
            <a:off x="4657740" y="420090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6726" y="422540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모듈 표준 작업명 관리</a:t>
            </a:r>
            <a:endParaRPr lang="en-US" sz="424" dirty="0"/>
          </a:p>
        </p:txBody>
      </p:sp>
      <p:sp>
        <p:nvSpPr>
          <p:cNvPr id="19" name="Shape 17"/>
          <p:cNvSpPr/>
          <p:nvPr/>
        </p:nvSpPr>
        <p:spPr>
          <a:xfrm>
            <a:off x="5623677" y="420090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72663" y="422540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I/F 실행결과 관리</a:t>
            </a:r>
            <a:endParaRPr lang="en-US" sz="424" dirty="0"/>
          </a:p>
        </p:txBody>
      </p:sp>
      <p:sp>
        <p:nvSpPr>
          <p:cNvPr id="21" name="Shape 19"/>
          <p:cNvSpPr/>
          <p:nvPr/>
        </p:nvSpPr>
        <p:spPr>
          <a:xfrm>
            <a:off x="6589614" y="420090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38600" y="422540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통합 로드맵</a:t>
            </a:r>
            <a:endParaRPr lang="en-US" sz="424" dirty="0"/>
          </a:p>
        </p:txBody>
      </p:sp>
      <p:sp>
        <p:nvSpPr>
          <p:cNvPr id="23" name="Shape 21"/>
          <p:cNvSpPr/>
          <p:nvPr/>
        </p:nvSpPr>
        <p:spPr>
          <a:xfrm>
            <a:off x="4657740" y="433806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06726" y="436256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상세과제 로드맵 관리</a:t>
            </a:r>
            <a:endParaRPr lang="en-US" sz="424" dirty="0"/>
          </a:p>
        </p:txBody>
      </p:sp>
      <p:sp>
        <p:nvSpPr>
          <p:cNvPr id="25" name="Shape 23"/>
          <p:cNvSpPr/>
          <p:nvPr/>
        </p:nvSpPr>
        <p:spPr>
          <a:xfrm>
            <a:off x="5623677" y="433806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72663" y="436256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통합 로드맵 차트</a:t>
            </a:r>
            <a:endParaRPr lang="en-US" sz="424" dirty="0"/>
          </a:p>
        </p:txBody>
      </p:sp>
      <p:sp>
        <p:nvSpPr>
          <p:cNvPr id="27" name="Shape 25"/>
          <p:cNvSpPr/>
          <p:nvPr/>
        </p:nvSpPr>
        <p:spPr>
          <a:xfrm>
            <a:off x="6589614" y="433806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38600" y="436256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생산기술 Tech PR</a:t>
            </a:r>
            <a:endParaRPr lang="en-US" sz="424" dirty="0"/>
          </a:p>
        </p:txBody>
      </p:sp>
      <p:sp>
        <p:nvSpPr>
          <p:cNvPr id="29" name="Shape 27"/>
          <p:cNvSpPr/>
          <p:nvPr/>
        </p:nvSpPr>
        <p:spPr>
          <a:xfrm>
            <a:off x="4657740" y="447522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06726" y="449972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생산기술 Tech PR 관리자</a:t>
            </a:r>
            <a:endParaRPr lang="en-US" sz="424" dirty="0"/>
          </a:p>
        </p:txBody>
      </p:sp>
      <p:sp>
        <p:nvSpPr>
          <p:cNvPr id="31" name="Shape 29"/>
          <p:cNvSpPr/>
          <p:nvPr/>
        </p:nvSpPr>
        <p:spPr>
          <a:xfrm>
            <a:off x="5623677" y="447522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72663" y="449972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mTRM 협의체</a:t>
            </a:r>
            <a:endParaRPr lang="en-US" sz="424" dirty="0"/>
          </a:p>
        </p:txBody>
      </p:sp>
      <p:sp>
        <p:nvSpPr>
          <p:cNvPr id="33" name="Shape 31"/>
          <p:cNvSpPr/>
          <p:nvPr/>
        </p:nvSpPr>
        <p:spPr>
          <a:xfrm>
            <a:off x="6589614" y="447522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38600" y="449972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mTRM 관리</a:t>
            </a:r>
            <a:endParaRPr lang="en-US" sz="424" dirty="0"/>
          </a:p>
        </p:txBody>
      </p:sp>
      <p:sp>
        <p:nvSpPr>
          <p:cNvPr id="35" name="Shape 33"/>
          <p:cNvSpPr/>
          <p:nvPr/>
        </p:nvSpPr>
        <p:spPr>
          <a:xfrm>
            <a:off x="4657740" y="461238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06726" y="463688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SCR-013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기술과제 관리</a:t>
            </a:r>
            <a:endParaRPr lang="en-US" sz="424" dirty="0"/>
          </a:p>
        </p:txBody>
      </p:sp>
      <p:sp>
        <p:nvSpPr>
          <p:cNvPr id="37" name="Shape 35"/>
          <p:cNvSpPr/>
          <p:nvPr/>
        </p:nvSpPr>
        <p:spPr>
          <a:xfrm>
            <a:off x="5623677" y="461238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672663" y="463688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기술동향</a:t>
            </a:r>
            <a:endParaRPr lang="en-US" sz="424" dirty="0"/>
          </a:p>
        </p:txBody>
      </p:sp>
      <p:sp>
        <p:nvSpPr>
          <p:cNvPr id="39" name="Shape 37"/>
          <p:cNvSpPr/>
          <p:nvPr/>
        </p:nvSpPr>
        <p:spPr>
          <a:xfrm>
            <a:off x="6589614" y="4612388"/>
            <a:ext cx="941444" cy="112667"/>
          </a:xfrm>
          <a:prstGeom prst="roundRect">
            <a:avLst>
              <a:gd name="adj" fmla="val 26087"/>
            </a:avLst>
          </a:prstGeom>
          <a:solidFill>
            <a:srgbClr val="3C424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38600" y="4636881"/>
            <a:ext cx="87286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4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MTRM-MAIN</a:t>
            </a:r>
            <a:pPr algn="l" indent="0" marL="0">
              <a:buNone/>
            </a:pPr>
            <a:r>
              <a:rPr lang="en-US" sz="424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메인 대시보드</a:t>
            </a:r>
            <a:endParaRPr lang="en-US" sz="42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2038747"/>
            <a:ext cx="7638387" cy="112457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1853" y="3569622"/>
            <a:ext cx="7638387" cy="3098025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2198" y="3591388"/>
            <a:ext cx="36277" cy="298194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523619" y="6609604"/>
            <a:ext cx="7522302" cy="36277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9263581" y="0"/>
            <a:ext cx="2925258" cy="5891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385768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385768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0" name="Shape 8"/>
          <p:cNvSpPr/>
          <p:nvPr/>
        </p:nvSpPr>
        <p:spPr>
          <a:xfrm>
            <a:off x="1451066" y="143655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451066" y="143655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2" name="Shape 10"/>
          <p:cNvSpPr/>
          <p:nvPr/>
        </p:nvSpPr>
        <p:spPr>
          <a:xfrm>
            <a:off x="1451066" y="181383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51066" y="181383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4" name="Shape 12"/>
          <p:cNvSpPr/>
          <p:nvPr/>
        </p:nvSpPr>
        <p:spPr>
          <a:xfrm>
            <a:off x="1472832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472832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16" name="Shape 14"/>
          <p:cNvSpPr/>
          <p:nvPr/>
        </p:nvSpPr>
        <p:spPr>
          <a:xfrm>
            <a:off x="8973368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73368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71" dirty="0"/>
          </a:p>
        </p:txBody>
      </p:sp>
      <p:sp>
        <p:nvSpPr>
          <p:cNvPr id="18" name="Shape 16"/>
          <p:cNvSpPr/>
          <p:nvPr/>
        </p:nvSpPr>
        <p:spPr>
          <a:xfrm>
            <a:off x="9024155" y="66749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24155" y="66749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71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606859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4711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탭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부품 공정 / 모듈 공정 탭으로 공정 유형을 전환하는 영역이다. 요소 2종(부품 공정 탭, 모듈 공정 탭)으로 구성된다.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부품 공정 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 기본 활성 탭.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활성화. 활성화되면 하단 요약 현황·공정별 상세 표가 부품 공정 데이터로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활성 시 다크 배경의 필 형태로 강조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탭 전환 시 하단 콘텐츠 페이드 전환.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모듈 공정 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활성화, 하단 표가 모듈 공정 데이터로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비활성 시 회색 텍스트로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탭 전환 시 하단 콘텐츠 페이드 전환.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514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필터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제품군/제품/지역/공정/라인 5종 셀렉트 필터와 조회 버튼으로 구성된 조건 필터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조건 필터 &amp;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제품군/제품/지역/공장/라인 5종 셀렉트 각각 기본값 "{필터명} 전체".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각 셀렉트는 옵션 1개(기본값)만 노출되는 프로토타입 목업으로, 값 선택/필터 간 연동 없음. 조회 버튼 클릭 시 toast: "필터 조건으로 조회가 완료되었습니다." 노출(하단 표는 정적 데이터 유지, 실제 재조회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/api/automation/parts/summary?factory=&amp;line=®ion=&amp;product=&amp;group=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요약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라인별 자동화율/직접인원/완료일정을 비교하는 요약 매트릭스 표이다.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요약 현황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필터 조회 결과에 따라 라인 컬럼이 동적으로 구성.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941">
                <a:tc>
                  <a:txBody>
                    <a:bodyPr/>
                    <a:lstStyle/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자동화율은 "현재% → 목표%(증감폭)", 직접인원은 "현재명 → 목표명(감소폭)" 형식으로 표시. [B/P] 창원2C 라인 컬럼은 기준(베이스라인)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48779"/>
                <a:gridCol w="1621680"/>
                <a:gridCol w="1818844"/>
                <a:gridCol w="1996710"/>
                <a:gridCol w="2529312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/portal/automation/parts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49138" cy="159617"/>
        </p:xfrm>
        <a:graphic>
          <a:graphicData uri="http://schemas.openxmlformats.org/drawingml/2006/table">
            <a:tbl>
              <a:tblPr/>
              <a:tblGrid>
                <a:gridCol w="27457"/>
                <a:gridCol w="494224"/>
                <a:gridCol w="27457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294274"/>
                <a:gridCol w="3928262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현황&gt;부품 공정 자동화 현황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5841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4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›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7638387" cy="239426"/>
        </p:xfrm>
        <a:graphic>
          <a:graphicData uri="http://schemas.openxmlformats.org/drawingml/2006/table">
            <a:tbl>
              <a:tblPr/>
              <a:tblGrid>
                <a:gridCol w="861321"/>
                <a:gridCol w="864076"/>
                <a:gridCol w="5912991"/>
              </a:tblGrid>
              <a:tr h="239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6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6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516364"/>
          <a:ext cx="998713" cy="232171"/>
        </p:xfrm>
        <a:graphic>
          <a:graphicData uri="http://schemas.openxmlformats.org/drawingml/2006/table">
            <a:tbl>
              <a:tblPr/>
              <a:tblGrid>
                <a:gridCol w="827464"/>
                <a:gridCol w="54864"/>
                <a:gridCol w="116385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제품군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3119" y="1516364"/>
          <a:ext cx="998713" cy="232171"/>
        </p:xfrm>
        <a:graphic>
          <a:graphicData uri="http://schemas.openxmlformats.org/drawingml/2006/table">
            <a:tbl>
              <a:tblPr/>
              <a:tblGrid>
                <a:gridCol w="827464"/>
                <a:gridCol w="54864"/>
                <a:gridCol w="116385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44386" y="1516364"/>
          <a:ext cx="998713" cy="232171"/>
        </p:xfrm>
        <a:graphic>
          <a:graphicData uri="http://schemas.openxmlformats.org/drawingml/2006/table">
            <a:tbl>
              <a:tblPr/>
              <a:tblGrid>
                <a:gridCol w="827464"/>
                <a:gridCol w="54864"/>
                <a:gridCol w="116385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15652" y="1516364"/>
          <a:ext cx="998713" cy="232171"/>
        </p:xfrm>
        <a:graphic>
          <a:graphicData uri="http://schemas.openxmlformats.org/drawingml/2006/table">
            <a:tbl>
              <a:tblPr/>
              <a:tblGrid>
                <a:gridCol w="827464"/>
                <a:gridCol w="54864"/>
                <a:gridCol w="116385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86918" y="1516364"/>
          <a:ext cx="998713" cy="232171"/>
        </p:xfrm>
        <a:graphic>
          <a:graphicData uri="http://schemas.openxmlformats.org/drawingml/2006/table">
            <a:tbl>
              <a:tblPr/>
              <a:tblGrid>
                <a:gridCol w="827464"/>
                <a:gridCol w="54864"/>
                <a:gridCol w="116385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라인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17857" y="1516364"/>
          <a:ext cx="553133" cy="232171"/>
        </p:xfrm>
        <a:graphic>
          <a:graphicData uri="http://schemas.openxmlformats.org/drawingml/2006/table">
            <a:tbl>
              <a:tblPr/>
              <a:tblGrid>
                <a:gridCol w="553133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893641"/>
          <a:ext cx="7870558" cy="180875"/>
        </p:xfrm>
        <a:graphic>
          <a:graphicData uri="http://schemas.openxmlformats.org/drawingml/2006/table">
            <a:tbl>
              <a:tblPr/>
              <a:tblGrid>
                <a:gridCol w="7870558"/>
              </a:tblGrid>
              <a:tr h="180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 현황</a:t>
                      </a:r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(공장/라인별 자동화율·직접인원 현재→개선 및 중장기 완료일정)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2046003"/>
          <a:ext cx="7623877" cy="1109835"/>
        </p:xfrm>
        <a:graphic>
          <a:graphicData uri="http://schemas.openxmlformats.org/drawingml/2006/table">
            <a:tbl>
              <a:tblPr/>
              <a:tblGrid>
                <a:gridCol w="655653"/>
                <a:gridCol w="937737"/>
                <a:gridCol w="754001"/>
                <a:gridCol w="754001"/>
                <a:gridCol w="754001"/>
                <a:gridCol w="754001"/>
                <a:gridCol w="754001"/>
                <a:gridCol w="754001"/>
                <a:gridCol w="754001"/>
                <a:gridCol w="752477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72% → 94% (22%▲)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71% → 94% (23%▲)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67% → 94% (27%▲)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63% → 94% (31%▲)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47% → 93% (46%▲)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 → 93% (53%▲)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직접인원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1명 (3명▼)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1명 (3명▼)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1명 (4명▼)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 → 1명 (3명▼)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1명 (4명▼)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1명 (5명▼)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 → 1명 (4명▼)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6명 → 1명 (5명▼)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완료일정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3373728"/>
          <a:ext cx="5839066" cy="180875"/>
        </p:xfrm>
        <a:graphic>
          <a:graphicData uri="http://schemas.openxmlformats.org/drawingml/2006/table">
            <a:tbl>
              <a:tblPr/>
              <a:tblGrid>
                <a:gridCol w="5839066"/>
              </a:tblGrid>
              <a:tr h="180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공정별 상세</a:t>
                      </a:r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(현재/개선/주요내용 · 공정/라인별 확대전개계획, 현재=자동 선택 시 동영상 팝업)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40919" y="3337451"/>
          <a:ext cx="675896" cy="217660"/>
        </p:xfrm>
        <a:graphic>
          <a:graphicData uri="http://schemas.openxmlformats.org/drawingml/2006/table">
            <a:tbl>
              <a:tblPr/>
              <a:tblGrid>
                <a:gridCol w="675896"/>
              </a:tblGrid>
              <a:tr h="217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공정 등록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37430" y="3337451"/>
          <a:ext cx="430116" cy="217660"/>
        </p:xfrm>
        <a:graphic>
          <a:graphicData uri="http://schemas.openxmlformats.org/drawingml/2006/table">
            <a:tbl>
              <a:tblPr/>
              <a:tblGrid>
                <a:gridCol w="430116"/>
              </a:tblGrid>
              <a:tr h="217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1771" y="3337451"/>
          <a:ext cx="675896" cy="217660"/>
        </p:xfrm>
        <a:graphic>
          <a:graphicData uri="http://schemas.openxmlformats.org/drawingml/2006/table">
            <a:tbl>
              <a:tblPr/>
              <a:tblGrid>
                <a:gridCol w="675896"/>
              </a:tblGrid>
              <a:tr h="217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이메일 공유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3576877"/>
          <a:ext cx="7623877" cy="2707350"/>
        </p:xfrm>
        <a:graphic>
          <a:graphicData uri="http://schemas.openxmlformats.org/drawingml/2006/table">
            <a:tbl>
              <a:tblPr/>
              <a:tblGrid>
                <a:gridCol w="205845"/>
                <a:gridCol w="800507"/>
                <a:gridCol w="495552"/>
                <a:gridCol w="495552"/>
                <a:gridCol w="1166453"/>
                <a:gridCol w="557305"/>
                <a:gridCol w="557305"/>
                <a:gridCol w="557305"/>
                <a:gridCol w="557305"/>
                <a:gridCol w="557305"/>
                <a:gridCol w="557305"/>
                <a:gridCol w="557305"/>
                <a:gridCol w="558830"/>
              </a:tblGrid>
              <a:tr h="2128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12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오버몰딩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13년)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파워헤드 버퍼적재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 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923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42년)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조립 (추정)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45년)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56032">
                <a:tc gridSpan="1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공정 목록(NO 1–17)은 다음 화면(공정별 상세 전체)에서 확인 가능합니다.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0" name="Shape 18"/>
          <p:cNvSpPr/>
          <p:nvPr/>
        </p:nvSpPr>
        <p:spPr>
          <a:xfrm>
            <a:off x="1385768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1" name="Text 19"/>
          <p:cNvSpPr txBox="1"/>
          <p:nvPr/>
        </p:nvSpPr>
        <p:spPr>
          <a:xfrm>
            <a:off x="1385768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42" name="Shape 20"/>
          <p:cNvSpPr/>
          <p:nvPr/>
        </p:nvSpPr>
        <p:spPr>
          <a:xfrm>
            <a:off x="1451066" y="143655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3" name="Text 21"/>
          <p:cNvSpPr txBox="1"/>
          <p:nvPr/>
        </p:nvSpPr>
        <p:spPr>
          <a:xfrm>
            <a:off x="1451066" y="143655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44" name="Shape 22"/>
          <p:cNvSpPr/>
          <p:nvPr/>
        </p:nvSpPr>
        <p:spPr>
          <a:xfrm>
            <a:off x="1451066" y="181383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5" name="Text 23"/>
          <p:cNvSpPr txBox="1"/>
          <p:nvPr/>
        </p:nvSpPr>
        <p:spPr>
          <a:xfrm>
            <a:off x="1451066" y="181383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46" name="Shape 24"/>
          <p:cNvSpPr/>
          <p:nvPr/>
        </p:nvSpPr>
        <p:spPr>
          <a:xfrm>
            <a:off x="1472832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7" name="Text 25"/>
          <p:cNvSpPr txBox="1"/>
          <p:nvPr/>
        </p:nvSpPr>
        <p:spPr>
          <a:xfrm>
            <a:off x="1472832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48" name="Shape 26"/>
          <p:cNvSpPr/>
          <p:nvPr/>
        </p:nvSpPr>
        <p:spPr>
          <a:xfrm>
            <a:off x="8973368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9" name="Text 27"/>
          <p:cNvSpPr txBox="1"/>
          <p:nvPr/>
        </p:nvSpPr>
        <p:spPr>
          <a:xfrm>
            <a:off x="8973368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71" dirty="0"/>
          </a:p>
        </p:txBody>
      </p:sp>
      <p:sp>
        <p:nvSpPr>
          <p:cNvPr id="50" name="Shape 28"/>
          <p:cNvSpPr/>
          <p:nvPr/>
        </p:nvSpPr>
        <p:spPr>
          <a:xfrm>
            <a:off x="9024155" y="66749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51" name="Text 29"/>
          <p:cNvSpPr txBox="1"/>
          <p:nvPr/>
        </p:nvSpPr>
        <p:spPr>
          <a:xfrm>
            <a:off x="9024155" y="66749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71" dirty="0"/>
          </a:p>
        </p:txBody>
      </p:sp>
      <p:sp>
        <p:nvSpPr>
          <p:cNvPr id="52" name="Text 30"/>
          <p:cNvSpPr/>
          <p:nvPr/>
        </p:nvSpPr>
        <p:spPr>
          <a:xfrm>
            <a:off x="9394177" y="6565392"/>
            <a:ext cx="2678577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96756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64003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264003" y="348765"/>
            <a:ext cx="1079910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/portal/automation/parts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59059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590594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99566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5753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Shape 16"/>
          <p:cNvSpPr/>
          <p:nvPr/>
        </p:nvSpPr>
        <p:spPr>
          <a:xfrm>
            <a:off x="7255" y="1313214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8830" y="137125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180657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488578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5" name="Text 23"/>
          <p:cNvSpPr txBox="1"/>
          <p:nvPr/>
        </p:nvSpPr>
        <p:spPr>
          <a:xfrm>
            <a:off x="108830" y="2684472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108830" y="2902131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105281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210405" y="3286664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482558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700218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39178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1355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3" name="Text 31"/>
          <p:cNvSpPr txBox="1"/>
          <p:nvPr/>
        </p:nvSpPr>
        <p:spPr>
          <a:xfrm>
            <a:off x="108830" y="435319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108830" y="457085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1501853" y="1146342"/>
            <a:ext cx="638015" cy="239426"/>
          </a:xfrm>
          <a:prstGeom prst="roundRect">
            <a:avLst>
              <a:gd name="adj" fmla="val 15152"/>
            </a:avLst>
          </a:prstGeom>
          <a:solidFill>
            <a:srgbClr val="33333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646960" y="1211640"/>
            <a:ext cx="391334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2343018" y="1211640"/>
            <a:ext cx="39337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501853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59896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제품군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17599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75642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533345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91388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49091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07134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564837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22880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617857" y="1516364"/>
            <a:ext cx="522384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17857" y="1516364"/>
            <a:ext cx="565916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50" name="Text 48"/>
          <p:cNvSpPr txBox="1"/>
          <p:nvPr/>
        </p:nvSpPr>
        <p:spPr>
          <a:xfrm>
            <a:off x="1501853" y="1893641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현황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(공장/라인별 자동화율·직접인원 현재→개선 및 중장기 완료일정)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501853" y="2038747"/>
            <a:ext cx="7638387" cy="112457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12736" y="2049630"/>
            <a:ext cx="65502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570779" y="2107673"/>
            <a:ext cx="57168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2167756" y="2049630"/>
            <a:ext cx="936844" cy="224915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225799" y="2107673"/>
            <a:ext cx="8642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[B/P] 창원2C 라인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3104600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62643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2A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3857794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15837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2B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4610988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69031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2D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5364182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422224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2E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6117376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175418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MSK 조립1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6870569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28612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MMX 조립1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7623763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81806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조립1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8376957" y="2049630"/>
            <a:ext cx="75240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435000" y="2107673"/>
            <a:ext cx="673935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조립2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1512736" y="2274546"/>
            <a:ext cx="655020" cy="326490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570779" y="2332588"/>
            <a:ext cx="571686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자동화율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2167756" y="2274546"/>
            <a:ext cx="936844" cy="326490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225799" y="2332588"/>
            <a:ext cx="864291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72% → 94% (22%▲)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3104600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162643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71% → 94% (23%▲)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3857794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915837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67% → 94% (27%▲)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4610988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669031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63%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5364182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422224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63% → 94% (31%▲)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6117376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175418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47% → 93% (46%▲)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6870569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928612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 → 93% (53%▲)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7623763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681806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47% → 93% (46%▲)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8376957" y="2274546"/>
            <a:ext cx="752400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435000" y="2332588"/>
            <a:ext cx="673935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 → 93% (53%▲)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1512736" y="2601035"/>
            <a:ext cx="655020" cy="326490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570779" y="2659078"/>
            <a:ext cx="571686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직접인원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2167756" y="2601035"/>
            <a:ext cx="936844" cy="326490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225799" y="2659078"/>
            <a:ext cx="864291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 → 1명 (3명▼)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3104600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162643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 → 1명 (3명▼)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3857794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915837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→ 1명 (4명▼)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4610988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669031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5364182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422224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 → 1명 (3명▼)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6117376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175418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→ 1명 (4명▼)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6870569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928612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6명 → 1명 (5명▼)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7623763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681806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→ 1명 (4명▼)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8376957" y="2601035"/>
            <a:ext cx="752400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435000" y="2659078"/>
            <a:ext cx="673935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6명 → 1명 (5명▼)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1512736" y="2927525"/>
            <a:ext cx="655020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570779" y="2985568"/>
            <a:ext cx="57168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완료일정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2167756" y="2927525"/>
            <a:ext cx="936844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225799" y="2985568"/>
            <a:ext cx="8642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'27년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3104600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162643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'27년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3857794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915837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4610988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669031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5364182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5422224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6117376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175418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6870569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6928612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7623763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7681806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8376957" y="2927525"/>
            <a:ext cx="75240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435000" y="2985568"/>
            <a:ext cx="673935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32" name="Text 130"/>
          <p:cNvSpPr txBox="1"/>
          <p:nvPr/>
        </p:nvSpPr>
        <p:spPr>
          <a:xfrm>
            <a:off x="1501853" y="3373728"/>
            <a:ext cx="308759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(현재/개선/주요내용 · 공정/라인별 확대전개계획, 현재=자동 선택 시 동영상 팝업)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7340919" y="3337451"/>
            <a:ext cx="638469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7340919" y="3337451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공정 등록</a:t>
            </a:r>
            <a:endParaRPr lang="en-US" sz="686" dirty="0"/>
          </a:p>
        </p:txBody>
      </p:sp>
      <p:sp>
        <p:nvSpPr>
          <p:cNvPr id="135" name="Shape 133"/>
          <p:cNvSpPr/>
          <p:nvPr/>
        </p:nvSpPr>
        <p:spPr>
          <a:xfrm>
            <a:off x="8037430" y="3337451"/>
            <a:ext cx="406298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8037430" y="3337451"/>
            <a:ext cx="449830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686" dirty="0"/>
          </a:p>
        </p:txBody>
      </p:sp>
      <p:sp>
        <p:nvSpPr>
          <p:cNvPr id="137" name="Shape 135"/>
          <p:cNvSpPr/>
          <p:nvPr/>
        </p:nvSpPr>
        <p:spPr>
          <a:xfrm>
            <a:off x="8501771" y="3337451"/>
            <a:ext cx="638469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501771" y="3337451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686" dirty="0"/>
          </a:p>
        </p:txBody>
      </p:sp>
      <p:sp>
        <p:nvSpPr>
          <p:cNvPr id="139" name="Shape 137"/>
          <p:cNvSpPr/>
          <p:nvPr/>
        </p:nvSpPr>
        <p:spPr>
          <a:xfrm>
            <a:off x="1501853" y="3569622"/>
            <a:ext cx="7638387" cy="3098025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12736" y="3580505"/>
            <a:ext cx="20564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570779" y="3638547"/>
            <a:ext cx="9984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1718379" y="3580505"/>
            <a:ext cx="79967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776422" y="3638547"/>
            <a:ext cx="723572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2518052" y="3580505"/>
            <a:ext cx="2155399" cy="224915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2576095" y="3638547"/>
            <a:ext cx="20828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[B/P] 창원2C 라인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4673452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4731495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2A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5230185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5288228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2B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5786918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5844961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2D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6343651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6401694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2E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6900384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6958427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MSK 조립1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7457117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7515160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MMX 조립1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8013851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071893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조립1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8570584" y="3580505"/>
            <a:ext cx="558774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8628626" y="3638547"/>
            <a:ext cx="470627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조립2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2518052" y="3805420"/>
            <a:ext cx="495063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561584" y="3848952"/>
            <a:ext cx="432752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628" dirty="0"/>
          </a:p>
        </p:txBody>
      </p:sp>
      <p:sp>
        <p:nvSpPr>
          <p:cNvPr id="164" name="Shape 162"/>
          <p:cNvSpPr/>
          <p:nvPr/>
        </p:nvSpPr>
        <p:spPr>
          <a:xfrm>
            <a:off x="3013115" y="3805420"/>
            <a:ext cx="495063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3056647" y="3848952"/>
            <a:ext cx="432752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628" dirty="0"/>
          </a:p>
        </p:txBody>
      </p:sp>
      <p:sp>
        <p:nvSpPr>
          <p:cNvPr id="166" name="Shape 164"/>
          <p:cNvSpPr/>
          <p:nvPr/>
        </p:nvSpPr>
        <p:spPr>
          <a:xfrm>
            <a:off x="3508178" y="3805420"/>
            <a:ext cx="1165274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3551710" y="3848952"/>
            <a:ext cx="1121742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주요내용</a:t>
            </a:r>
            <a:endParaRPr lang="en-US" sz="628" dirty="0"/>
          </a:p>
        </p:txBody>
      </p:sp>
      <p:sp>
        <p:nvSpPr>
          <p:cNvPr id="168" name="Shape 166"/>
          <p:cNvSpPr/>
          <p:nvPr/>
        </p:nvSpPr>
        <p:spPr>
          <a:xfrm>
            <a:off x="1512736" y="3994058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1570779" y="4052101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1718379" y="3994058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1776422" y="4052101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오버몰딩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2518052" y="3994058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2576095" y="4052101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3013115" y="3994058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3071158" y="4052101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3508178" y="3994058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3566221" y="4052101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4673452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4731495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5230185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5288228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5786918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5844961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84" name="Shape 182"/>
          <p:cNvSpPr/>
          <p:nvPr/>
        </p:nvSpPr>
        <p:spPr>
          <a:xfrm>
            <a:off x="6343651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6401694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86" name="Shape 184"/>
          <p:cNvSpPr/>
          <p:nvPr/>
        </p:nvSpPr>
        <p:spPr>
          <a:xfrm>
            <a:off x="6900384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6958427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188" name="Shape 186"/>
          <p:cNvSpPr/>
          <p:nvPr/>
        </p:nvSpPr>
        <p:spPr>
          <a:xfrm>
            <a:off x="7457117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7515160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190" name="Shape 188"/>
          <p:cNvSpPr/>
          <p:nvPr/>
        </p:nvSpPr>
        <p:spPr>
          <a:xfrm>
            <a:off x="8013851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8071893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92" name="Shape 190"/>
          <p:cNvSpPr/>
          <p:nvPr/>
        </p:nvSpPr>
        <p:spPr>
          <a:xfrm>
            <a:off x="8570584" y="3994058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8628626" y="4052101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협의必(ROI 13년) 1명</a:t>
            </a:r>
            <a:endParaRPr lang="en-US" sz="686" dirty="0"/>
          </a:p>
        </p:txBody>
      </p:sp>
      <p:sp>
        <p:nvSpPr>
          <p:cNvPr id="194" name="Shape 192"/>
          <p:cNvSpPr/>
          <p:nvPr/>
        </p:nvSpPr>
        <p:spPr>
          <a:xfrm>
            <a:off x="1512736" y="4596251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1570779" y="4654293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96" name="Shape 194"/>
          <p:cNvSpPr/>
          <p:nvPr/>
        </p:nvSpPr>
        <p:spPr>
          <a:xfrm>
            <a:off x="1718379" y="4596251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1776422" y="4654293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파워헤드 버퍼적재</a:t>
            </a:r>
            <a:endParaRPr lang="en-US" sz="686" dirty="0"/>
          </a:p>
        </p:txBody>
      </p:sp>
      <p:sp>
        <p:nvSpPr>
          <p:cNvPr id="198" name="Shape 196"/>
          <p:cNvSpPr/>
          <p:nvPr/>
        </p:nvSpPr>
        <p:spPr>
          <a:xfrm>
            <a:off x="2518052" y="4596251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2576095" y="4654293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686" dirty="0"/>
          </a:p>
        </p:txBody>
      </p:sp>
      <p:sp>
        <p:nvSpPr>
          <p:cNvPr id="200" name="Shape 198"/>
          <p:cNvSpPr/>
          <p:nvPr/>
        </p:nvSpPr>
        <p:spPr>
          <a:xfrm>
            <a:off x="3013115" y="4596251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3071158" y="4654293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02" name="Shape 200"/>
          <p:cNvSpPr/>
          <p:nvPr/>
        </p:nvSpPr>
        <p:spPr>
          <a:xfrm>
            <a:off x="3508178" y="4596251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3566221" y="4654293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6축로봇 + 버퍼교체</a:t>
            </a:r>
            <a:endParaRPr lang="en-US" sz="686" dirty="0"/>
          </a:p>
        </p:txBody>
      </p:sp>
      <p:sp>
        <p:nvSpPr>
          <p:cNvPr id="204" name="Shape 202"/>
          <p:cNvSpPr/>
          <p:nvPr/>
        </p:nvSpPr>
        <p:spPr>
          <a:xfrm>
            <a:off x="4673452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4731495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06" name="Shape 204"/>
          <p:cNvSpPr/>
          <p:nvPr/>
        </p:nvSpPr>
        <p:spPr>
          <a:xfrm>
            <a:off x="5230185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5288228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6축로봇 + 버퍼교체</a:t>
            </a:r>
            <a:endParaRPr lang="en-US" sz="686" dirty="0"/>
          </a:p>
        </p:txBody>
      </p:sp>
      <p:sp>
        <p:nvSpPr>
          <p:cNvPr id="208" name="Shape 206"/>
          <p:cNvSpPr/>
          <p:nvPr/>
        </p:nvSpPr>
        <p:spPr>
          <a:xfrm>
            <a:off x="5786918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5844961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10" name="Shape 208"/>
          <p:cNvSpPr/>
          <p:nvPr/>
        </p:nvSpPr>
        <p:spPr>
          <a:xfrm>
            <a:off x="6343651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6401694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12" name="Shape 210"/>
          <p:cNvSpPr/>
          <p:nvPr/>
        </p:nvSpPr>
        <p:spPr>
          <a:xfrm>
            <a:off x="6900384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6958427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214" name="Shape 212"/>
          <p:cNvSpPr/>
          <p:nvPr/>
        </p:nvSpPr>
        <p:spPr>
          <a:xfrm>
            <a:off x="7457117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7515160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216" name="Shape 214"/>
          <p:cNvSpPr/>
          <p:nvPr/>
        </p:nvSpPr>
        <p:spPr>
          <a:xfrm>
            <a:off x="8013851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8071893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18" name="Shape 216"/>
          <p:cNvSpPr/>
          <p:nvPr/>
        </p:nvSpPr>
        <p:spPr>
          <a:xfrm>
            <a:off x="8570584" y="4596251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8628626" y="4654293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 불가) 1명</a:t>
            </a:r>
            <a:endParaRPr lang="en-US" sz="686" dirty="0"/>
          </a:p>
        </p:txBody>
      </p:sp>
      <p:sp>
        <p:nvSpPr>
          <p:cNvPr id="220" name="Shape 218"/>
          <p:cNvSpPr/>
          <p:nvPr/>
        </p:nvSpPr>
        <p:spPr>
          <a:xfrm>
            <a:off x="1512736" y="5198443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1570779" y="5256486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222" name="Shape 220"/>
          <p:cNvSpPr/>
          <p:nvPr/>
        </p:nvSpPr>
        <p:spPr>
          <a:xfrm>
            <a:off x="1718379" y="5198443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1776422" y="5256486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인풋풀 조립</a:t>
            </a:r>
            <a:endParaRPr lang="en-US" sz="686" dirty="0"/>
          </a:p>
        </p:txBody>
      </p:sp>
      <p:sp>
        <p:nvSpPr>
          <p:cNvPr id="224" name="Shape 222"/>
          <p:cNvSpPr/>
          <p:nvPr/>
        </p:nvSpPr>
        <p:spPr>
          <a:xfrm>
            <a:off x="2518052" y="5198443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2576095" y="5256486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686" dirty="0"/>
          </a:p>
        </p:txBody>
      </p:sp>
      <p:sp>
        <p:nvSpPr>
          <p:cNvPr id="226" name="Shape 224"/>
          <p:cNvSpPr/>
          <p:nvPr/>
        </p:nvSpPr>
        <p:spPr>
          <a:xfrm>
            <a:off x="3013115" y="5198443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3071158" y="5256486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28" name="Shape 226"/>
          <p:cNvSpPr/>
          <p:nvPr/>
        </p:nvSpPr>
        <p:spPr>
          <a:xfrm>
            <a:off x="3508178" y="5198443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3566221" y="5256486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인풋풀 조립 인덱스, 컬럼 로딩/조립로봇 外</a:t>
            </a:r>
            <a:endParaRPr lang="en-US" sz="686" dirty="0"/>
          </a:p>
        </p:txBody>
      </p:sp>
      <p:sp>
        <p:nvSpPr>
          <p:cNvPr id="230" name="Shape 228"/>
          <p:cNvSpPr/>
          <p:nvPr/>
        </p:nvSpPr>
        <p:spPr>
          <a:xfrm>
            <a:off x="4673452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4731495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32" name="Shape 230"/>
          <p:cNvSpPr/>
          <p:nvPr/>
        </p:nvSpPr>
        <p:spPr>
          <a:xfrm>
            <a:off x="5230185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5288228" y="5256486"/>
            <a:ext cx="468485" cy="52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인풋풀 조립 인덱스, 컬럼 로딩/조립로봇 外</a:t>
            </a:r>
            <a:endParaRPr lang="en-US" sz="686" dirty="0"/>
          </a:p>
        </p:txBody>
      </p:sp>
      <p:sp>
        <p:nvSpPr>
          <p:cNvPr id="234" name="Shape 232"/>
          <p:cNvSpPr/>
          <p:nvPr/>
        </p:nvSpPr>
        <p:spPr>
          <a:xfrm>
            <a:off x="5786918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5844961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36" name="Shape 234"/>
          <p:cNvSpPr/>
          <p:nvPr/>
        </p:nvSpPr>
        <p:spPr>
          <a:xfrm>
            <a:off x="6343651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6401694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38" name="Shape 236"/>
          <p:cNvSpPr/>
          <p:nvPr/>
        </p:nvSpPr>
        <p:spPr>
          <a:xfrm>
            <a:off x="6900384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6958427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미적용(협의中) 1명</a:t>
            </a:r>
            <a:endParaRPr lang="en-US" sz="686" dirty="0"/>
          </a:p>
        </p:txBody>
      </p:sp>
      <p:sp>
        <p:nvSpPr>
          <p:cNvPr id="240" name="Shape 238"/>
          <p:cNvSpPr/>
          <p:nvPr/>
        </p:nvSpPr>
        <p:spPr>
          <a:xfrm>
            <a:off x="7457117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7515160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가능('29)</a:t>
            </a:r>
            <a:endParaRPr lang="en-US" sz="686" dirty="0"/>
          </a:p>
        </p:txBody>
      </p:sp>
      <p:sp>
        <p:nvSpPr>
          <p:cNvPr id="242" name="Shape 240"/>
          <p:cNvSpPr/>
          <p:nvPr/>
        </p:nvSpPr>
        <p:spPr>
          <a:xfrm>
            <a:off x="8013851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8071893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협의必(ROI 42년) 1명</a:t>
            </a:r>
            <a:endParaRPr lang="en-US" sz="686" dirty="0"/>
          </a:p>
        </p:txBody>
      </p:sp>
      <p:sp>
        <p:nvSpPr>
          <p:cNvPr id="244" name="Shape 242"/>
          <p:cNvSpPr/>
          <p:nvPr/>
        </p:nvSpPr>
        <p:spPr>
          <a:xfrm>
            <a:off x="8570584" y="5198443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5" name="Text 243"/>
          <p:cNvSpPr txBox="1"/>
          <p:nvPr/>
        </p:nvSpPr>
        <p:spPr>
          <a:xfrm>
            <a:off x="8628626" y="5256486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46" name="Shape 244"/>
          <p:cNvSpPr/>
          <p:nvPr/>
        </p:nvSpPr>
        <p:spPr>
          <a:xfrm>
            <a:off x="1512736" y="5800635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1570779" y="5858678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686" dirty="0"/>
          </a:p>
        </p:txBody>
      </p:sp>
      <p:sp>
        <p:nvSpPr>
          <p:cNvPr id="248" name="Shape 246"/>
          <p:cNvSpPr/>
          <p:nvPr/>
        </p:nvSpPr>
        <p:spPr>
          <a:xfrm>
            <a:off x="1718379" y="5800635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9" name="Text 247"/>
          <p:cNvSpPr txBox="1"/>
          <p:nvPr/>
        </p:nvSpPr>
        <p:spPr>
          <a:xfrm>
            <a:off x="1776422" y="5858678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조립 (추정)</a:t>
            </a:r>
            <a:endParaRPr lang="en-US" sz="686" dirty="0"/>
          </a:p>
        </p:txBody>
      </p:sp>
      <p:sp>
        <p:nvSpPr>
          <p:cNvPr id="250" name="Shape 248"/>
          <p:cNvSpPr/>
          <p:nvPr/>
        </p:nvSpPr>
        <p:spPr>
          <a:xfrm>
            <a:off x="2518052" y="5800635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1" name="Text 249"/>
          <p:cNvSpPr txBox="1"/>
          <p:nvPr/>
        </p:nvSpPr>
        <p:spPr>
          <a:xfrm>
            <a:off x="2576095" y="5858678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</a:t>
            </a:r>
            <a:endParaRPr lang="en-US" sz="686" dirty="0"/>
          </a:p>
        </p:txBody>
      </p:sp>
      <p:sp>
        <p:nvSpPr>
          <p:cNvPr id="252" name="Shape 250"/>
          <p:cNvSpPr/>
          <p:nvPr/>
        </p:nvSpPr>
        <p:spPr>
          <a:xfrm>
            <a:off x="3013115" y="5800635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3" name="Text 251"/>
          <p:cNvSpPr txBox="1"/>
          <p:nvPr/>
        </p:nvSpPr>
        <p:spPr>
          <a:xfrm>
            <a:off x="3071158" y="5858678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54" name="Shape 252"/>
          <p:cNvSpPr/>
          <p:nvPr/>
        </p:nvSpPr>
        <p:spPr>
          <a:xfrm>
            <a:off x="3508178" y="5800635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>
            <a:off x="3566221" y="5858678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가능('29)</a:t>
            </a:r>
            <a:endParaRPr lang="en-US" sz="686" dirty="0"/>
          </a:p>
        </p:txBody>
      </p:sp>
      <p:sp>
        <p:nvSpPr>
          <p:cNvPr id="256" name="Shape 254"/>
          <p:cNvSpPr/>
          <p:nvPr/>
        </p:nvSpPr>
        <p:spPr>
          <a:xfrm>
            <a:off x="4673452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7" name="Text 255"/>
          <p:cNvSpPr txBox="1"/>
          <p:nvPr/>
        </p:nvSpPr>
        <p:spPr>
          <a:xfrm>
            <a:off x="4731495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58" name="Shape 256"/>
          <p:cNvSpPr/>
          <p:nvPr/>
        </p:nvSpPr>
        <p:spPr>
          <a:xfrm>
            <a:off x="5230185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9" name="Text 257"/>
          <p:cNvSpPr txBox="1"/>
          <p:nvPr/>
        </p:nvSpPr>
        <p:spPr>
          <a:xfrm>
            <a:off x="5288228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가능('29)</a:t>
            </a:r>
            <a:endParaRPr lang="en-US" sz="686" dirty="0"/>
          </a:p>
        </p:txBody>
      </p:sp>
      <p:sp>
        <p:nvSpPr>
          <p:cNvPr id="260" name="Shape 258"/>
          <p:cNvSpPr/>
          <p:nvPr/>
        </p:nvSpPr>
        <p:spPr>
          <a:xfrm>
            <a:off x="5786918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1" name="Text 259"/>
          <p:cNvSpPr txBox="1"/>
          <p:nvPr/>
        </p:nvSpPr>
        <p:spPr>
          <a:xfrm>
            <a:off x="5844961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미적용(협의中) 1명</a:t>
            </a:r>
            <a:endParaRPr lang="en-US" sz="686" dirty="0"/>
          </a:p>
        </p:txBody>
      </p:sp>
      <p:sp>
        <p:nvSpPr>
          <p:cNvPr id="262" name="Shape 260"/>
          <p:cNvSpPr/>
          <p:nvPr/>
        </p:nvSpPr>
        <p:spPr>
          <a:xfrm>
            <a:off x="6343651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3" name="Text 261"/>
          <p:cNvSpPr txBox="1"/>
          <p:nvPr/>
        </p:nvSpPr>
        <p:spPr>
          <a:xfrm>
            <a:off x="6401694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가능('30)</a:t>
            </a:r>
            <a:endParaRPr lang="en-US" sz="686" dirty="0"/>
          </a:p>
        </p:txBody>
      </p:sp>
      <p:sp>
        <p:nvSpPr>
          <p:cNvPr id="264" name="Shape 262"/>
          <p:cNvSpPr/>
          <p:nvPr/>
        </p:nvSpPr>
        <p:spPr>
          <a:xfrm>
            <a:off x="6900384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5" name="Text 263"/>
          <p:cNvSpPr txBox="1"/>
          <p:nvPr/>
        </p:nvSpPr>
        <p:spPr>
          <a:xfrm>
            <a:off x="6958427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협의必(ROI 45년) 1명</a:t>
            </a:r>
            <a:endParaRPr lang="en-US" sz="686" dirty="0"/>
          </a:p>
        </p:txBody>
      </p:sp>
      <p:sp>
        <p:nvSpPr>
          <p:cNvPr id="266" name="Shape 264"/>
          <p:cNvSpPr/>
          <p:nvPr/>
        </p:nvSpPr>
        <p:spPr>
          <a:xfrm>
            <a:off x="7457117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7" name="Text 265"/>
          <p:cNvSpPr txBox="1"/>
          <p:nvPr/>
        </p:nvSpPr>
        <p:spPr>
          <a:xfrm>
            <a:off x="7515160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68" name="Shape 266"/>
          <p:cNvSpPr/>
          <p:nvPr/>
        </p:nvSpPr>
        <p:spPr>
          <a:xfrm>
            <a:off x="8013851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9" name="Text 267"/>
          <p:cNvSpPr txBox="1"/>
          <p:nvPr/>
        </p:nvSpPr>
        <p:spPr>
          <a:xfrm>
            <a:off x="8071893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70" name="Shape 268"/>
          <p:cNvSpPr/>
          <p:nvPr/>
        </p:nvSpPr>
        <p:spPr>
          <a:xfrm>
            <a:off x="8570584" y="5800635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1" name="Text 269"/>
          <p:cNvSpPr txBox="1"/>
          <p:nvPr/>
        </p:nvSpPr>
        <p:spPr>
          <a:xfrm>
            <a:off x="8628626" y="5858678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72" name="Shape 270"/>
          <p:cNvSpPr/>
          <p:nvPr/>
        </p:nvSpPr>
        <p:spPr>
          <a:xfrm>
            <a:off x="1512736" y="6402827"/>
            <a:ext cx="7616621" cy="253936"/>
          </a:xfrm>
          <a:prstGeom prst="rect">
            <a:avLst/>
          </a:prstGeom>
          <a:solidFill>
            <a:srgbClr val="FAFAFA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73" name="Text 271"/>
          <p:cNvSpPr txBox="1"/>
          <p:nvPr/>
        </p:nvSpPr>
        <p:spPr>
          <a:xfrm>
            <a:off x="1570779" y="6475381"/>
            <a:ext cx="75440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공정 목록(NO 1–17)은 다음 화면(공정별 상세 전체)에서 확인 가능합니다.</a:t>
            </a:r>
            <a:endParaRPr lang="en-US" sz="686" dirty="0"/>
          </a:p>
        </p:txBody>
      </p:sp>
      <p:sp>
        <p:nvSpPr>
          <p:cNvPr id="274" name="Shape 272"/>
          <p:cNvSpPr/>
          <p:nvPr/>
        </p:nvSpPr>
        <p:spPr>
          <a:xfrm>
            <a:off x="9082198" y="3591388"/>
            <a:ext cx="36277" cy="298194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523619" y="6609604"/>
            <a:ext cx="7522302" cy="36277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263581" y="0"/>
            <a:ext cx="2925258" cy="49844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333765" y="80534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78" name="Text 276"/>
          <p:cNvSpPr txBox="1"/>
          <p:nvPr/>
        </p:nvSpPr>
        <p:spPr>
          <a:xfrm>
            <a:off x="8333765" y="80534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6-1</a:t>
            </a:r>
            <a:endParaRPr lang="en-US" sz="514" dirty="0"/>
          </a:p>
        </p:txBody>
      </p:sp>
      <p:sp>
        <p:nvSpPr>
          <p:cNvPr id="279" name="Shape 277"/>
          <p:cNvSpPr/>
          <p:nvPr/>
        </p:nvSpPr>
        <p:spPr>
          <a:xfrm>
            <a:off x="8806495" y="80534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0" name="Text 278"/>
          <p:cNvSpPr txBox="1"/>
          <p:nvPr/>
        </p:nvSpPr>
        <p:spPr>
          <a:xfrm>
            <a:off x="8806495" y="80534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6-2</a:t>
            </a:r>
            <a:endParaRPr lang="en-US" sz="514" dirty="0"/>
          </a:p>
        </p:txBody>
      </p:sp>
      <p:sp>
        <p:nvSpPr>
          <p:cNvPr id="281" name="Shape 279"/>
          <p:cNvSpPr/>
          <p:nvPr/>
        </p:nvSpPr>
        <p:spPr>
          <a:xfrm>
            <a:off x="2009273" y="127693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2" name="Text 280"/>
          <p:cNvSpPr txBox="1"/>
          <p:nvPr/>
        </p:nvSpPr>
        <p:spPr>
          <a:xfrm>
            <a:off x="2009273" y="127693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283" name="Shape 281"/>
          <p:cNvSpPr/>
          <p:nvPr/>
        </p:nvSpPr>
        <p:spPr>
          <a:xfrm>
            <a:off x="2707371" y="127693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4" name="Text 282"/>
          <p:cNvSpPr txBox="1"/>
          <p:nvPr/>
        </p:nvSpPr>
        <p:spPr>
          <a:xfrm>
            <a:off x="2707371" y="127693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285" name="Shape 283"/>
          <p:cNvSpPr/>
          <p:nvPr/>
        </p:nvSpPr>
        <p:spPr>
          <a:xfrm>
            <a:off x="7848792" y="344628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6" name="Text 284"/>
          <p:cNvSpPr txBox="1"/>
          <p:nvPr/>
        </p:nvSpPr>
        <p:spPr>
          <a:xfrm>
            <a:off x="7848792" y="344628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5-1</a:t>
            </a:r>
            <a:endParaRPr lang="en-US" sz="514" dirty="0"/>
          </a:p>
        </p:txBody>
      </p:sp>
      <p:sp>
        <p:nvSpPr>
          <p:cNvPr id="287" name="Shape 285"/>
          <p:cNvSpPr/>
          <p:nvPr/>
        </p:nvSpPr>
        <p:spPr>
          <a:xfrm>
            <a:off x="8305877" y="343902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8" name="Text 286"/>
          <p:cNvSpPr txBox="1"/>
          <p:nvPr/>
        </p:nvSpPr>
        <p:spPr>
          <a:xfrm>
            <a:off x="8305877" y="343902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5-2</a:t>
            </a:r>
            <a:endParaRPr lang="en-US" sz="514" dirty="0"/>
          </a:p>
        </p:txBody>
      </p:sp>
      <p:sp>
        <p:nvSpPr>
          <p:cNvPr id="289" name="Shape 287"/>
          <p:cNvSpPr/>
          <p:nvPr/>
        </p:nvSpPr>
        <p:spPr>
          <a:xfrm>
            <a:off x="9002389" y="343902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90" name="Text 288"/>
          <p:cNvSpPr txBox="1"/>
          <p:nvPr/>
        </p:nvSpPr>
        <p:spPr>
          <a:xfrm>
            <a:off x="9002389" y="343902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5-3</a:t>
            </a:r>
            <a:endParaRPr lang="en-US" sz="514" dirty="0"/>
          </a:p>
        </p:txBody>
      </p:sp>
      <p:sp>
        <p:nvSpPr>
          <p:cNvPr id="291" name="Shape 289"/>
          <p:cNvSpPr/>
          <p:nvPr/>
        </p:nvSpPr>
        <p:spPr>
          <a:xfrm>
            <a:off x="2478148" y="393238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92" name="Text 290"/>
          <p:cNvSpPr txBox="1"/>
          <p:nvPr/>
        </p:nvSpPr>
        <p:spPr>
          <a:xfrm>
            <a:off x="2478148" y="393238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4-1</a:t>
            </a:r>
            <a:endParaRPr lang="en-US" sz="514" dirty="0"/>
          </a:p>
        </p:txBody>
      </p:sp>
      <p:sp>
        <p:nvSpPr>
          <p:cNvPr id="293" name="Shape 291"/>
          <p:cNvSpPr/>
          <p:nvPr/>
        </p:nvSpPr>
        <p:spPr>
          <a:xfrm>
            <a:off x="1385768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4" name="Text 292"/>
          <p:cNvSpPr txBox="1"/>
          <p:nvPr/>
        </p:nvSpPr>
        <p:spPr>
          <a:xfrm>
            <a:off x="1385768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95" name="Shape 293"/>
          <p:cNvSpPr/>
          <p:nvPr/>
        </p:nvSpPr>
        <p:spPr>
          <a:xfrm>
            <a:off x="1451066" y="143655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6" name="Text 294"/>
          <p:cNvSpPr txBox="1"/>
          <p:nvPr/>
        </p:nvSpPr>
        <p:spPr>
          <a:xfrm>
            <a:off x="1451066" y="143655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97" name="Shape 295"/>
          <p:cNvSpPr/>
          <p:nvPr/>
        </p:nvSpPr>
        <p:spPr>
          <a:xfrm>
            <a:off x="1451066" y="181383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8" name="Text 296"/>
          <p:cNvSpPr txBox="1"/>
          <p:nvPr/>
        </p:nvSpPr>
        <p:spPr>
          <a:xfrm>
            <a:off x="1451066" y="181383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299" name="Shape 297"/>
          <p:cNvSpPr/>
          <p:nvPr/>
        </p:nvSpPr>
        <p:spPr>
          <a:xfrm>
            <a:off x="1472832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0" name="Text 298"/>
          <p:cNvSpPr txBox="1"/>
          <p:nvPr/>
        </p:nvSpPr>
        <p:spPr>
          <a:xfrm>
            <a:off x="1472832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301" name="Shape 299"/>
          <p:cNvSpPr/>
          <p:nvPr/>
        </p:nvSpPr>
        <p:spPr>
          <a:xfrm>
            <a:off x="8973368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2" name="Text 300"/>
          <p:cNvSpPr txBox="1"/>
          <p:nvPr/>
        </p:nvSpPr>
        <p:spPr>
          <a:xfrm>
            <a:off x="8973368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71" dirty="0"/>
          </a:p>
        </p:txBody>
      </p:sp>
      <p:sp>
        <p:nvSpPr>
          <p:cNvPr id="303" name="Shape 301"/>
          <p:cNvSpPr/>
          <p:nvPr/>
        </p:nvSpPr>
        <p:spPr>
          <a:xfrm>
            <a:off x="9024155" y="66749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4" name="Text 302"/>
          <p:cNvSpPr txBox="1"/>
          <p:nvPr/>
        </p:nvSpPr>
        <p:spPr>
          <a:xfrm>
            <a:off x="9024155" y="66749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71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6200416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6118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으로 강조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부품/모듈 공정배치 원천 데이터 집계 배치 결과를 조회(GET /api/automation/parts/summary).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464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상세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 단위로 현재/개선 상태와 라인별 확대(전개/계획) 현황을 표시하는 상세 매트릭스 표이다. NO/공정/[BP]창원2C 라인(현재/개선/주요내용)/창원2A~2E/MSK~MWX 조립 등 총 13개 컬럼으로 구성된다.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공정별 상세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필터 조회 시 공정 목록과 라인 컬럼이 함께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셀 값은 "●자동/수동" 표기, "가능('연도)", "협의필(ROI·회수불가 사유) N명", "미적용(사유)" 등 상태별 표기 규칙을 따른다.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표 영역 내 세로 스크롤 가능(최대 높이 520px 초과 시, 헤더 행 상단 고정 sticky). 컬럼 수가 많아(11열) 표 영역 내에서 가로 스크롤도 함께 발생(세로/가로 모두 표 자체 wrapper 안에서 스크롤, 고정(freeze) 열 없음 — NO/공정 열도 가로 스크롤 시 함께 밀림).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(설계 목표) 신규 공정 등록 시 표준공정 마스터 관리(SCR-002) 목록에 반영 — 현재 프로토타입은 모달 닫힘/성공 토스트까지만 구현되어 있고 SCR-002 목록 데이터에는 실제 반영되지 않음(실 연동 시 BE에서 처리).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/api/automation/parts/process-detail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4-1 자동 배지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"현재=자동" 배지 클릭 시 동영상 팝업 오픈(NO=7 참고).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79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CTA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공정별 상세 표에 대한 데이터 등록·내보내기·공유 액션 버튼 3종으로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5-1 + 공정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 상단 우측에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공정 등록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/api/automation/parts/process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Text 303"/>
          <p:cNvSpPr/>
          <p:nvPr/>
        </p:nvSpPr>
        <p:spPr>
          <a:xfrm>
            <a:off x="9394177" y="6565392"/>
            <a:ext cx="2678577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96756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64003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264003" y="348765"/>
            <a:ext cx="1079910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/portal/automation/parts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59059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590594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99566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5753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Shape 16"/>
          <p:cNvSpPr/>
          <p:nvPr/>
        </p:nvSpPr>
        <p:spPr>
          <a:xfrm>
            <a:off x="7255" y="1313214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8830" y="137125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180657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488578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5" name="Text 23"/>
          <p:cNvSpPr txBox="1"/>
          <p:nvPr/>
        </p:nvSpPr>
        <p:spPr>
          <a:xfrm>
            <a:off x="108830" y="2684472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108830" y="2902131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105281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210405" y="3286664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482558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700218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39178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1355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3" name="Text 31"/>
          <p:cNvSpPr txBox="1"/>
          <p:nvPr/>
        </p:nvSpPr>
        <p:spPr>
          <a:xfrm>
            <a:off x="108830" y="435319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108830" y="457085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1501853" y="1146342"/>
            <a:ext cx="638015" cy="239426"/>
          </a:xfrm>
          <a:prstGeom prst="roundRect">
            <a:avLst>
              <a:gd name="adj" fmla="val 15152"/>
            </a:avLst>
          </a:prstGeom>
          <a:solidFill>
            <a:srgbClr val="33333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646960" y="1211640"/>
            <a:ext cx="391334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2343018" y="1211640"/>
            <a:ext cx="39337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501853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59896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제품군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17599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75642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533345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91388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49091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607134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564837" y="1516364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22880" y="1516364"/>
            <a:ext cx="870639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전체</a:t>
            </a:r>
            <a:pPr algn="l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617857" y="1516364"/>
            <a:ext cx="522384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17857" y="1516364"/>
            <a:ext cx="565916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50" name="Text 48"/>
          <p:cNvSpPr txBox="1"/>
          <p:nvPr/>
        </p:nvSpPr>
        <p:spPr>
          <a:xfrm>
            <a:off x="1501853" y="1893641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현황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(공장/라인별 자동화율·직접인원 현재→개선 및 중장기 완료일정)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501853" y="2038747"/>
            <a:ext cx="7638387" cy="112457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12736" y="2049630"/>
            <a:ext cx="65502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570779" y="2107673"/>
            <a:ext cx="57168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2167756" y="2049630"/>
            <a:ext cx="936844" cy="224915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225799" y="2107673"/>
            <a:ext cx="8642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[B/P] 창원2C 라인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3104600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62643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2A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3857794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915837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2B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4610988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69031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2D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5364182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422224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2E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6117376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175418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MSK 조립1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6870569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28612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MMX 조립1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7623763" y="2049630"/>
            <a:ext cx="753194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81806" y="2107673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조립1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8376957" y="2049630"/>
            <a:ext cx="75240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435000" y="2107673"/>
            <a:ext cx="673935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조립2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1512736" y="2274546"/>
            <a:ext cx="655020" cy="326490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570779" y="2332588"/>
            <a:ext cx="571686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자동화율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2167756" y="2274546"/>
            <a:ext cx="936844" cy="326490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225799" y="2332588"/>
            <a:ext cx="864291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72% → 94% (22%▲)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3104600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162643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71% → 94% (23%▲)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3857794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915837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67% → 94% (27%▲)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4610988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669031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63%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5364182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422224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63% → 94% (31%▲)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6117376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175418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47% → 93% (46%▲)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6870569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928612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 → 93% (53%▲)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7623763" y="2274546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681806" y="233258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47% → 93% (46%▲)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8376957" y="2274546"/>
            <a:ext cx="752400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435000" y="2332588"/>
            <a:ext cx="673935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 → 93% (53%▲)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1512736" y="2601035"/>
            <a:ext cx="655020" cy="326490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570779" y="2659078"/>
            <a:ext cx="571686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직접인원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2167756" y="2601035"/>
            <a:ext cx="936844" cy="326490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225799" y="2659078"/>
            <a:ext cx="864291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 → 1명 (3명▼)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3104600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162643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 → 1명 (3명▼)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3857794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915837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→ 1명 (4명▼)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4610988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669031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5364182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422224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 → 1명 (3명▼)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6117376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175418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→ 1명 (4명▼)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6870569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928612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6명 → 1명 (5명▼)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7623763" y="2601035"/>
            <a:ext cx="753194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681806" y="2659078"/>
            <a:ext cx="674768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 → 1명 (4명▼)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8376957" y="2601035"/>
            <a:ext cx="752400" cy="32649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435000" y="2659078"/>
            <a:ext cx="673935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6명 → 1명 (5명▼)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1512736" y="2927525"/>
            <a:ext cx="655020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570779" y="2985568"/>
            <a:ext cx="57168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완료일정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2167756" y="2927525"/>
            <a:ext cx="936844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225799" y="2985568"/>
            <a:ext cx="8642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'27년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3104600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162643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'27년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3857794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915837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4610988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669031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5364182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5422224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6117376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6175418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6870569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6928612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7623763" y="2927525"/>
            <a:ext cx="753194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7681806" y="2985568"/>
            <a:ext cx="6747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8376957" y="2927525"/>
            <a:ext cx="75240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435000" y="2985568"/>
            <a:ext cx="673935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'30년</a:t>
            </a:r>
            <a:endParaRPr lang="en-US" sz="686" dirty="0"/>
          </a:p>
        </p:txBody>
      </p:sp>
      <p:sp>
        <p:nvSpPr>
          <p:cNvPr id="132" name="Text 130"/>
          <p:cNvSpPr txBox="1"/>
          <p:nvPr/>
        </p:nvSpPr>
        <p:spPr>
          <a:xfrm>
            <a:off x="1501853" y="3373728"/>
            <a:ext cx="308759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(현재/개선/주요내용 · 공정/라인별 확대전개계획, 현재=자동 선택 시 동영상 팝업)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7340919" y="3337451"/>
            <a:ext cx="638469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7340919" y="3337451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공정 등록</a:t>
            </a:r>
            <a:endParaRPr lang="en-US" sz="686" dirty="0"/>
          </a:p>
        </p:txBody>
      </p:sp>
      <p:sp>
        <p:nvSpPr>
          <p:cNvPr id="135" name="Shape 133"/>
          <p:cNvSpPr/>
          <p:nvPr/>
        </p:nvSpPr>
        <p:spPr>
          <a:xfrm>
            <a:off x="8037430" y="3337451"/>
            <a:ext cx="406298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8037430" y="3337451"/>
            <a:ext cx="449830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686" dirty="0"/>
          </a:p>
        </p:txBody>
      </p:sp>
      <p:sp>
        <p:nvSpPr>
          <p:cNvPr id="137" name="Shape 135"/>
          <p:cNvSpPr/>
          <p:nvPr/>
        </p:nvSpPr>
        <p:spPr>
          <a:xfrm>
            <a:off x="8501771" y="3337451"/>
            <a:ext cx="638469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501771" y="3337451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686" dirty="0"/>
          </a:p>
        </p:txBody>
      </p:sp>
      <p:sp>
        <p:nvSpPr>
          <p:cNvPr id="139" name="Shape 137"/>
          <p:cNvSpPr/>
          <p:nvPr/>
        </p:nvSpPr>
        <p:spPr>
          <a:xfrm>
            <a:off x="1501853" y="3569622"/>
            <a:ext cx="7638387" cy="3098025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12736" y="3580505"/>
            <a:ext cx="20564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1570779" y="3638547"/>
            <a:ext cx="99840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1718379" y="3580505"/>
            <a:ext cx="79967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776422" y="3638547"/>
            <a:ext cx="723572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2518052" y="3580505"/>
            <a:ext cx="2155399" cy="224915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2576095" y="3638547"/>
            <a:ext cx="20828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[B/P] 창원2C 라인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4673452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4731495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2A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5230185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5288228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2B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5786918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5844961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2D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6343651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6401694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창원 2E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6900384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6958427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MSK 조립1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7457117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7515160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MMX 조립1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8013851" y="3580505"/>
            <a:ext cx="556733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071893" y="3638547"/>
            <a:ext cx="468485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조립1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8570584" y="3580505"/>
            <a:ext cx="558774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8628626" y="3638547"/>
            <a:ext cx="470627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MWX 조립2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2518052" y="3805420"/>
            <a:ext cx="495063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561584" y="3848952"/>
            <a:ext cx="432752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628" dirty="0"/>
          </a:p>
        </p:txBody>
      </p:sp>
      <p:sp>
        <p:nvSpPr>
          <p:cNvPr id="164" name="Shape 162"/>
          <p:cNvSpPr/>
          <p:nvPr/>
        </p:nvSpPr>
        <p:spPr>
          <a:xfrm>
            <a:off x="3013115" y="3805420"/>
            <a:ext cx="495063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3056647" y="3848952"/>
            <a:ext cx="432752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</a:t>
            </a:r>
            <a:endParaRPr lang="en-US" sz="628" dirty="0"/>
          </a:p>
        </p:txBody>
      </p:sp>
      <p:sp>
        <p:nvSpPr>
          <p:cNvPr id="166" name="Shape 164"/>
          <p:cNvSpPr/>
          <p:nvPr/>
        </p:nvSpPr>
        <p:spPr>
          <a:xfrm>
            <a:off x="3508178" y="3805420"/>
            <a:ext cx="1165274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3551710" y="3848952"/>
            <a:ext cx="1121742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주요내용</a:t>
            </a:r>
            <a:endParaRPr lang="en-US" sz="628" dirty="0"/>
          </a:p>
        </p:txBody>
      </p:sp>
      <p:sp>
        <p:nvSpPr>
          <p:cNvPr id="168" name="Shape 166"/>
          <p:cNvSpPr/>
          <p:nvPr/>
        </p:nvSpPr>
        <p:spPr>
          <a:xfrm>
            <a:off x="1512736" y="3994058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1570779" y="4052101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1718379" y="3994058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1776422" y="4052101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오버몰딩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2518052" y="3994058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2576095" y="4052101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3013115" y="3994058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3071158" y="4052101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3508178" y="3994058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3566221" y="4052101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4673452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4731495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5230185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5288228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5786918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5844961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84" name="Shape 182"/>
          <p:cNvSpPr/>
          <p:nvPr/>
        </p:nvSpPr>
        <p:spPr>
          <a:xfrm>
            <a:off x="6343651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6401694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86" name="Shape 184"/>
          <p:cNvSpPr/>
          <p:nvPr/>
        </p:nvSpPr>
        <p:spPr>
          <a:xfrm>
            <a:off x="6900384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6958427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188" name="Shape 186"/>
          <p:cNvSpPr/>
          <p:nvPr/>
        </p:nvSpPr>
        <p:spPr>
          <a:xfrm>
            <a:off x="7457117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7515160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190" name="Shape 188"/>
          <p:cNvSpPr/>
          <p:nvPr/>
        </p:nvSpPr>
        <p:spPr>
          <a:xfrm>
            <a:off x="8013851" y="3994058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8071893" y="4052101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자동</a:t>
            </a:r>
            <a:endParaRPr lang="en-US" sz="686" dirty="0"/>
          </a:p>
        </p:txBody>
      </p:sp>
      <p:sp>
        <p:nvSpPr>
          <p:cNvPr id="192" name="Shape 190"/>
          <p:cNvSpPr/>
          <p:nvPr/>
        </p:nvSpPr>
        <p:spPr>
          <a:xfrm>
            <a:off x="8570584" y="3994058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8628626" y="4052101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협의必(ROI 13년) 1명</a:t>
            </a:r>
            <a:endParaRPr lang="en-US" sz="686" dirty="0"/>
          </a:p>
        </p:txBody>
      </p:sp>
      <p:sp>
        <p:nvSpPr>
          <p:cNvPr id="194" name="Shape 192"/>
          <p:cNvSpPr/>
          <p:nvPr/>
        </p:nvSpPr>
        <p:spPr>
          <a:xfrm>
            <a:off x="1512736" y="4596251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1570779" y="4654293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96" name="Shape 194"/>
          <p:cNvSpPr/>
          <p:nvPr/>
        </p:nvSpPr>
        <p:spPr>
          <a:xfrm>
            <a:off x="1718379" y="4596251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1776422" y="4654293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파워헤드 버퍼적재</a:t>
            </a:r>
            <a:endParaRPr lang="en-US" sz="686" dirty="0"/>
          </a:p>
        </p:txBody>
      </p:sp>
      <p:sp>
        <p:nvSpPr>
          <p:cNvPr id="198" name="Shape 196"/>
          <p:cNvSpPr/>
          <p:nvPr/>
        </p:nvSpPr>
        <p:spPr>
          <a:xfrm>
            <a:off x="2518052" y="4596251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2576095" y="4654293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686" dirty="0"/>
          </a:p>
        </p:txBody>
      </p:sp>
      <p:sp>
        <p:nvSpPr>
          <p:cNvPr id="200" name="Shape 198"/>
          <p:cNvSpPr/>
          <p:nvPr/>
        </p:nvSpPr>
        <p:spPr>
          <a:xfrm>
            <a:off x="3013115" y="4596251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3071158" y="4654293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02" name="Shape 200"/>
          <p:cNvSpPr/>
          <p:nvPr/>
        </p:nvSpPr>
        <p:spPr>
          <a:xfrm>
            <a:off x="3508178" y="4596251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3566221" y="4654293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6축로봇 + 버퍼교체</a:t>
            </a:r>
            <a:endParaRPr lang="en-US" sz="686" dirty="0"/>
          </a:p>
        </p:txBody>
      </p:sp>
      <p:sp>
        <p:nvSpPr>
          <p:cNvPr id="204" name="Shape 202"/>
          <p:cNvSpPr/>
          <p:nvPr/>
        </p:nvSpPr>
        <p:spPr>
          <a:xfrm>
            <a:off x="4673452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4731495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06" name="Shape 204"/>
          <p:cNvSpPr/>
          <p:nvPr/>
        </p:nvSpPr>
        <p:spPr>
          <a:xfrm>
            <a:off x="5230185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5288228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6축로봇 + 버퍼교체</a:t>
            </a:r>
            <a:endParaRPr lang="en-US" sz="686" dirty="0"/>
          </a:p>
        </p:txBody>
      </p:sp>
      <p:sp>
        <p:nvSpPr>
          <p:cNvPr id="208" name="Shape 206"/>
          <p:cNvSpPr/>
          <p:nvPr/>
        </p:nvSpPr>
        <p:spPr>
          <a:xfrm>
            <a:off x="5786918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5844961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10" name="Shape 208"/>
          <p:cNvSpPr/>
          <p:nvPr/>
        </p:nvSpPr>
        <p:spPr>
          <a:xfrm>
            <a:off x="6343651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6401694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12" name="Shape 210"/>
          <p:cNvSpPr/>
          <p:nvPr/>
        </p:nvSpPr>
        <p:spPr>
          <a:xfrm>
            <a:off x="6900384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6958427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214" name="Shape 212"/>
          <p:cNvSpPr/>
          <p:nvPr/>
        </p:nvSpPr>
        <p:spPr>
          <a:xfrm>
            <a:off x="7457117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7515160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미해당</a:t>
            </a:r>
            <a:endParaRPr lang="en-US" sz="686" dirty="0"/>
          </a:p>
        </p:txBody>
      </p:sp>
      <p:sp>
        <p:nvSpPr>
          <p:cNvPr id="216" name="Shape 214"/>
          <p:cNvSpPr/>
          <p:nvPr/>
        </p:nvSpPr>
        <p:spPr>
          <a:xfrm>
            <a:off x="8013851" y="4596251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8071893" y="4654293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18" name="Shape 216"/>
          <p:cNvSpPr/>
          <p:nvPr/>
        </p:nvSpPr>
        <p:spPr>
          <a:xfrm>
            <a:off x="8570584" y="4596251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8628626" y="4654293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 불가) 1명</a:t>
            </a:r>
            <a:endParaRPr lang="en-US" sz="686" dirty="0"/>
          </a:p>
        </p:txBody>
      </p:sp>
      <p:sp>
        <p:nvSpPr>
          <p:cNvPr id="220" name="Shape 218"/>
          <p:cNvSpPr/>
          <p:nvPr/>
        </p:nvSpPr>
        <p:spPr>
          <a:xfrm>
            <a:off x="1512736" y="5198443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1570779" y="5256486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222" name="Shape 220"/>
          <p:cNvSpPr/>
          <p:nvPr/>
        </p:nvSpPr>
        <p:spPr>
          <a:xfrm>
            <a:off x="1718379" y="5198443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1776422" y="5256486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인풋풀 조립</a:t>
            </a:r>
            <a:endParaRPr lang="en-US" sz="686" dirty="0"/>
          </a:p>
        </p:txBody>
      </p:sp>
      <p:sp>
        <p:nvSpPr>
          <p:cNvPr id="224" name="Shape 222"/>
          <p:cNvSpPr/>
          <p:nvPr/>
        </p:nvSpPr>
        <p:spPr>
          <a:xfrm>
            <a:off x="2518052" y="5198443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2576095" y="5256486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686" dirty="0"/>
          </a:p>
        </p:txBody>
      </p:sp>
      <p:sp>
        <p:nvSpPr>
          <p:cNvPr id="226" name="Shape 224"/>
          <p:cNvSpPr/>
          <p:nvPr/>
        </p:nvSpPr>
        <p:spPr>
          <a:xfrm>
            <a:off x="3013115" y="5198443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3071158" y="5256486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28" name="Shape 226"/>
          <p:cNvSpPr/>
          <p:nvPr/>
        </p:nvSpPr>
        <p:spPr>
          <a:xfrm>
            <a:off x="3508178" y="5198443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3566221" y="5256486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인풋풀 조립 인덱스, 컬럼 로딩/조립로봇 外</a:t>
            </a:r>
            <a:endParaRPr lang="en-US" sz="686" dirty="0"/>
          </a:p>
        </p:txBody>
      </p:sp>
      <p:sp>
        <p:nvSpPr>
          <p:cNvPr id="230" name="Shape 228"/>
          <p:cNvSpPr/>
          <p:nvPr/>
        </p:nvSpPr>
        <p:spPr>
          <a:xfrm>
            <a:off x="4673452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4731495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32" name="Shape 230"/>
          <p:cNvSpPr/>
          <p:nvPr/>
        </p:nvSpPr>
        <p:spPr>
          <a:xfrm>
            <a:off x="5230185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5288228" y="5256486"/>
            <a:ext cx="468485" cy="52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인풋풀 조립 인덱스, 컬럼 로딩/조립로봇 外</a:t>
            </a:r>
            <a:endParaRPr lang="en-US" sz="686" dirty="0"/>
          </a:p>
        </p:txBody>
      </p:sp>
      <p:sp>
        <p:nvSpPr>
          <p:cNvPr id="234" name="Shape 232"/>
          <p:cNvSpPr/>
          <p:nvPr/>
        </p:nvSpPr>
        <p:spPr>
          <a:xfrm>
            <a:off x="5786918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5844961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가능('27)</a:t>
            </a:r>
            <a:endParaRPr lang="en-US" sz="686" dirty="0"/>
          </a:p>
        </p:txBody>
      </p:sp>
      <p:sp>
        <p:nvSpPr>
          <p:cNvPr id="236" name="Shape 234"/>
          <p:cNvSpPr/>
          <p:nvPr/>
        </p:nvSpPr>
        <p:spPr>
          <a:xfrm>
            <a:off x="6343651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6401694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38" name="Shape 236"/>
          <p:cNvSpPr/>
          <p:nvPr/>
        </p:nvSpPr>
        <p:spPr>
          <a:xfrm>
            <a:off x="6900384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6958427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미적용(협의中) 1명</a:t>
            </a:r>
            <a:endParaRPr lang="en-US" sz="686" dirty="0"/>
          </a:p>
        </p:txBody>
      </p:sp>
      <p:sp>
        <p:nvSpPr>
          <p:cNvPr id="240" name="Shape 238"/>
          <p:cNvSpPr/>
          <p:nvPr/>
        </p:nvSpPr>
        <p:spPr>
          <a:xfrm>
            <a:off x="7457117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7515160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가능('29)</a:t>
            </a:r>
            <a:endParaRPr lang="en-US" sz="686" dirty="0"/>
          </a:p>
        </p:txBody>
      </p:sp>
      <p:sp>
        <p:nvSpPr>
          <p:cNvPr id="242" name="Shape 240"/>
          <p:cNvSpPr/>
          <p:nvPr/>
        </p:nvSpPr>
        <p:spPr>
          <a:xfrm>
            <a:off x="8013851" y="5198443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8071893" y="5256486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협의必(ROI 42년) 1명</a:t>
            </a:r>
            <a:endParaRPr lang="en-US" sz="686" dirty="0"/>
          </a:p>
        </p:txBody>
      </p:sp>
      <p:sp>
        <p:nvSpPr>
          <p:cNvPr id="244" name="Shape 242"/>
          <p:cNvSpPr/>
          <p:nvPr/>
        </p:nvSpPr>
        <p:spPr>
          <a:xfrm>
            <a:off x="8570584" y="5198443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5" name="Text 243"/>
          <p:cNvSpPr txBox="1"/>
          <p:nvPr/>
        </p:nvSpPr>
        <p:spPr>
          <a:xfrm>
            <a:off x="8628626" y="5256486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46" name="Shape 244"/>
          <p:cNvSpPr/>
          <p:nvPr/>
        </p:nvSpPr>
        <p:spPr>
          <a:xfrm>
            <a:off x="1512736" y="5800635"/>
            <a:ext cx="20564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7" name="Text 245"/>
          <p:cNvSpPr txBox="1"/>
          <p:nvPr/>
        </p:nvSpPr>
        <p:spPr>
          <a:xfrm>
            <a:off x="1570779" y="5858678"/>
            <a:ext cx="99840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686" dirty="0"/>
          </a:p>
        </p:txBody>
      </p:sp>
      <p:sp>
        <p:nvSpPr>
          <p:cNvPr id="248" name="Shape 246"/>
          <p:cNvSpPr/>
          <p:nvPr/>
        </p:nvSpPr>
        <p:spPr>
          <a:xfrm>
            <a:off x="1718379" y="5800635"/>
            <a:ext cx="79967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9" name="Text 247"/>
          <p:cNvSpPr txBox="1"/>
          <p:nvPr/>
        </p:nvSpPr>
        <p:spPr>
          <a:xfrm>
            <a:off x="1776422" y="5858678"/>
            <a:ext cx="723572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조립 (추정)</a:t>
            </a:r>
            <a:endParaRPr lang="en-US" sz="686" dirty="0"/>
          </a:p>
        </p:txBody>
      </p:sp>
      <p:sp>
        <p:nvSpPr>
          <p:cNvPr id="250" name="Shape 248"/>
          <p:cNvSpPr/>
          <p:nvPr/>
        </p:nvSpPr>
        <p:spPr>
          <a:xfrm>
            <a:off x="2518052" y="5800635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1" name="Text 249"/>
          <p:cNvSpPr txBox="1"/>
          <p:nvPr/>
        </p:nvSpPr>
        <p:spPr>
          <a:xfrm>
            <a:off x="2576095" y="5858678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</a:t>
            </a:r>
            <a:endParaRPr lang="en-US" sz="686" dirty="0"/>
          </a:p>
        </p:txBody>
      </p:sp>
      <p:sp>
        <p:nvSpPr>
          <p:cNvPr id="252" name="Shape 250"/>
          <p:cNvSpPr/>
          <p:nvPr/>
        </p:nvSpPr>
        <p:spPr>
          <a:xfrm>
            <a:off x="3013115" y="5800635"/>
            <a:ext cx="49506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3" name="Text 251"/>
          <p:cNvSpPr txBox="1"/>
          <p:nvPr/>
        </p:nvSpPr>
        <p:spPr>
          <a:xfrm>
            <a:off x="3071158" y="5858678"/>
            <a:ext cx="40373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54" name="Shape 252"/>
          <p:cNvSpPr/>
          <p:nvPr/>
        </p:nvSpPr>
        <p:spPr>
          <a:xfrm>
            <a:off x="3508178" y="5800635"/>
            <a:ext cx="11652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>
            <a:off x="3566221" y="5858678"/>
            <a:ext cx="1092721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가능('29)</a:t>
            </a:r>
            <a:endParaRPr lang="en-US" sz="686" dirty="0"/>
          </a:p>
        </p:txBody>
      </p:sp>
      <p:sp>
        <p:nvSpPr>
          <p:cNvPr id="256" name="Shape 254"/>
          <p:cNvSpPr/>
          <p:nvPr/>
        </p:nvSpPr>
        <p:spPr>
          <a:xfrm>
            <a:off x="4673452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7" name="Text 255"/>
          <p:cNvSpPr txBox="1"/>
          <p:nvPr/>
        </p:nvSpPr>
        <p:spPr>
          <a:xfrm>
            <a:off x="4731495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가능('28)</a:t>
            </a:r>
            <a:endParaRPr lang="en-US" sz="686" dirty="0"/>
          </a:p>
        </p:txBody>
      </p:sp>
      <p:sp>
        <p:nvSpPr>
          <p:cNvPr id="258" name="Shape 256"/>
          <p:cNvSpPr/>
          <p:nvPr/>
        </p:nvSpPr>
        <p:spPr>
          <a:xfrm>
            <a:off x="5230185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9" name="Text 257"/>
          <p:cNvSpPr txBox="1"/>
          <p:nvPr/>
        </p:nvSpPr>
        <p:spPr>
          <a:xfrm>
            <a:off x="5288228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가능('29)</a:t>
            </a:r>
            <a:endParaRPr lang="en-US" sz="686" dirty="0"/>
          </a:p>
        </p:txBody>
      </p:sp>
      <p:sp>
        <p:nvSpPr>
          <p:cNvPr id="260" name="Shape 258"/>
          <p:cNvSpPr/>
          <p:nvPr/>
        </p:nvSpPr>
        <p:spPr>
          <a:xfrm>
            <a:off x="5786918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1" name="Text 259"/>
          <p:cNvSpPr txBox="1"/>
          <p:nvPr/>
        </p:nvSpPr>
        <p:spPr>
          <a:xfrm>
            <a:off x="5844961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미적용(협의中) 1명</a:t>
            </a:r>
            <a:endParaRPr lang="en-US" sz="686" dirty="0"/>
          </a:p>
        </p:txBody>
      </p:sp>
      <p:sp>
        <p:nvSpPr>
          <p:cNvPr id="262" name="Shape 260"/>
          <p:cNvSpPr/>
          <p:nvPr/>
        </p:nvSpPr>
        <p:spPr>
          <a:xfrm>
            <a:off x="6343651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3" name="Text 261"/>
          <p:cNvSpPr txBox="1"/>
          <p:nvPr/>
        </p:nvSpPr>
        <p:spPr>
          <a:xfrm>
            <a:off x="6401694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가능('30)</a:t>
            </a:r>
            <a:endParaRPr lang="en-US" sz="686" dirty="0"/>
          </a:p>
        </p:txBody>
      </p:sp>
      <p:sp>
        <p:nvSpPr>
          <p:cNvPr id="264" name="Shape 262"/>
          <p:cNvSpPr/>
          <p:nvPr/>
        </p:nvSpPr>
        <p:spPr>
          <a:xfrm>
            <a:off x="6900384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5" name="Text 263"/>
          <p:cNvSpPr txBox="1"/>
          <p:nvPr/>
        </p:nvSpPr>
        <p:spPr>
          <a:xfrm>
            <a:off x="6958427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협의必(ROI 45년) 1명</a:t>
            </a:r>
            <a:endParaRPr lang="en-US" sz="686" dirty="0"/>
          </a:p>
        </p:txBody>
      </p:sp>
      <p:sp>
        <p:nvSpPr>
          <p:cNvPr id="266" name="Shape 264"/>
          <p:cNvSpPr/>
          <p:nvPr/>
        </p:nvSpPr>
        <p:spPr>
          <a:xfrm>
            <a:off x="7457117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7" name="Text 265"/>
          <p:cNvSpPr txBox="1"/>
          <p:nvPr/>
        </p:nvSpPr>
        <p:spPr>
          <a:xfrm>
            <a:off x="7515160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68" name="Shape 266"/>
          <p:cNvSpPr/>
          <p:nvPr/>
        </p:nvSpPr>
        <p:spPr>
          <a:xfrm>
            <a:off x="8013851" y="5800635"/>
            <a:ext cx="556733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9" name="Text 267"/>
          <p:cNvSpPr txBox="1"/>
          <p:nvPr/>
        </p:nvSpPr>
        <p:spPr>
          <a:xfrm>
            <a:off x="8071893" y="5858678"/>
            <a:ext cx="468485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70" name="Shape 268"/>
          <p:cNvSpPr/>
          <p:nvPr/>
        </p:nvSpPr>
        <p:spPr>
          <a:xfrm>
            <a:off x="8570584" y="5800635"/>
            <a:ext cx="558774" cy="60219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1" name="Text 269"/>
          <p:cNvSpPr txBox="1"/>
          <p:nvPr/>
        </p:nvSpPr>
        <p:spPr>
          <a:xfrm>
            <a:off x="8628626" y="5858678"/>
            <a:ext cx="470627" cy="486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협의必(회수불가) 1명</a:t>
            </a:r>
            <a:endParaRPr lang="en-US" sz="686" dirty="0"/>
          </a:p>
        </p:txBody>
      </p:sp>
      <p:sp>
        <p:nvSpPr>
          <p:cNvPr id="272" name="Shape 270"/>
          <p:cNvSpPr/>
          <p:nvPr/>
        </p:nvSpPr>
        <p:spPr>
          <a:xfrm>
            <a:off x="1512736" y="6402827"/>
            <a:ext cx="7616621" cy="253936"/>
          </a:xfrm>
          <a:prstGeom prst="rect">
            <a:avLst/>
          </a:prstGeom>
          <a:solidFill>
            <a:srgbClr val="FAFAFA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73" name="Text 271"/>
          <p:cNvSpPr txBox="1"/>
          <p:nvPr/>
        </p:nvSpPr>
        <p:spPr>
          <a:xfrm>
            <a:off x="1570779" y="6475381"/>
            <a:ext cx="754406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공정 목록(NO 1–17)은 다음 화면(공정별 상세 전체)에서 확인 가능합니다.</a:t>
            </a:r>
            <a:endParaRPr lang="en-US" sz="686" dirty="0"/>
          </a:p>
        </p:txBody>
      </p:sp>
      <p:sp>
        <p:nvSpPr>
          <p:cNvPr id="274" name="Shape 272"/>
          <p:cNvSpPr/>
          <p:nvPr/>
        </p:nvSpPr>
        <p:spPr>
          <a:xfrm>
            <a:off x="9082198" y="3591388"/>
            <a:ext cx="36277" cy="298194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523619" y="6609604"/>
            <a:ext cx="7522302" cy="36277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263581" y="0"/>
            <a:ext cx="2925258" cy="5202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333765" y="80534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78" name="Text 276"/>
          <p:cNvSpPr txBox="1"/>
          <p:nvPr/>
        </p:nvSpPr>
        <p:spPr>
          <a:xfrm>
            <a:off x="8333765" y="80534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6-1</a:t>
            </a:r>
            <a:endParaRPr lang="en-US" sz="514" dirty="0"/>
          </a:p>
        </p:txBody>
      </p:sp>
      <p:sp>
        <p:nvSpPr>
          <p:cNvPr id="279" name="Shape 277"/>
          <p:cNvSpPr/>
          <p:nvPr/>
        </p:nvSpPr>
        <p:spPr>
          <a:xfrm>
            <a:off x="8806495" y="80534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0" name="Text 278"/>
          <p:cNvSpPr txBox="1"/>
          <p:nvPr/>
        </p:nvSpPr>
        <p:spPr>
          <a:xfrm>
            <a:off x="8806495" y="80534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6-2</a:t>
            </a:r>
            <a:endParaRPr lang="en-US" sz="514" dirty="0"/>
          </a:p>
        </p:txBody>
      </p:sp>
      <p:sp>
        <p:nvSpPr>
          <p:cNvPr id="281" name="Shape 279"/>
          <p:cNvSpPr/>
          <p:nvPr/>
        </p:nvSpPr>
        <p:spPr>
          <a:xfrm>
            <a:off x="2009273" y="127693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2" name="Text 280"/>
          <p:cNvSpPr txBox="1"/>
          <p:nvPr/>
        </p:nvSpPr>
        <p:spPr>
          <a:xfrm>
            <a:off x="2009273" y="127693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283" name="Shape 281"/>
          <p:cNvSpPr/>
          <p:nvPr/>
        </p:nvSpPr>
        <p:spPr>
          <a:xfrm>
            <a:off x="2707371" y="127693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4" name="Text 282"/>
          <p:cNvSpPr txBox="1"/>
          <p:nvPr/>
        </p:nvSpPr>
        <p:spPr>
          <a:xfrm>
            <a:off x="2707371" y="127693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285" name="Shape 283"/>
          <p:cNvSpPr/>
          <p:nvPr/>
        </p:nvSpPr>
        <p:spPr>
          <a:xfrm>
            <a:off x="7848792" y="344628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6" name="Text 284"/>
          <p:cNvSpPr txBox="1"/>
          <p:nvPr/>
        </p:nvSpPr>
        <p:spPr>
          <a:xfrm>
            <a:off x="7848792" y="344628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5-1</a:t>
            </a:r>
            <a:endParaRPr lang="en-US" sz="514" dirty="0"/>
          </a:p>
        </p:txBody>
      </p:sp>
      <p:sp>
        <p:nvSpPr>
          <p:cNvPr id="287" name="Shape 285"/>
          <p:cNvSpPr/>
          <p:nvPr/>
        </p:nvSpPr>
        <p:spPr>
          <a:xfrm>
            <a:off x="8305877" y="343902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88" name="Text 286"/>
          <p:cNvSpPr txBox="1"/>
          <p:nvPr/>
        </p:nvSpPr>
        <p:spPr>
          <a:xfrm>
            <a:off x="8305877" y="343902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5-2</a:t>
            </a:r>
            <a:endParaRPr lang="en-US" sz="514" dirty="0"/>
          </a:p>
        </p:txBody>
      </p:sp>
      <p:sp>
        <p:nvSpPr>
          <p:cNvPr id="289" name="Shape 287"/>
          <p:cNvSpPr/>
          <p:nvPr/>
        </p:nvSpPr>
        <p:spPr>
          <a:xfrm>
            <a:off x="9002389" y="343902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90" name="Text 288"/>
          <p:cNvSpPr txBox="1"/>
          <p:nvPr/>
        </p:nvSpPr>
        <p:spPr>
          <a:xfrm>
            <a:off x="9002389" y="343902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5-3</a:t>
            </a:r>
            <a:endParaRPr lang="en-US" sz="514" dirty="0"/>
          </a:p>
        </p:txBody>
      </p:sp>
      <p:sp>
        <p:nvSpPr>
          <p:cNvPr id="291" name="Shape 289"/>
          <p:cNvSpPr/>
          <p:nvPr/>
        </p:nvSpPr>
        <p:spPr>
          <a:xfrm>
            <a:off x="1385768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2" name="Text 290"/>
          <p:cNvSpPr txBox="1"/>
          <p:nvPr/>
        </p:nvSpPr>
        <p:spPr>
          <a:xfrm>
            <a:off x="1385768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93" name="Shape 291"/>
          <p:cNvSpPr/>
          <p:nvPr/>
        </p:nvSpPr>
        <p:spPr>
          <a:xfrm>
            <a:off x="1451066" y="143655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4" name="Text 292"/>
          <p:cNvSpPr txBox="1"/>
          <p:nvPr/>
        </p:nvSpPr>
        <p:spPr>
          <a:xfrm>
            <a:off x="1451066" y="143655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95" name="Shape 293"/>
          <p:cNvSpPr/>
          <p:nvPr/>
        </p:nvSpPr>
        <p:spPr>
          <a:xfrm>
            <a:off x="1451066" y="181383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6" name="Text 294"/>
          <p:cNvSpPr txBox="1"/>
          <p:nvPr/>
        </p:nvSpPr>
        <p:spPr>
          <a:xfrm>
            <a:off x="1451066" y="181383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297" name="Shape 295"/>
          <p:cNvSpPr/>
          <p:nvPr/>
        </p:nvSpPr>
        <p:spPr>
          <a:xfrm>
            <a:off x="1472832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8" name="Text 296"/>
          <p:cNvSpPr txBox="1"/>
          <p:nvPr/>
        </p:nvSpPr>
        <p:spPr>
          <a:xfrm>
            <a:off x="1472832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299" name="Shape 297"/>
          <p:cNvSpPr/>
          <p:nvPr/>
        </p:nvSpPr>
        <p:spPr>
          <a:xfrm>
            <a:off x="8973368" y="311253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0" name="Text 298"/>
          <p:cNvSpPr txBox="1"/>
          <p:nvPr/>
        </p:nvSpPr>
        <p:spPr>
          <a:xfrm>
            <a:off x="8973368" y="311253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71" dirty="0"/>
          </a:p>
        </p:txBody>
      </p:sp>
      <p:sp>
        <p:nvSpPr>
          <p:cNvPr id="301" name="Shape 299"/>
          <p:cNvSpPr/>
          <p:nvPr/>
        </p:nvSpPr>
        <p:spPr>
          <a:xfrm>
            <a:off x="9024155" y="66749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2" name="Text 300"/>
          <p:cNvSpPr txBox="1"/>
          <p:nvPr/>
        </p:nvSpPr>
        <p:spPr>
          <a:xfrm>
            <a:off x="9024155" y="66749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571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 2)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422505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223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5-2 엑셀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 상단 우측에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현재 조회 결과를 xlsx로 다운로드.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toast: "엑셀 다운로드 기능이 실행되었습니다." 노출(프로토타입 목업, 예외 처리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/api/automation/parts/export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5-3 이메일 공유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 상단 우측에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이메일 공유 팝업 오픈(수신자 입력 후 전송).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수신자 미입력 → alert: "받는 사람을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/api/automation/parts/share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27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유틸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상단 우측 유틸리티 메뉴 2종(사용자명/로그아웃)으로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6-1 사용자명 (홍길동 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로그인 상태에서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SSO(MPASS) 로그인 사용자명으로 치환되어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6-2 로그아웃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로그인 상태에서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세션 종료 후 PNDES 로그인 화면으로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11840696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96756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64003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264003" y="348765"/>
            <a:ext cx="1079910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/portal/automation/parts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59059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590594" y="348765"/>
            <a:ext cx="281132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 · PDF/PPT 전용 공정별 상세 1/2 (NO 1-9)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587682"/>
            <a:ext cx="12188952" cy="627031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594937"/>
            <a:ext cx="12174441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11022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3341" y="1124576"/>
            <a:ext cx="399315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(현재/개선/주요내용 · 공정/라인별 확대전개계획, 현재=자동 선택 시 동영상 팝업)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1/2 (NO 1–9)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266290" y="1088299"/>
            <a:ext cx="638469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66290" y="1088299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공정 등록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10962801" y="1088299"/>
            <a:ext cx="406298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62801" y="1088299"/>
            <a:ext cx="449830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11427143" y="1088299"/>
            <a:ext cx="638469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27143" y="1088299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686" dirty="0"/>
          </a:p>
        </p:txBody>
      </p:sp>
      <p:sp>
        <p:nvSpPr>
          <p:cNvPr id="21" name="Shape 19"/>
          <p:cNvSpPr/>
          <p:nvPr/>
        </p:nvSpPr>
        <p:spPr>
          <a:xfrm>
            <a:off x="123341" y="1320470"/>
            <a:ext cx="11942271" cy="3954154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449987"/>
            <a:ext cx="12188952" cy="232171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0596" y="1327725"/>
          <a:ext cx="11927760" cy="5222839"/>
        </p:xfrm>
        <a:graphic>
          <a:graphicData uri="http://schemas.openxmlformats.org/drawingml/2006/table">
            <a:tbl>
              <a:tblPr/>
              <a:tblGrid>
                <a:gridCol w="322050"/>
                <a:gridCol w="1252415"/>
                <a:gridCol w="775304"/>
                <a:gridCol w="775304"/>
                <a:gridCol w="1824947"/>
                <a:gridCol w="871919"/>
                <a:gridCol w="871919"/>
                <a:gridCol w="871919"/>
                <a:gridCol w="871919"/>
                <a:gridCol w="871919"/>
                <a:gridCol w="871919"/>
                <a:gridCol w="871919"/>
                <a:gridCol w="874305"/>
              </a:tblGrid>
              <a:tr h="2128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12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오버몰딩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13년)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파워헤드 버퍼적재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버퍼교체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미해당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 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인풋풀 조립 인덱스, 컬럼 로딩/조립로봇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42년)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조립 (추정)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미적용(협의中)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45년)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S/W 다운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44년)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159년)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파워팩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적용('28)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케이블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설계사양 변경 &amp; 신기술개발 검토 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설계사양 변경 &amp; 신기술개발 검토 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X(기술)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 작동 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102년) 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다이나믹검사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181년) 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검사 (부하)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프릭션 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181년) 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노이즈 검사 (무부하)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작동 소음검사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유니버설조인트 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수동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가능('26)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28년)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110년)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유조인트조립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가능('26)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정렬유닛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6축로봇 + 정렬유닛 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가능('26)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미적용(협의完)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가능('30)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28년)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110년)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11840696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96756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64003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264003" y="348765"/>
            <a:ext cx="1079910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/portal/automation/parts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59059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590594" y="348765"/>
            <a:ext cx="291709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 · PDF/PPT 전용 공정별 상세 2/2 (NO 10-17)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587682"/>
            <a:ext cx="12188952" cy="627031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594937"/>
            <a:ext cx="12174441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11022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3341" y="1124576"/>
            <a:ext cx="407443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(현재/개선/주요내용 · 공정/라인별 확대전개계획, 현재=자동 선택 시 동영상 팝업)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2/2 (NO 10–17)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266290" y="1088299"/>
            <a:ext cx="638469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66290" y="1088299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공정 등록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10962801" y="1088299"/>
            <a:ext cx="406298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62801" y="1088299"/>
            <a:ext cx="449830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11427143" y="1088299"/>
            <a:ext cx="638469" cy="217660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27143" y="1088299"/>
            <a:ext cx="670392" cy="21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686" dirty="0"/>
          </a:p>
        </p:txBody>
      </p:sp>
      <p:sp>
        <p:nvSpPr>
          <p:cNvPr id="21" name="Shape 19"/>
          <p:cNvSpPr/>
          <p:nvPr/>
        </p:nvSpPr>
        <p:spPr>
          <a:xfrm>
            <a:off x="123341" y="1320470"/>
            <a:ext cx="11942271" cy="2989195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449987"/>
            <a:ext cx="12188952" cy="232171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0596" y="1327725"/>
          <a:ext cx="11927760" cy="1002266"/>
        </p:xfrm>
        <a:graphic>
          <a:graphicData uri="http://schemas.openxmlformats.org/drawingml/2006/table">
            <a:tbl>
              <a:tblPr/>
              <a:tblGrid>
                <a:gridCol w="322050"/>
                <a:gridCol w="1252415"/>
                <a:gridCol w="775304"/>
                <a:gridCol w="775304"/>
                <a:gridCol w="1824947"/>
                <a:gridCol w="871919"/>
                <a:gridCol w="871919"/>
                <a:gridCol w="871919"/>
                <a:gridCol w="871919"/>
                <a:gridCol w="871919"/>
                <a:gridCol w="871919"/>
                <a:gridCol w="871919"/>
                <a:gridCol w="874305"/>
              </a:tblGrid>
              <a:tr h="2128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[B/P] 창원2C 라인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2B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창원 2E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MSK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MWX 조립2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12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미적용(공간부족)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27년)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협의必(ROI 58년)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협의必(회수불가) 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완제품 업로딩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旣자동화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1683463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 - 공정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979899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979899" y="348765"/>
            <a:ext cx="937071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공정 등록"(5-1)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163652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163652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6205020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2604663"/>
            <a:ext cx="4643410" cy="2916642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735259"/>
            <a:ext cx="44484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272074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3214111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325775" y="3148813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328" y="3148813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356236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Practice 지정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325775" y="3497068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328" y="3497068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2455135" y="391062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325775" y="3845324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98328" y="3845324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2455135" y="425887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325775" y="4193580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98328" y="4193580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2455135" y="460713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325775" y="4541836"/>
            <a:ext cx="3482558" cy="377277"/>
          </a:xfrm>
          <a:prstGeom prst="roundRect">
            <a:avLst>
              <a:gd name="adj" fmla="val 7692"/>
            </a:avLst>
          </a:prstGeom>
          <a:solidFill>
            <a:srgbClr val="FAFAFA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98328" y="4599878"/>
            <a:ext cx="3380983" cy="261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드래그하거나 클릭하여 첨부</a:t>
            </a:r>
            <a:endParaRPr lang="en-US" sz="686" dirty="0"/>
          </a:p>
        </p:txBody>
      </p:sp>
      <p:sp>
        <p:nvSpPr>
          <p:cNvPr id="31" name="Shape 29"/>
          <p:cNvSpPr/>
          <p:nvPr/>
        </p:nvSpPr>
        <p:spPr>
          <a:xfrm>
            <a:off x="2310029" y="5064219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12299" y="5173049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42895" y="5173049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6396592" y="5173049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27188" y="5173049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9263581" y="0"/>
            <a:ext cx="2925258" cy="32503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2965" y="25175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222965" y="25175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5-1</a:t>
            </a:r>
            <a:endParaRPr lang="en-US" sz="571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361315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33388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공정 등록 폼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SCR-001 "+ 공정 등록"(5-1) 클릭 시 오픈되는 모달이다.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등록 폼(공정명·Best Practice 지정·상태·담당자·첨부)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공정 등록" 클릭 시 오픈. 배경(부품 공정 자동화 현황 화면)은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공정명(텍스트)/상태(선택: 자동·수동·旣자동화)/담당자(선택: 홍**·김**)는 필수 입력. Best Practice 지정(선택: 창원 2C 라인·창원 2A·창원 2B)은 선택 입력 — 지정 시 해당 라인이 [B/P] 기준(베이스라인) 컬럼으로 표시. 첨부는 선택 — "파일을 드래그하거나 클릭하여 첨부" 안내 문구가 있는 점선 테두리 드롭존(drag&amp;drop) 형태이며, 별도의 "파일 선택" 버튼은 없다.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"상태" 값에 따라 공정별 상세 표의 셀 표기 규칙(●자동, 가능(연도), 협의필 등)이 결정된다.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저장 후 모달 닫힘, 공정별 상세 표 갱신, "새 공정이 성공적으로 등록되었습니다." 안내. "취소"/배경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/api/automation/parts/process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17775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 - 이메일 공유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073992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073992" y="348765"/>
            <a:ext cx="951582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"이메일 공유"(5-3)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72255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272255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6205020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115" y="2909387"/>
            <a:ext cx="3047238" cy="2307194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253221" y="3039983"/>
            <a:ext cx="538935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공유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5850629" y="302547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253221" y="351883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수신자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4123861" y="3453536"/>
            <a:ext cx="188638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96414" y="3453536"/>
            <a:ext cx="178481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주소 입력, 쉼표(,)로 구분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3253221" y="386709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자료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4123861" y="3801792"/>
            <a:ext cx="101575" cy="101575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23861" y="3801792"/>
            <a:ext cx="11681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4283478" y="3801792"/>
            <a:ext cx="59811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현황 (엑셀)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4123861" y="3946899"/>
            <a:ext cx="101575" cy="101575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23861" y="3946899"/>
            <a:ext cx="11681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283478" y="3946899"/>
            <a:ext cx="673385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(엑셀)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3253221" y="421534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</a:t>
            </a:r>
            <a:endParaRPr lang="en-US" sz="686" dirty="0"/>
          </a:p>
        </p:txBody>
      </p:sp>
      <p:sp>
        <p:nvSpPr>
          <p:cNvPr id="27" name="Shape 25"/>
          <p:cNvSpPr/>
          <p:nvPr/>
        </p:nvSpPr>
        <p:spPr>
          <a:xfrm>
            <a:off x="4123861" y="4150048"/>
            <a:ext cx="1886385" cy="46434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96414" y="4208091"/>
            <a:ext cx="1784811" cy="3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전달할 메시지를 입력하세요 (선택)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108115" y="4759496"/>
            <a:ext cx="304723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14213" y="4868325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44809" y="4868325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5598506" y="4868325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29102" y="4868325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9263581" y="0"/>
            <a:ext cx="2925258" cy="2728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021051" y="282232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021051" y="282232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5-3</a:t>
            </a:r>
            <a:endParaRPr lang="en-US" sz="571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49758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223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이메일 공유 폼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SCR-001 "이메일 공유"(5-3) 클릭 시 오픈되는 모달이다. 현재 조회된 공정별 상세 표를 수신자에게 이메일로 전송한다.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공유 폼(수신자·첨부 자료·메모)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"이메일 공유" 클릭 시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수신자는 필수, 이메일 형식 검증. 여러 명은 쉼표로 구분 입력. 첨부 자료는 "요약 현황(엑셀)"/"공정별 상세(엑셀)" 2종 체크박스로 기본 모두 체크된 상태로 노출(해제 가능). 메모는 선택.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"공유" 클릭 시 전송 후 toast: "이메일 공유가 완료되었습니다." 노출, 모달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수신자 미입력 → alert: "받는 사람을 입력해주세요." · 이메일 형식 오류 → alert: "올바른 이메일 형식이 아닙니다."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/api/automation/parts/share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208556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 - 자동화 설비 동영상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382003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382003" y="348765"/>
            <a:ext cx="145684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공정별 상세 표에서 "●자동" 배지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085532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5085532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6205020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0242" y="2488578"/>
            <a:ext cx="4062984" cy="3148813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0242" y="2488578"/>
            <a:ext cx="4062984" cy="3917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5348" y="2626429"/>
            <a:ext cx="1047375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[자동화 동영상] 오버몰딩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6358502" y="260466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00242" y="2880365"/>
            <a:ext cx="4062984" cy="228542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72117" y="3718356"/>
            <a:ext cx="362766" cy="3192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7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►</a:t>
            </a:r>
            <a:endParaRPr lang="en-US" sz="1257" dirty="0"/>
          </a:p>
        </p:txBody>
      </p:sp>
      <p:sp>
        <p:nvSpPr>
          <p:cNvPr id="19" name="Text 17"/>
          <p:cNvSpPr txBox="1"/>
          <p:nvPr/>
        </p:nvSpPr>
        <p:spPr>
          <a:xfrm>
            <a:off x="3914590" y="4081122"/>
            <a:ext cx="147770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공정 자동화 시연 동영상 재생 중...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4205030" y="4233484"/>
            <a:ext cx="89682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(프로토타입 샘플 플레이어)</a:t>
            </a:r>
            <a:endParaRPr lang="en-US" sz="628" dirty="0"/>
          </a:p>
        </p:txBody>
      </p:sp>
      <p:sp>
        <p:nvSpPr>
          <p:cNvPr id="21" name="Shape 19"/>
          <p:cNvSpPr/>
          <p:nvPr/>
        </p:nvSpPr>
        <p:spPr>
          <a:xfrm>
            <a:off x="2600242" y="5165794"/>
            <a:ext cx="4062984" cy="47159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1869" y="5274624"/>
            <a:ext cx="426251" cy="261192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22465" y="5274624"/>
            <a:ext cx="208591" cy="261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</a:t>
            </a:r>
            <a:endParaRPr lang="en-US" sz="686" dirty="0"/>
          </a:p>
        </p:txBody>
      </p:sp>
      <p:sp>
        <p:nvSpPr>
          <p:cNvPr id="24" name="Shape 22"/>
          <p:cNvSpPr/>
          <p:nvPr/>
        </p:nvSpPr>
        <p:spPr>
          <a:xfrm>
            <a:off x="9263581" y="0"/>
            <a:ext cx="2925258" cy="2858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3178" y="240151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2513178" y="240151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4-1</a:t>
            </a:r>
            <a:endParaRPr lang="en-US" sz="571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869445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5951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4-1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동영상 미리보기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공정별 상세 표에서 video:true로 지정된 "●자동" 배지(재생 아이콘 동반)를 클릭하면 오픈되는 공용 동영상 모달이다(SCR-003 "기술현황=●" 배지 클릭 시에도 동일 모달 재사용). 어두운 헤더(#111827)와 검정 16:9 플레이어 영역으로 구성된 정적 목업이다.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헤더(공정명) + 동영상 플레이어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공정별 상세 표의 video:true 셀("●자동" + 재생 아이콘) 클릭 시 오픈. 헤더 타이틀은 "[자동화 동영상] {클릭한 행의 공정명}"으로 치환.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플레이어 영역은 검정 배경에 재생 아이콘 + "해당 공정 자동화 시연 동영상 재생 중..." 문구 + "(프로토타입 샘플 플레이어)" 안내가 고정 노출되는 정적 목업(실제 재생 컨트롤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"닫기" 클릭/배경 클릭/우측 상단 × 클릭 시 모달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/api/automation/parts/process/{{id}}/video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전체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2299939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57982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전체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3098025" y="1146342"/>
            <a:ext cx="101574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6068" y="1146342"/>
            <a:ext cx="94319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표준공정명 검색</a:t>
            </a:r>
            <a:endParaRPr lang="en-US" sz="686" dirty="0"/>
          </a:p>
        </p:txBody>
      </p:sp>
      <p:sp>
        <p:nvSpPr>
          <p:cNvPr id="9" name="Shape 7"/>
          <p:cNvSpPr/>
          <p:nvPr/>
        </p:nvSpPr>
        <p:spPr>
          <a:xfrm>
            <a:off x="4186325" y="1146342"/>
            <a:ext cx="58042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4367" y="1146342"/>
            <a:ext cx="493362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686" dirty="0"/>
          </a:p>
        </p:txBody>
      </p:sp>
      <p:sp>
        <p:nvSpPr>
          <p:cNvPr id="11" name="Shape 9"/>
          <p:cNvSpPr/>
          <p:nvPr/>
        </p:nvSpPr>
        <p:spPr>
          <a:xfrm>
            <a:off x="4839304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7347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 검색</a:t>
            </a:r>
            <a:endParaRPr lang="en-US" sz="686" dirty="0"/>
          </a:p>
        </p:txBody>
      </p:sp>
      <p:sp>
        <p:nvSpPr>
          <p:cNvPr id="13" name="Shape 11"/>
          <p:cNvSpPr/>
          <p:nvPr/>
        </p:nvSpPr>
        <p:spPr>
          <a:xfrm>
            <a:off x="7007174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07174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15" name="Shape 13"/>
          <p:cNvSpPr/>
          <p:nvPr/>
        </p:nvSpPr>
        <p:spPr>
          <a:xfrm>
            <a:off x="7544068" y="1146342"/>
            <a:ext cx="725533" cy="23217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4068" y="1146342"/>
            <a:ext cx="761810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다운로드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8342154" y="1146342"/>
            <a:ext cx="798086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2154" y="1146342"/>
            <a:ext cx="837990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표준공정 등록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1501853" y="1523619"/>
            <a:ext cx="7638387" cy="249583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2736" y="1534502"/>
            <a:ext cx="45697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70779" y="159254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1969708" y="1534502"/>
            <a:ext cx="91394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27751" y="159254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</a:t>
            </a:r>
            <a:endParaRPr lang="en-US" sz="686" dirty="0"/>
          </a:p>
        </p:txBody>
      </p:sp>
      <p:sp>
        <p:nvSpPr>
          <p:cNvPr id="24" name="Shape 22"/>
          <p:cNvSpPr/>
          <p:nvPr/>
        </p:nvSpPr>
        <p:spPr>
          <a:xfrm>
            <a:off x="2883653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41696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645236" y="1534502"/>
            <a:ext cx="137091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278" y="159254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표준공정명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5016153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74195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686" dirty="0"/>
          </a:p>
        </p:txBody>
      </p:sp>
      <p:sp>
        <p:nvSpPr>
          <p:cNvPr id="30" name="Shape 28"/>
          <p:cNvSpPr/>
          <p:nvPr/>
        </p:nvSpPr>
        <p:spPr>
          <a:xfrm>
            <a:off x="5777736" y="1534502"/>
            <a:ext cx="106630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35778" y="159254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6844042" y="1534502"/>
            <a:ext cx="228531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2085" y="1592545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1512736" y="1759417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70779" y="181746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1969708" y="1759417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027751" y="1817460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2883653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41696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3645236" y="1759417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03278" y="181746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5016153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74195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5777736" y="1759417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35778" y="181746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라인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6844042" y="1759417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02085" y="1817460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48" name="Shape 46"/>
          <p:cNvSpPr/>
          <p:nvPr/>
        </p:nvSpPr>
        <p:spPr>
          <a:xfrm>
            <a:off x="1512736" y="1984332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570779" y="204237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686" dirty="0"/>
          </a:p>
        </p:txBody>
      </p:sp>
      <p:sp>
        <p:nvSpPr>
          <p:cNvPr id="50" name="Shape 48"/>
          <p:cNvSpPr/>
          <p:nvPr/>
        </p:nvSpPr>
        <p:spPr>
          <a:xfrm>
            <a:off x="1969708" y="1984332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027751" y="204237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52" name="Shape 50"/>
          <p:cNvSpPr/>
          <p:nvPr/>
        </p:nvSpPr>
        <p:spPr>
          <a:xfrm>
            <a:off x="2883653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941696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2라인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3645236" y="1984332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703278" y="204237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5016153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74195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5777736" y="1984332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835778" y="204237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6844042" y="1984332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902085" y="2042375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1512736" y="220924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570779" y="226729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1969708" y="220924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027751" y="2267290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2883653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941696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3라인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3645236" y="220924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703278" y="226729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5016153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74195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5777736" y="220924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835778" y="226729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6844042" y="2209248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902085" y="2267290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1512736" y="243416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570779" y="249220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1969708" y="243416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027751" y="249220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2883653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2941696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3645236" y="243416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703278" y="249220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5016153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074195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5777736" y="243416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835778" y="249220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6844042" y="2434163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902085" y="2492205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1512736" y="265907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570779" y="271712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1969708" y="265907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027751" y="271712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2883653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941696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2라인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3645236" y="265907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703278" y="271712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프레스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5016153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074195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5777736" y="265907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835778" y="271712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6844042" y="2659078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902085" y="2717121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1512736" y="288399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570779" y="294203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1969708" y="288399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027751" y="294203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2883653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2941696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3라인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3645236" y="288399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3703278" y="294203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이송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5016153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074195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5777736" y="288399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5835778" y="294203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6844042" y="2883993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6902085" y="2942036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1512736" y="310890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570779" y="316695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1969708" y="310890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2027751" y="316695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2883653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2941696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3645236" y="310890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3703278" y="316695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5016153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074195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5777736" y="310890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5835778" y="316695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6844042" y="3108908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6902085" y="3166951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1512736" y="333382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570779" y="339186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1969708" y="333382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2027751" y="339186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2883653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2941696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2라인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3645236" y="333382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3703278" y="339186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5016153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074195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5777736" y="333382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5835778" y="339186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라인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6844042" y="3333823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6902085" y="3391866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1512736" y="3558739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570779" y="361678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1969708" y="3558739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2027751" y="361678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2883653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2941696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3라인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3645236" y="3558739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3703278" y="361678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5016153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074195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5777736" y="3558739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5835778" y="361678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6844042" y="3558739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6902085" y="3616781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1512736" y="3783654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570779" y="384169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1969708" y="3783654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027751" y="384169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64" name="Shape 162"/>
          <p:cNvSpPr/>
          <p:nvPr/>
        </p:nvSpPr>
        <p:spPr>
          <a:xfrm>
            <a:off x="2883653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2941696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166" name="Shape 164"/>
          <p:cNvSpPr/>
          <p:nvPr/>
        </p:nvSpPr>
        <p:spPr>
          <a:xfrm>
            <a:off x="3645236" y="3783654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3703278" y="384169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</a:t>
            </a:r>
            <a:endParaRPr lang="en-US" sz="686" dirty="0"/>
          </a:p>
        </p:txBody>
      </p:sp>
      <p:sp>
        <p:nvSpPr>
          <p:cNvPr id="168" name="Shape 166"/>
          <p:cNvSpPr/>
          <p:nvPr/>
        </p:nvSpPr>
        <p:spPr>
          <a:xfrm>
            <a:off x="5016153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5074195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5777736" y="3783654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5835778" y="384169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6844042" y="3783654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6902085" y="3841696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4726053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4726053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4972734" y="413553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4972734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5219415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5219415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5466097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5466097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5712778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5712778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84" name="Shape 182"/>
          <p:cNvSpPr/>
          <p:nvPr/>
        </p:nvSpPr>
        <p:spPr>
          <a:xfrm>
            <a:off x="9263581" y="0"/>
            <a:ext cx="2925258" cy="55067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5" name="Shape 183"/>
          <p:cNvSpPr/>
          <p:nvPr/>
        </p:nvSpPr>
        <p:spPr>
          <a:xfrm>
            <a:off x="7340919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6" name="Text 184"/>
          <p:cNvSpPr txBox="1"/>
          <p:nvPr/>
        </p:nvSpPr>
        <p:spPr>
          <a:xfrm>
            <a:off x="7340919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87" name="Shape 185"/>
          <p:cNvSpPr/>
          <p:nvPr/>
        </p:nvSpPr>
        <p:spPr>
          <a:xfrm>
            <a:off x="8131750" y="1262427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8" name="Text 186"/>
          <p:cNvSpPr txBox="1"/>
          <p:nvPr/>
        </p:nvSpPr>
        <p:spPr>
          <a:xfrm>
            <a:off x="8131750" y="1262427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89" name="Shape 187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0" name="Text 188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514" dirty="0"/>
          </a:p>
        </p:txBody>
      </p:sp>
      <p:sp>
        <p:nvSpPr>
          <p:cNvPr id="191" name="Shape 189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2" name="Text 190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93" name="Shape 191"/>
          <p:cNvSpPr/>
          <p:nvPr/>
        </p:nvSpPr>
        <p:spPr>
          <a:xfrm>
            <a:off x="7805260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4" name="Text 192"/>
          <p:cNvSpPr txBox="1"/>
          <p:nvPr/>
        </p:nvSpPr>
        <p:spPr>
          <a:xfrm>
            <a:off x="7805260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95" name="Shape 193"/>
          <p:cNvSpPr/>
          <p:nvPr/>
        </p:nvSpPr>
        <p:spPr>
          <a:xfrm>
            <a:off x="8028361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6" name="Text 194"/>
          <p:cNvSpPr txBox="1"/>
          <p:nvPr/>
        </p:nvSpPr>
        <p:spPr>
          <a:xfrm>
            <a:off x="8028361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14" dirty="0"/>
          </a:p>
        </p:txBody>
      </p:sp>
      <p:sp>
        <p:nvSpPr>
          <p:cNvPr id="197" name="Shape 195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8" name="Text 196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99" name="Shape 197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0" name="Text 198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01" name="Shape 199"/>
          <p:cNvSpPr/>
          <p:nvPr/>
        </p:nvSpPr>
        <p:spPr>
          <a:xfrm>
            <a:off x="1349491" y="4215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2" name="Text 200"/>
          <p:cNvSpPr txBox="1"/>
          <p:nvPr/>
        </p:nvSpPr>
        <p:spPr>
          <a:xfrm>
            <a:off x="1349491" y="4215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6200416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33388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&amp; 액션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공장/라인/표준공정명/순서/비고 조건으로 조회하고, 엑셀 다운로드·신규 등록을 수행하는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조건 선택 후 클릭 시 하단 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/api/admin/std-process?factory=&amp;line=&amp;name=&amp;seq=&amp;remark=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엑셀 다운로드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현재 조회 조건 기준 목록을 엑셀 파일로 다운로드.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다운로드 대상 없음 → alert: "다운로드할 데이터가 없습니다."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1-3 표준공정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표시(관리자 화면).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"표준공정 마스터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표준공정 마스터 관리(SCR-002) 전용 등록 기능.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56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표준공정 마스터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공장/라인별 표준공정명·순서·비고를 관리하는 30건 목록 표이다(페이지당 10건, 3페이지).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목록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조건에 해당하는 표준공정을 최신 등록순으로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비고에 "신규 라인" 표기가 있으면 파란색 강조 텍스트로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/api/admin/std-process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</a:tr>
              <a:tr h="1231653">
                <a:tc>
                  <a:txBody>
                    <a:bodyPr/>
                    <a:lstStyle/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"수정" 클릭 시 "표준공정 마스터 등록" 팝업이 해당 값으로 프리필되어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PUT /api/admin/std-process/{id}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2-3 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"삭제" 클릭 시 삭제 확인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1250"/>
                <a:gridCol w="1576318"/>
                <a:gridCol w="1947568"/>
                <a:gridCol w="1996710"/>
                <a:gridCol w="2433480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/portal/admin/std-process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1608" cy="159617"/>
        </p:xfrm>
        <a:graphic>
          <a:graphicData uri="http://schemas.openxmlformats.org/drawingml/2006/table">
            <a:tbl>
              <a:tblPr/>
              <a:tblGrid>
                <a:gridCol w="28080"/>
                <a:gridCol w="505447"/>
                <a:gridCol w="28080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SCR-002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259456"/>
                <a:gridCol w="3963079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현황&gt;표준공정 마스터 관리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Shape 201"/>
          <p:cNvSpPr/>
          <p:nvPr/>
        </p:nvSpPr>
        <p:spPr>
          <a:xfrm>
            <a:off x="7340919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0" name="Text 202"/>
          <p:cNvSpPr txBox="1"/>
          <p:nvPr/>
        </p:nvSpPr>
        <p:spPr>
          <a:xfrm>
            <a:off x="7340919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211" name="Shape 203"/>
          <p:cNvSpPr/>
          <p:nvPr/>
        </p:nvSpPr>
        <p:spPr>
          <a:xfrm>
            <a:off x="8131750" y="1262427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2" name="Text 204"/>
          <p:cNvSpPr txBox="1"/>
          <p:nvPr/>
        </p:nvSpPr>
        <p:spPr>
          <a:xfrm>
            <a:off x="8131750" y="1262427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213" name="Shape 205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4" name="Text 206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514" dirty="0"/>
          </a:p>
        </p:txBody>
      </p:sp>
      <p:sp>
        <p:nvSpPr>
          <p:cNvPr id="215" name="Shape 207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6" name="Text 208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217" name="Shape 209"/>
          <p:cNvSpPr/>
          <p:nvPr/>
        </p:nvSpPr>
        <p:spPr>
          <a:xfrm>
            <a:off x="7805260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8" name="Text 210"/>
          <p:cNvSpPr txBox="1"/>
          <p:nvPr/>
        </p:nvSpPr>
        <p:spPr>
          <a:xfrm>
            <a:off x="7805260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219" name="Shape 211"/>
          <p:cNvSpPr/>
          <p:nvPr/>
        </p:nvSpPr>
        <p:spPr>
          <a:xfrm>
            <a:off x="8028361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20" name="Text 212"/>
          <p:cNvSpPr txBox="1"/>
          <p:nvPr/>
        </p:nvSpPr>
        <p:spPr>
          <a:xfrm>
            <a:off x="8028361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14" dirty="0"/>
          </a:p>
        </p:txBody>
      </p:sp>
      <p:sp>
        <p:nvSpPr>
          <p:cNvPr id="221" name="Shape 213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22" name="Text 214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23" name="Shape 215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24" name="Text 216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25" name="Shape 217"/>
          <p:cNvSpPr/>
          <p:nvPr/>
        </p:nvSpPr>
        <p:spPr>
          <a:xfrm>
            <a:off x="1349491" y="4215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26" name="Text 218"/>
          <p:cNvSpPr txBox="1"/>
          <p:nvPr/>
        </p:nvSpPr>
        <p:spPr>
          <a:xfrm>
            <a:off x="1349491" y="4215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227" name="Text 219"/>
          <p:cNvSpPr/>
          <p:nvPr/>
        </p:nvSpPr>
        <p:spPr>
          <a:xfrm>
            <a:off x="9394177" y="6565392"/>
            <a:ext cx="2678577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160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101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222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2225" y="337882"/>
            <a:ext cx="9417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50626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250626" y="348765"/>
            <a:ext cx="115325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/portal/admin/std-process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65056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650564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975036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37582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108830" y="137125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7255" y="1530874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8830" y="158891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18065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459556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5" name="Text 23"/>
          <p:cNvSpPr txBox="1"/>
          <p:nvPr/>
        </p:nvSpPr>
        <p:spPr>
          <a:xfrm>
            <a:off x="108830" y="265545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108830" y="287311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076259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210405" y="3257643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4535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67119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388885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10651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3" name="Text 31"/>
          <p:cNvSpPr txBox="1"/>
          <p:nvPr/>
        </p:nvSpPr>
        <p:spPr>
          <a:xfrm>
            <a:off x="108830" y="432417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108830" y="45418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1501853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59896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전체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2299939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57982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전체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39" name="Shape 37"/>
          <p:cNvSpPr/>
          <p:nvPr/>
        </p:nvSpPr>
        <p:spPr>
          <a:xfrm>
            <a:off x="3098025" y="1146342"/>
            <a:ext cx="101574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56068" y="1146342"/>
            <a:ext cx="94319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표준공정명 검색</a:t>
            </a:r>
            <a:endParaRPr lang="en-US" sz="686" dirty="0"/>
          </a:p>
        </p:txBody>
      </p:sp>
      <p:sp>
        <p:nvSpPr>
          <p:cNvPr id="41" name="Shape 39"/>
          <p:cNvSpPr/>
          <p:nvPr/>
        </p:nvSpPr>
        <p:spPr>
          <a:xfrm>
            <a:off x="4186325" y="1146342"/>
            <a:ext cx="58042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44367" y="1146342"/>
            <a:ext cx="493362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686" dirty="0"/>
          </a:p>
        </p:txBody>
      </p:sp>
      <p:sp>
        <p:nvSpPr>
          <p:cNvPr id="43" name="Shape 41"/>
          <p:cNvSpPr/>
          <p:nvPr/>
        </p:nvSpPr>
        <p:spPr>
          <a:xfrm>
            <a:off x="4839304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97347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 검색</a:t>
            </a:r>
            <a:endParaRPr lang="en-US" sz="686" dirty="0"/>
          </a:p>
        </p:txBody>
      </p:sp>
      <p:sp>
        <p:nvSpPr>
          <p:cNvPr id="45" name="Shape 43"/>
          <p:cNvSpPr/>
          <p:nvPr/>
        </p:nvSpPr>
        <p:spPr>
          <a:xfrm>
            <a:off x="7007174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007174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47" name="Shape 45"/>
          <p:cNvSpPr/>
          <p:nvPr/>
        </p:nvSpPr>
        <p:spPr>
          <a:xfrm>
            <a:off x="7544068" y="1146342"/>
            <a:ext cx="725533" cy="23217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44068" y="1146342"/>
            <a:ext cx="761810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다운로드</a:t>
            </a:r>
            <a:endParaRPr lang="en-US" sz="686" dirty="0"/>
          </a:p>
        </p:txBody>
      </p:sp>
      <p:sp>
        <p:nvSpPr>
          <p:cNvPr id="49" name="Shape 47"/>
          <p:cNvSpPr/>
          <p:nvPr/>
        </p:nvSpPr>
        <p:spPr>
          <a:xfrm>
            <a:off x="8342154" y="1146342"/>
            <a:ext cx="798086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342154" y="1146342"/>
            <a:ext cx="837990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표준공정 등록</a:t>
            </a:r>
            <a:endParaRPr lang="en-US" sz="686" dirty="0"/>
          </a:p>
        </p:txBody>
      </p:sp>
      <p:sp>
        <p:nvSpPr>
          <p:cNvPr id="51" name="Shape 49"/>
          <p:cNvSpPr/>
          <p:nvPr/>
        </p:nvSpPr>
        <p:spPr>
          <a:xfrm>
            <a:off x="1501853" y="1523619"/>
            <a:ext cx="7638387" cy="249583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12736" y="1534502"/>
            <a:ext cx="45697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570779" y="159254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1969708" y="1534502"/>
            <a:ext cx="91394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27751" y="159254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2883653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941696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3645236" y="1534502"/>
            <a:ext cx="137091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703278" y="159254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표준공정명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5016153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074195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5777736" y="1534502"/>
            <a:ext cx="106630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835778" y="159254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6844042" y="1534502"/>
            <a:ext cx="228531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902085" y="1592545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1512736" y="1759417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570779" y="181746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1969708" y="1759417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027751" y="1817460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2883653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941696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3645236" y="1759417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703278" y="181746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5016153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074195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5777736" y="1759417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835778" y="181746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라인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6844042" y="1759417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902085" y="1817460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1512736" y="1984332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570779" y="204237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1969708" y="1984332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027751" y="204237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2883653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941696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2라인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3645236" y="1984332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703278" y="204237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5016153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074195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5777736" y="1984332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835778" y="204237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6844042" y="1984332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902085" y="2042375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1512736" y="220924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570779" y="226729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1969708" y="220924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027751" y="2267290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2883653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941696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3라인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3645236" y="220924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703278" y="226729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5016153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074195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5777736" y="220924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835778" y="226729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6844042" y="2209248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902085" y="2267290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1512736" y="243416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570779" y="249220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1969708" y="243416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027751" y="249220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2883653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2941696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3645236" y="243416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703278" y="249220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5016153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074195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5777736" y="243416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5835778" y="249220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6844042" y="2434163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902085" y="2492205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1512736" y="265907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570779" y="271712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1969708" y="265907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2027751" y="271712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2883653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941696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2라인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3645236" y="265907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3703278" y="271712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프레스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5016153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074195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5777736" y="265907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5835778" y="271712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6844042" y="2659078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6902085" y="2717121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1512736" y="288399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570779" y="294203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1969708" y="288399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027751" y="294203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2883653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2941696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3라인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3645236" y="288399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3703278" y="294203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이송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5016153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5074195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5777736" y="288399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5835778" y="294203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6844042" y="2883993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6902085" y="2942036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1512736" y="310890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1570779" y="316695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1969708" y="310890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2027751" y="316695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2883653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941696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3645236" y="310890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3703278" y="316695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5016153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5074195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5777736" y="310890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5835778" y="316695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6844042" y="3108908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6902085" y="3166951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64" name="Shape 162"/>
          <p:cNvSpPr/>
          <p:nvPr/>
        </p:nvSpPr>
        <p:spPr>
          <a:xfrm>
            <a:off x="1512736" y="333382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1570779" y="339186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686" dirty="0"/>
          </a:p>
        </p:txBody>
      </p:sp>
      <p:sp>
        <p:nvSpPr>
          <p:cNvPr id="166" name="Shape 164"/>
          <p:cNvSpPr/>
          <p:nvPr/>
        </p:nvSpPr>
        <p:spPr>
          <a:xfrm>
            <a:off x="1969708" y="333382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2027751" y="339186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68" name="Shape 166"/>
          <p:cNvSpPr/>
          <p:nvPr/>
        </p:nvSpPr>
        <p:spPr>
          <a:xfrm>
            <a:off x="2883653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2941696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2라인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3645236" y="333382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3703278" y="339186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5016153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5074195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5777736" y="333382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5835778" y="339186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라인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6844042" y="3333823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6902085" y="3391866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1512736" y="3558739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1570779" y="361678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1969708" y="3558739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2027751" y="361678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A공장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2883653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2941696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3라인</a:t>
            </a:r>
            <a:endParaRPr lang="en-US" sz="686" dirty="0"/>
          </a:p>
        </p:txBody>
      </p:sp>
      <p:sp>
        <p:nvSpPr>
          <p:cNvPr id="184" name="Shape 182"/>
          <p:cNvSpPr/>
          <p:nvPr/>
        </p:nvSpPr>
        <p:spPr>
          <a:xfrm>
            <a:off x="3645236" y="3558739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3703278" y="361678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</a:t>
            </a:r>
            <a:endParaRPr lang="en-US" sz="686" dirty="0"/>
          </a:p>
        </p:txBody>
      </p:sp>
      <p:sp>
        <p:nvSpPr>
          <p:cNvPr id="186" name="Shape 184"/>
          <p:cNvSpPr/>
          <p:nvPr/>
        </p:nvSpPr>
        <p:spPr>
          <a:xfrm>
            <a:off x="5016153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5074195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en-US" sz="686" dirty="0"/>
          </a:p>
        </p:txBody>
      </p:sp>
      <p:sp>
        <p:nvSpPr>
          <p:cNvPr id="188" name="Shape 186"/>
          <p:cNvSpPr/>
          <p:nvPr/>
        </p:nvSpPr>
        <p:spPr>
          <a:xfrm>
            <a:off x="5777736" y="3558739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5835778" y="361678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90" name="Shape 188"/>
          <p:cNvSpPr/>
          <p:nvPr/>
        </p:nvSpPr>
        <p:spPr>
          <a:xfrm>
            <a:off x="6844042" y="3558739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6902085" y="3616781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92" name="Shape 190"/>
          <p:cNvSpPr/>
          <p:nvPr/>
        </p:nvSpPr>
        <p:spPr>
          <a:xfrm>
            <a:off x="1512736" y="3783654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1570779" y="384169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686" dirty="0"/>
          </a:p>
        </p:txBody>
      </p:sp>
      <p:sp>
        <p:nvSpPr>
          <p:cNvPr id="194" name="Shape 192"/>
          <p:cNvSpPr/>
          <p:nvPr/>
        </p:nvSpPr>
        <p:spPr>
          <a:xfrm>
            <a:off x="1969708" y="3783654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2027751" y="384169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B공장</a:t>
            </a:r>
            <a:endParaRPr lang="en-US" sz="686" dirty="0"/>
          </a:p>
        </p:txBody>
      </p:sp>
      <p:sp>
        <p:nvSpPr>
          <p:cNvPr id="196" name="Shape 194"/>
          <p:cNvSpPr/>
          <p:nvPr/>
        </p:nvSpPr>
        <p:spPr>
          <a:xfrm>
            <a:off x="2883653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2941696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1라인</a:t>
            </a:r>
            <a:endParaRPr lang="en-US" sz="686" dirty="0"/>
          </a:p>
        </p:txBody>
      </p:sp>
      <p:sp>
        <p:nvSpPr>
          <p:cNvPr id="198" name="Shape 196"/>
          <p:cNvSpPr/>
          <p:nvPr/>
        </p:nvSpPr>
        <p:spPr>
          <a:xfrm>
            <a:off x="3645236" y="3783654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3703278" y="384169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</a:t>
            </a:r>
            <a:endParaRPr lang="en-US" sz="686" dirty="0"/>
          </a:p>
        </p:txBody>
      </p:sp>
      <p:sp>
        <p:nvSpPr>
          <p:cNvPr id="200" name="Shape 198"/>
          <p:cNvSpPr/>
          <p:nvPr/>
        </p:nvSpPr>
        <p:spPr>
          <a:xfrm>
            <a:off x="5016153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5074195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686" dirty="0"/>
          </a:p>
        </p:txBody>
      </p:sp>
      <p:sp>
        <p:nvSpPr>
          <p:cNvPr id="202" name="Shape 200"/>
          <p:cNvSpPr/>
          <p:nvPr/>
        </p:nvSpPr>
        <p:spPr>
          <a:xfrm>
            <a:off x="5777736" y="3783654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5835778" y="384169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04" name="Shape 202"/>
          <p:cNvSpPr/>
          <p:nvPr/>
        </p:nvSpPr>
        <p:spPr>
          <a:xfrm>
            <a:off x="6844042" y="3783654"/>
            <a:ext cx="228531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6902085" y="3841696"/>
            <a:ext cx="221276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206" name="Shape 204"/>
          <p:cNvSpPr/>
          <p:nvPr/>
        </p:nvSpPr>
        <p:spPr>
          <a:xfrm>
            <a:off x="4726053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4726053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208" name="Shape 206"/>
          <p:cNvSpPr/>
          <p:nvPr/>
        </p:nvSpPr>
        <p:spPr>
          <a:xfrm>
            <a:off x="4972734" y="413553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9" name="Text 207"/>
          <p:cNvSpPr txBox="1"/>
          <p:nvPr/>
        </p:nvSpPr>
        <p:spPr>
          <a:xfrm>
            <a:off x="4972734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210" name="Shape 208"/>
          <p:cNvSpPr/>
          <p:nvPr/>
        </p:nvSpPr>
        <p:spPr>
          <a:xfrm>
            <a:off x="5219415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5219415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212" name="Shape 210"/>
          <p:cNvSpPr/>
          <p:nvPr/>
        </p:nvSpPr>
        <p:spPr>
          <a:xfrm>
            <a:off x="5466097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5466097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214" name="Shape 212"/>
          <p:cNvSpPr/>
          <p:nvPr/>
        </p:nvSpPr>
        <p:spPr>
          <a:xfrm>
            <a:off x="5712778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5712778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216" name="Shape 214"/>
          <p:cNvSpPr/>
          <p:nvPr/>
        </p:nvSpPr>
        <p:spPr>
          <a:xfrm>
            <a:off x="9263581" y="0"/>
            <a:ext cx="2925258" cy="2851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Shape 215"/>
          <p:cNvSpPr/>
          <p:nvPr/>
        </p:nvSpPr>
        <p:spPr>
          <a:xfrm>
            <a:off x="7340919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8" name="Text 216"/>
          <p:cNvSpPr txBox="1"/>
          <p:nvPr/>
        </p:nvSpPr>
        <p:spPr>
          <a:xfrm>
            <a:off x="7340919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219" name="Shape 217"/>
          <p:cNvSpPr/>
          <p:nvPr/>
        </p:nvSpPr>
        <p:spPr>
          <a:xfrm>
            <a:off x="8131750" y="1262427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20" name="Text 218"/>
          <p:cNvSpPr txBox="1"/>
          <p:nvPr/>
        </p:nvSpPr>
        <p:spPr>
          <a:xfrm>
            <a:off x="8131750" y="1262427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221" name="Shape 219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22" name="Text 220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514" dirty="0"/>
          </a:p>
        </p:txBody>
      </p:sp>
      <p:sp>
        <p:nvSpPr>
          <p:cNvPr id="223" name="Shape 221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24" name="Text 222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225" name="Shape 223"/>
          <p:cNvSpPr/>
          <p:nvPr/>
        </p:nvSpPr>
        <p:spPr>
          <a:xfrm>
            <a:off x="7805260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26" name="Text 224"/>
          <p:cNvSpPr txBox="1"/>
          <p:nvPr/>
        </p:nvSpPr>
        <p:spPr>
          <a:xfrm>
            <a:off x="7805260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227" name="Shape 225"/>
          <p:cNvSpPr/>
          <p:nvPr/>
        </p:nvSpPr>
        <p:spPr>
          <a:xfrm>
            <a:off x="8028361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28" name="Text 226"/>
          <p:cNvSpPr txBox="1"/>
          <p:nvPr/>
        </p:nvSpPr>
        <p:spPr>
          <a:xfrm>
            <a:off x="8028361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14" dirty="0"/>
          </a:p>
        </p:txBody>
      </p:sp>
      <p:sp>
        <p:nvSpPr>
          <p:cNvPr id="229" name="Shape 227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30" name="Text 228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31" name="Shape 229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32" name="Text 230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33" name="Shape 231"/>
          <p:cNvSpPr/>
          <p:nvPr/>
        </p:nvSpPr>
        <p:spPr>
          <a:xfrm>
            <a:off x="1349491" y="4215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34" name="Text 232"/>
          <p:cNvSpPr txBox="1"/>
          <p:nvPr/>
        </p:nvSpPr>
        <p:spPr>
          <a:xfrm>
            <a:off x="1349491" y="4215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869963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61189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연동 모듈 존재 → 삭제 확인 팝업에 "이 항목은 N개 모듈에서 사용 중입니다. 계속하시겠습니까?" 안내 후 확인 시 삭제.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DELETE /api/admin/std-process/{id}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영역이다(3페이지,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160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101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222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2225" y="337882"/>
            <a:ext cx="215381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 - 표준공정 마스터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462719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462719" y="348765"/>
            <a:ext cx="1651041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표준공정 등록"(1-3) 또는 행 "수정"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360441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5360441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0455" y="2154833"/>
            <a:ext cx="3482558" cy="2786046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35561" y="2285429"/>
            <a:ext cx="940245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068289" y="22709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035561" y="276428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906201" y="2698982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78754" y="2698982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3035561" y="311253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906201" y="3047238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8754" y="3047238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3035561" y="346079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906201" y="3395494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8754" y="3395494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용접, 조립 등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3035561" y="380904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906201" y="3743750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78754" y="3743750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10, 20 등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3035561" y="4157303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906201" y="4092005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8754" y="4092005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 입력</a:t>
            </a:r>
            <a:endParaRPr lang="en-US" sz="686" dirty="0"/>
          </a:p>
        </p:txBody>
      </p:sp>
      <p:sp>
        <p:nvSpPr>
          <p:cNvPr id="31" name="Shape 29"/>
          <p:cNvSpPr/>
          <p:nvPr/>
        </p:nvSpPr>
        <p:spPr>
          <a:xfrm>
            <a:off x="2890455" y="4483793"/>
            <a:ext cx="348255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31873" y="4592623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62469" y="4592623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5816166" y="4592623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6762" y="4592623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9263581" y="0"/>
            <a:ext cx="2925258" cy="2205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803391" y="206776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803391" y="206776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571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87782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표준공정 마스터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표준공정 마스터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표준공정 등록"(1-3) 또는 행 "수정"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공장*, 라인*, 표준공정명*, 순서*, 비고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"저장"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필수값(공장, 라인, 표준공정명, 순서)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160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101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222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2225" y="337882"/>
            <a:ext cx="165761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 - 삭제 확인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966522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966522" y="348765"/>
            <a:ext cx="56999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"삭제"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783200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783200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115" y="2899184"/>
            <a:ext cx="3047238" cy="129723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253221" y="3029780"/>
            <a:ext cx="44484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확인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5850629" y="301526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253221" y="3443334"/>
            <a:ext cx="2800557" cy="15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항목은 12개 모듈에서 사용 중입니다. 계속하시겠습니까?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108115" y="3739328"/>
            <a:ext cx="304723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4213" y="3848158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44809" y="3848158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5598506" y="3848158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29102" y="3848158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9263581" y="0"/>
            <a:ext cx="2925258" cy="24668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021051" y="281212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021051" y="281212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71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125733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8514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삭제 확인을 트리거하는 영역이다(상위 SCR-002 Description NO=2 "표준공정 마스터 목록" 요소 2-3과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2-3 삭제 확인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 "삭제"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안내 문구 확인 후 진행.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연동 모듈 존재 → "이 항목은 N개 모듈에서 사용 중입니다. 계속하시겠습니까?" 확인 문구 노출 후 확인 시 삭제 진행.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"삭제"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501853" y="1893641"/>
            <a:ext cx="768191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2F9E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동기화: 2026-08-07 03:00</a:t>
            </a:r>
            <a:endParaRPr lang="en-US" sz="628" dirty="0"/>
          </a:p>
        </p:txBody>
      </p:sp>
      <p:sp>
        <p:nvSpPr>
          <p:cNvPr id="4" name="Shape 2"/>
          <p:cNvSpPr/>
          <p:nvPr/>
        </p:nvSpPr>
        <p:spPr>
          <a:xfrm>
            <a:off x="1501853" y="2060513"/>
            <a:ext cx="7638387" cy="232171"/>
          </a:xfrm>
          <a:prstGeom prst="rect">
            <a:avLst/>
          </a:prstGeom>
          <a:solidFill>
            <a:srgbClr val="FFF4E6"/>
          </a:solidFill>
          <a:ln w="762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88917" y="2118556"/>
            <a:ext cx="7507791" cy="116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E859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E859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정합성 검증 실패 항목이 있습니다. 관리자 확인이 필요합니다.</a:t>
            </a:r>
            <a:endParaRPr lang="en-US" sz="686" dirty="0"/>
          </a:p>
        </p:txBody>
      </p:sp>
      <p:sp>
        <p:nvSpPr>
          <p:cNvPr id="6" name="Shape 4"/>
          <p:cNvSpPr/>
          <p:nvPr/>
        </p:nvSpPr>
        <p:spPr>
          <a:xfrm>
            <a:off x="1501853" y="2539365"/>
            <a:ext cx="7638387" cy="168323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9108" y="2546620"/>
            <a:ext cx="7623877" cy="204600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82198" y="2561131"/>
            <a:ext cx="36277" cy="1567151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1501853" y="4541836"/>
            <a:ext cx="7638387" cy="168323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82198" y="4563602"/>
            <a:ext cx="36277" cy="1567151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11" name="Shape 9"/>
          <p:cNvSpPr/>
          <p:nvPr/>
        </p:nvSpPr>
        <p:spPr>
          <a:xfrm>
            <a:off x="1523619" y="6167029"/>
            <a:ext cx="7522302" cy="36277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9263581" y="0"/>
            <a:ext cx="2925258" cy="5760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5" name="Shape 13"/>
          <p:cNvSpPr/>
          <p:nvPr/>
        </p:nvSpPr>
        <p:spPr>
          <a:xfrm>
            <a:off x="1349491" y="210404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349491" y="210404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7" name="Shape 15"/>
          <p:cNvSpPr/>
          <p:nvPr/>
        </p:nvSpPr>
        <p:spPr>
          <a:xfrm>
            <a:off x="1349491" y="268447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349491" y="268447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9" name="Shape 17"/>
          <p:cNvSpPr/>
          <p:nvPr/>
        </p:nvSpPr>
        <p:spPr>
          <a:xfrm>
            <a:off x="1349491" y="370021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349491" y="37002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952512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975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탭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부품 공정 / 모듈 공정 탭으로 공정 유형을 전환하는 영역이다. 요소 2종(부품 공정 탭, 모듈 공정 탭)으로 구성된다.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부품 공정 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SCR-001(부품 공정 자동화 현황)로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모듈 공정 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 기본 활성 탭(이 화면).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활성 시 다크 배경의 필 형태로 강조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27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조회조건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제품군/제품/권역/공장/엔진타입 5종 필터로 구성된 조건 필터 영역이다. 필터명 라벨 없이 셀렉트 기본값(placeholder)만 노출한다.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조건 필터 &amp;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5종 셀렉트 각각 기본값 "{필터명} 전체"만 노출(라벨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상위(제품군) 선택 시 하위(제품/권역/공장/엔진타입) 옵션 연동 변경. 조회 버튼 클릭 시 하단 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IF-003(모듈공정배치 연동) 배치/이벤트 반영 결과 조회.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975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요약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Best Practice/국내외 종합(계)/조지아 대표차종/울산 차종명 및 차종명 3열을 비교하는 요약 매트릭스 표이다(7열×8행: 자동화율/자동공정 총 공정/교대운영/UPH/조립 인원/검사 인원/총인원/총 성인화 실적계획).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요약 현황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최종 동기화 시각 배지, 정합성 검증 실패 경고 배너와 함께 표 상단에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Best Practice 열은 파란색 배경으로 강조. 값이 없는 항목은 "-"(회색), 미확인 항목은 이탤릭 회색으로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IF-003 모듈공정배치 연동 데이터 집계 결과 조회.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3744"/>
                <a:gridCol w="1621680"/>
                <a:gridCol w="2008448"/>
                <a:gridCol w="1996710"/>
                <a:gridCol w="2324744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/pndes/automation/module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4102" cy="159617"/>
        </p:xfrm>
        <a:graphic>
          <a:graphicData uri="http://schemas.openxmlformats.org/drawingml/2006/table">
            <a:tbl>
              <a:tblPr/>
              <a:tblGrid>
                <a:gridCol w="28205"/>
                <a:gridCol w="507692"/>
                <a:gridCol w="28205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SCR-003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294274"/>
                <a:gridCol w="3928262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현황&gt;모듈 공정 자동화 현황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7638387" cy="239426"/>
        </p:xfrm>
        <a:graphic>
          <a:graphicData uri="http://schemas.openxmlformats.org/drawingml/2006/table">
            <a:tbl>
              <a:tblPr/>
              <a:tblGrid>
                <a:gridCol w="864076"/>
                <a:gridCol w="861321"/>
                <a:gridCol w="5912991"/>
              </a:tblGrid>
              <a:tr h="239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6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6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</a:t>
                      </a:r>
                      <a:endParaRPr lang="en-US" sz="93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516364"/>
          <a:ext cx="662093" cy="232171"/>
        </p:xfrm>
        <a:graphic>
          <a:graphicData uri="http://schemas.openxmlformats.org/drawingml/2006/table">
            <a:tbl>
              <a:tblPr/>
              <a:tblGrid>
                <a:gridCol w="499398"/>
                <a:gridCol w="52967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6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제품군 전체</a:t>
                      </a:r>
                      <a:endParaRPr lang="en-US" sz="656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36499" y="1516364"/>
          <a:ext cx="662093" cy="232171"/>
        </p:xfrm>
        <a:graphic>
          <a:graphicData uri="http://schemas.openxmlformats.org/drawingml/2006/table">
            <a:tbl>
              <a:tblPr/>
              <a:tblGrid>
                <a:gridCol w="499398"/>
                <a:gridCol w="52967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전체</a:t>
                      </a:r>
                      <a:endParaRPr lang="en-US" sz="81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71146" y="1516364"/>
          <a:ext cx="662093" cy="232171"/>
        </p:xfrm>
        <a:graphic>
          <a:graphicData uri="http://schemas.openxmlformats.org/drawingml/2006/table">
            <a:tbl>
              <a:tblPr/>
              <a:tblGrid>
                <a:gridCol w="499398"/>
                <a:gridCol w="52967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권역 전체</a:t>
                      </a:r>
                      <a:endParaRPr lang="en-US" sz="81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5792" y="1516364"/>
          <a:ext cx="662093" cy="232171"/>
        </p:xfrm>
        <a:graphic>
          <a:graphicData uri="http://schemas.openxmlformats.org/drawingml/2006/table">
            <a:tbl>
              <a:tblPr/>
              <a:tblGrid>
                <a:gridCol w="499398"/>
                <a:gridCol w="52967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 전체</a:t>
                      </a:r>
                      <a:endParaRPr lang="en-US" sz="81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0438" y="1516364"/>
          <a:ext cx="662093" cy="232171"/>
        </p:xfrm>
        <a:graphic>
          <a:graphicData uri="http://schemas.openxmlformats.org/drawingml/2006/table">
            <a:tbl>
              <a:tblPr/>
              <a:tblGrid>
                <a:gridCol w="499398"/>
                <a:gridCol w="52967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엔진타입 전체</a:t>
                      </a:r>
                      <a:endParaRPr lang="en-US" sz="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17857" y="1516364"/>
          <a:ext cx="567508" cy="232171"/>
        </p:xfrm>
        <a:graphic>
          <a:graphicData uri="http://schemas.openxmlformats.org/drawingml/2006/table">
            <a:tbl>
              <a:tblPr/>
              <a:tblGrid>
                <a:gridCol w="567508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2394258"/>
          <a:ext cx="7870558" cy="180875"/>
        </p:xfrm>
        <a:graphic>
          <a:graphicData uri="http://schemas.openxmlformats.org/drawingml/2006/table">
            <a:tbl>
              <a:tblPr/>
              <a:tblGrid>
                <a:gridCol w="7870558"/>
              </a:tblGrid>
              <a:tr h="180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 현황</a:t>
                      </a:r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(공장/차종별 자동화율·인원 및 성인화 실적/계획)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1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16364" y="2553876"/>
          <a:ext cx="7609366" cy="2389995"/>
        </p:xfrm>
        <a:graphic>
          <a:graphicData uri="http://schemas.openxmlformats.org/drawingml/2006/table">
            <a:tbl>
              <a:tblPr/>
              <a:tblGrid>
                <a:gridCol w="913124"/>
                <a:gridCol w="956497"/>
                <a:gridCol w="956497"/>
                <a:gridCol w="956497"/>
                <a:gridCol w="956497"/>
                <a:gridCol w="956497"/>
                <a:gridCol w="956497"/>
                <a:gridCol w="956497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 Practice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국내/외 종합(계)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조지아 대표차종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울산 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자동화율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자동공정 / 총 공정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11/17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12/17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교대운영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3교대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2교대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2교대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1교대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2교대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UPH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71UPH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인원 (직접)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인원 (간접)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총인원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성인화 (실적/계획)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'28년 0명/6명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'27년 0명/4명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'30년 0명/2명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4396729"/>
          <a:ext cx="7870558" cy="180875"/>
        </p:xfrm>
        <a:graphic>
          <a:graphicData uri="http://schemas.openxmlformats.org/drawingml/2006/table">
            <a:tbl>
              <a:tblPr/>
              <a:tblGrid>
                <a:gridCol w="7870558"/>
              </a:tblGrid>
              <a:tr h="1808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작업내용별 상세</a:t>
                      </a:r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(NO 1~15, Best Practice 기술현황·상세계획 · 차종별 확대전개계획, 자동 선택 시 상세 팝업)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9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4549091"/>
          <a:ext cx="7623877" cy="3820287"/>
        </p:xfrm>
        <a:graphic>
          <a:graphicData uri="http://schemas.openxmlformats.org/drawingml/2006/table">
            <a:tbl>
              <a:tblPr/>
              <a:tblGrid>
                <a:gridCol w="381194"/>
                <a:gridCol w="1448537"/>
                <a:gridCol w="609910"/>
                <a:gridCol w="1524775"/>
                <a:gridCol w="731892"/>
                <a:gridCol w="731892"/>
                <a:gridCol w="731892"/>
                <a:gridCol w="731892"/>
                <a:gridCol w="731892"/>
              </a:tblGrid>
              <a:tr h="2128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 Practice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조지아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울산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12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기술현황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상세계획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4EC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이대치조정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확보 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►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디프로딩(4WD)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기술개발 중('27)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 수동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멤버로딩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확보 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리어 로워암 로딩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유동으로 인한 現기술 자동화 불가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디프/멤버 가체결(4WD)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기술개발 중('29)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디프/멤버 완체결(4WD)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확보 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커플링 / 디프케리어 조립(4WD)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커플링 조립 난해로 現기술력 자동화 불가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디프오일주입(4WD)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확보 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RR로워 암/멤버 가체결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유동으로 인한 現기술 자동화 불가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스텝바/멤버 가체결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확보 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리어 어퍼암/멤버 가체결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체결부 유동으로 現 기술력 자동화 불가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스텝바 링크/스텝바 가체결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체결부 유동으로 現 기술력 자동화 불가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38" name="Shape 19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9" name="Text 20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40" name="Shape 21"/>
          <p:cNvSpPr/>
          <p:nvPr/>
        </p:nvSpPr>
        <p:spPr>
          <a:xfrm>
            <a:off x="1349491" y="210404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1" name="Text 22"/>
          <p:cNvSpPr txBox="1"/>
          <p:nvPr/>
        </p:nvSpPr>
        <p:spPr>
          <a:xfrm>
            <a:off x="1349491" y="210404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42" name="Shape 23"/>
          <p:cNvSpPr/>
          <p:nvPr/>
        </p:nvSpPr>
        <p:spPr>
          <a:xfrm>
            <a:off x="1349491" y="268447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3" name="Text 24"/>
          <p:cNvSpPr txBox="1"/>
          <p:nvPr/>
        </p:nvSpPr>
        <p:spPr>
          <a:xfrm>
            <a:off x="1349491" y="268447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44" name="Shape 25"/>
          <p:cNvSpPr/>
          <p:nvPr/>
        </p:nvSpPr>
        <p:spPr>
          <a:xfrm>
            <a:off x="1349491" y="370021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5" name="Text 26"/>
          <p:cNvSpPr txBox="1"/>
          <p:nvPr/>
        </p:nvSpPr>
        <p:spPr>
          <a:xfrm>
            <a:off x="1349491" y="37002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46" name="Text 27"/>
          <p:cNvSpPr/>
          <p:nvPr/>
        </p:nvSpPr>
        <p:spPr>
          <a:xfrm>
            <a:off x="9394177" y="6565392"/>
            <a:ext cx="2678577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102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50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719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719" y="337882"/>
            <a:ext cx="96756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278967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278967" y="348765"/>
            <a:ext cx="118794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/pndes/automation/module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713595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713595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99566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53109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108830" y="137125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7255" y="1748534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8830" y="1806577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459556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5" name="Text 23"/>
          <p:cNvSpPr txBox="1"/>
          <p:nvPr/>
        </p:nvSpPr>
        <p:spPr>
          <a:xfrm>
            <a:off x="108830" y="265545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108830" y="287311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076259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210405" y="3257643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4535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67119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388885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10651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3" name="Text 31"/>
          <p:cNvSpPr txBox="1"/>
          <p:nvPr/>
        </p:nvSpPr>
        <p:spPr>
          <a:xfrm>
            <a:off x="108830" y="432417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108830" y="45418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Text 33"/>
          <p:cNvSpPr txBox="1"/>
          <p:nvPr/>
        </p:nvSpPr>
        <p:spPr>
          <a:xfrm>
            <a:off x="1646960" y="1211640"/>
            <a:ext cx="39337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199952" y="1146342"/>
            <a:ext cx="638015" cy="239426"/>
          </a:xfrm>
          <a:prstGeom prst="roundRect">
            <a:avLst>
              <a:gd name="adj" fmla="val 15152"/>
            </a:avLst>
          </a:prstGeom>
          <a:solidFill>
            <a:srgbClr val="33333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345058" y="1211640"/>
            <a:ext cx="391334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501853" y="1516364"/>
            <a:ext cx="609448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59896" y="1516364"/>
            <a:ext cx="536894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제품군 전체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2183854" y="1516364"/>
            <a:ext cx="609448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241897" y="1516364"/>
            <a:ext cx="536894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전체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2865855" y="1516364"/>
            <a:ext cx="609448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23897" y="1516364"/>
            <a:ext cx="536894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권역 전체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3547856" y="1516364"/>
            <a:ext cx="609448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05898" y="1516364"/>
            <a:ext cx="536894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전체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4229857" y="1516364"/>
            <a:ext cx="609448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287899" y="1516364"/>
            <a:ext cx="536894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엔진타입 전체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48" name="Shape 46"/>
          <p:cNvSpPr/>
          <p:nvPr/>
        </p:nvSpPr>
        <p:spPr>
          <a:xfrm>
            <a:off x="8617857" y="1516364"/>
            <a:ext cx="522384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17857" y="1516364"/>
            <a:ext cx="565916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50" name="Text 48"/>
          <p:cNvSpPr txBox="1"/>
          <p:nvPr/>
        </p:nvSpPr>
        <p:spPr>
          <a:xfrm>
            <a:off x="1501853" y="1893641"/>
            <a:ext cx="768191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2F9E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동기화: 2026-08-07 03:00</a:t>
            </a:r>
            <a:endParaRPr lang="en-US" sz="628" dirty="0"/>
          </a:p>
        </p:txBody>
      </p:sp>
      <p:sp>
        <p:nvSpPr>
          <p:cNvPr id="51" name="Shape 49"/>
          <p:cNvSpPr/>
          <p:nvPr/>
        </p:nvSpPr>
        <p:spPr>
          <a:xfrm>
            <a:off x="1501853" y="2060513"/>
            <a:ext cx="7638387" cy="232171"/>
          </a:xfrm>
          <a:prstGeom prst="rect">
            <a:avLst/>
          </a:prstGeom>
          <a:solidFill>
            <a:srgbClr val="FFF4E6"/>
          </a:solidFill>
          <a:ln w="7620">
            <a:solidFill>
              <a:srgbClr val="E8590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588917" y="2118556"/>
            <a:ext cx="7507791" cy="116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E859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E859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정합성 검증 실패 항목이 있습니다. 관리자 확인이 필요합니다.</a:t>
            </a:r>
            <a:endParaRPr lang="en-US" sz="686" dirty="0"/>
          </a:p>
        </p:txBody>
      </p:sp>
      <p:sp>
        <p:nvSpPr>
          <p:cNvPr id="53" name="Text 51"/>
          <p:cNvSpPr txBox="1"/>
          <p:nvPr/>
        </p:nvSpPr>
        <p:spPr>
          <a:xfrm>
            <a:off x="1501853" y="2394258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현황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(공장/차종별 자동화율·인원 및 성인화 실적/계획)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501853" y="2539365"/>
            <a:ext cx="7638387" cy="168323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09108" y="2546620"/>
            <a:ext cx="7623877" cy="204600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19991" y="2557503"/>
            <a:ext cx="912358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578034" y="2615546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2432349" y="2557503"/>
            <a:ext cx="955663" cy="224915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490392" y="261554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Practice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3388012" y="2557503"/>
            <a:ext cx="95566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446054" y="261554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국내/외 종합(계)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4343675" y="2557503"/>
            <a:ext cx="95566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401717" y="261554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조지아 대표차종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5299337" y="2557503"/>
            <a:ext cx="95566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57380" y="261554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울산 차종명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6255000" y="2557503"/>
            <a:ext cx="95566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313043" y="261554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차종명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7210663" y="2557503"/>
            <a:ext cx="95566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268706" y="261554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차종명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8166326" y="2557503"/>
            <a:ext cx="955776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224368" y="2615546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차종명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1519991" y="2782419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578034" y="2840461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자동화율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2432349" y="2782419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490392" y="2840461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3388012" y="278241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46054" y="2840461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4343675" y="278241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401717" y="2840461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5299337" y="278241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357380" y="2840461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6255000" y="278241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313043" y="2840461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7210663" y="278241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268706" y="2840461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8166326" y="2782419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224368" y="2840461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1519991" y="3007334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578034" y="3065376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자동공정 / 총 공정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2432349" y="3007334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490392" y="306537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3388012" y="300733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446054" y="306537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4343675" y="300733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401717" y="306537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5299337" y="300733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357380" y="306537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11/17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6255000" y="300733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313043" y="306537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12/17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7210663" y="300733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268706" y="3065376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8166326" y="3007334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224368" y="3065376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1519991" y="3232249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578034" y="3290292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교대운영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2432349" y="3232249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490392" y="329029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3388012" y="323224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446054" y="329029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4343675" y="323224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401717" y="329029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3교대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5299337" y="323224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357380" y="329029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2교대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6255000" y="323224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313043" y="329029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2교대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7210663" y="323224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268706" y="329029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1교대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8166326" y="3232249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224368" y="3290292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2교대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1519991" y="3457164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578034" y="3515207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UPH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2432349" y="3457164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2490392" y="351520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3388012" y="345716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3446054" y="351520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4343675" y="345716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4401717" y="351520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71UPH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5299337" y="345716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5357380" y="351520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6255000" y="345716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6313043" y="351520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7210663" y="345716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7268706" y="351520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8166326" y="3457164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224368" y="3515207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1519991" y="3682079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578034" y="3740122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인원 (직접)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2432349" y="3682079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490392" y="374012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3388012" y="368207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3446054" y="374012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4343675" y="368207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4401717" y="374012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21명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5299337" y="368207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5357380" y="374012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6255000" y="368207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6313043" y="374012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8명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7210663" y="3682079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7268706" y="374012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8166326" y="3682079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8224368" y="3740122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8명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1519991" y="3906994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578034" y="3965037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인원 (간접)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2432349" y="3906994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490392" y="396503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3388012" y="390699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3446054" y="396503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4343675" y="390699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4401717" y="396503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i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미확인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5299337" y="390699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5357380" y="396503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6255000" y="390699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6313043" y="396503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64" name="Shape 162"/>
          <p:cNvSpPr/>
          <p:nvPr/>
        </p:nvSpPr>
        <p:spPr>
          <a:xfrm>
            <a:off x="7210663" y="3906994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7268706" y="3965037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66" name="Shape 164"/>
          <p:cNvSpPr/>
          <p:nvPr/>
        </p:nvSpPr>
        <p:spPr>
          <a:xfrm>
            <a:off x="8166326" y="3906994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8224368" y="3965037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68" name="Shape 166"/>
          <p:cNvSpPr/>
          <p:nvPr/>
        </p:nvSpPr>
        <p:spPr>
          <a:xfrm>
            <a:off x="1519991" y="4131910"/>
            <a:ext cx="912358" cy="224915"/>
          </a:xfrm>
          <a:prstGeom prst="rect">
            <a:avLst/>
          </a:prstGeom>
          <a:solidFill>
            <a:srgbClr val="F8F8F8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1578034" y="4189952"/>
            <a:ext cx="8398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총인원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2432349" y="4131910"/>
            <a:ext cx="955663" cy="224915"/>
          </a:xfrm>
          <a:prstGeom prst="rect">
            <a:avLst/>
          </a:prstGeom>
          <a:solidFill>
            <a:srgbClr val="EEF2F7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2490392" y="418995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3388012" y="4131910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3446054" y="418995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4343675" y="4131910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4401717" y="418995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5299337" y="4131910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5357380" y="418995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6255000" y="4131910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6313043" y="418995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7210663" y="4131910"/>
            <a:ext cx="95566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7268706" y="4189952"/>
            <a:ext cx="88311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8166326" y="4131910"/>
            <a:ext cx="955776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8224368" y="4189952"/>
            <a:ext cx="88322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84" name="Shape 182"/>
          <p:cNvSpPr/>
          <p:nvPr/>
        </p:nvSpPr>
        <p:spPr>
          <a:xfrm>
            <a:off x="9082198" y="2561131"/>
            <a:ext cx="36277" cy="1567151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1501853" y="4396729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작업내용별 상세 </a:t>
            </a:r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(NO 1~15, Best Practice 기술현황·상세계획 · 차종별 확대전개계획, 자동 선택 시 상세 팝업)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1501853" y="4541836"/>
            <a:ext cx="7638387" cy="168323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512736" y="4552719"/>
            <a:ext cx="380791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1570779" y="4610761"/>
            <a:ext cx="283746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189" name="Shape 187"/>
          <p:cNvSpPr/>
          <p:nvPr/>
        </p:nvSpPr>
        <p:spPr>
          <a:xfrm>
            <a:off x="1893527" y="4552719"/>
            <a:ext cx="1447211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1951570" y="4610761"/>
            <a:ext cx="1374658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작업내용</a:t>
            </a:r>
            <a:endParaRPr lang="en-US" sz="686" dirty="0"/>
          </a:p>
        </p:txBody>
      </p:sp>
      <p:sp>
        <p:nvSpPr>
          <p:cNvPr id="191" name="Shape 189"/>
          <p:cNvSpPr/>
          <p:nvPr/>
        </p:nvSpPr>
        <p:spPr>
          <a:xfrm>
            <a:off x="3340739" y="4552719"/>
            <a:ext cx="2132613" cy="224915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3398781" y="4610761"/>
            <a:ext cx="2060060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Practice</a:t>
            </a:r>
            <a:endParaRPr lang="en-US" sz="686" dirty="0"/>
          </a:p>
        </p:txBody>
      </p:sp>
      <p:sp>
        <p:nvSpPr>
          <p:cNvPr id="193" name="Shape 191"/>
          <p:cNvSpPr/>
          <p:nvPr/>
        </p:nvSpPr>
        <p:spPr>
          <a:xfrm>
            <a:off x="5473352" y="4552719"/>
            <a:ext cx="731088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5531394" y="4610761"/>
            <a:ext cx="651557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조지아</a:t>
            </a:r>
            <a:endParaRPr lang="en-US" sz="686" dirty="0"/>
          </a:p>
        </p:txBody>
      </p:sp>
      <p:sp>
        <p:nvSpPr>
          <p:cNvPr id="195" name="Shape 193"/>
          <p:cNvSpPr/>
          <p:nvPr/>
        </p:nvSpPr>
        <p:spPr>
          <a:xfrm>
            <a:off x="6204440" y="4552719"/>
            <a:ext cx="731088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6262482" y="4610761"/>
            <a:ext cx="651557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울산</a:t>
            </a:r>
            <a:endParaRPr lang="en-US" sz="686" dirty="0"/>
          </a:p>
        </p:txBody>
      </p:sp>
      <p:sp>
        <p:nvSpPr>
          <p:cNvPr id="197" name="Shape 195"/>
          <p:cNvSpPr/>
          <p:nvPr/>
        </p:nvSpPr>
        <p:spPr>
          <a:xfrm>
            <a:off x="6935527" y="4552719"/>
            <a:ext cx="731088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6993570" y="4610761"/>
            <a:ext cx="651557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차종명</a:t>
            </a:r>
            <a:endParaRPr lang="en-US" sz="686" dirty="0"/>
          </a:p>
        </p:txBody>
      </p:sp>
      <p:sp>
        <p:nvSpPr>
          <p:cNvPr id="199" name="Shape 197"/>
          <p:cNvSpPr/>
          <p:nvPr/>
        </p:nvSpPr>
        <p:spPr>
          <a:xfrm>
            <a:off x="7666615" y="4552719"/>
            <a:ext cx="731088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7724658" y="4610761"/>
            <a:ext cx="651557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차종명</a:t>
            </a:r>
            <a:endParaRPr lang="en-US" sz="686" dirty="0"/>
          </a:p>
        </p:txBody>
      </p:sp>
      <p:sp>
        <p:nvSpPr>
          <p:cNvPr id="201" name="Shape 199"/>
          <p:cNvSpPr/>
          <p:nvPr/>
        </p:nvSpPr>
        <p:spPr>
          <a:xfrm>
            <a:off x="8397703" y="4552719"/>
            <a:ext cx="731655" cy="413554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8455745" y="4610761"/>
            <a:ext cx="652152" cy="29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차종명</a:t>
            </a:r>
            <a:endParaRPr lang="en-US" sz="686" dirty="0"/>
          </a:p>
        </p:txBody>
      </p:sp>
      <p:sp>
        <p:nvSpPr>
          <p:cNvPr id="203" name="Shape 201"/>
          <p:cNvSpPr/>
          <p:nvPr/>
        </p:nvSpPr>
        <p:spPr>
          <a:xfrm>
            <a:off x="3340739" y="4777634"/>
            <a:ext cx="609221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3384271" y="4821166"/>
            <a:ext cx="552618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기술현황</a:t>
            </a:r>
            <a:endParaRPr lang="en-US" sz="628" dirty="0"/>
          </a:p>
        </p:txBody>
      </p:sp>
      <p:sp>
        <p:nvSpPr>
          <p:cNvPr id="205" name="Shape 203"/>
          <p:cNvSpPr/>
          <p:nvPr/>
        </p:nvSpPr>
        <p:spPr>
          <a:xfrm>
            <a:off x="3949960" y="4777634"/>
            <a:ext cx="1523392" cy="188639"/>
          </a:xfrm>
          <a:prstGeom prst="rect">
            <a:avLst/>
          </a:prstGeom>
          <a:solidFill>
            <a:srgbClr val="DDE4EC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3993492" y="4821166"/>
            <a:ext cx="1479860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상세계획</a:t>
            </a:r>
            <a:endParaRPr lang="en-US" sz="628" dirty="0"/>
          </a:p>
        </p:txBody>
      </p:sp>
      <p:sp>
        <p:nvSpPr>
          <p:cNvPr id="207" name="Shape 205"/>
          <p:cNvSpPr/>
          <p:nvPr/>
        </p:nvSpPr>
        <p:spPr>
          <a:xfrm>
            <a:off x="1512736" y="4966272"/>
            <a:ext cx="380791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1570779" y="5024315"/>
            <a:ext cx="283746" cy="15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209" name="Shape 207"/>
          <p:cNvSpPr/>
          <p:nvPr/>
        </p:nvSpPr>
        <p:spPr>
          <a:xfrm>
            <a:off x="1893527" y="4966272"/>
            <a:ext cx="1447211" cy="268447"/>
          </a:xfrm>
          <a:prstGeom prst="rect">
            <a:avLst/>
          </a:prstGeom>
          <a:solidFill>
            <a:srgbClr val="FAFAFA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1951570" y="5024315"/>
            <a:ext cx="1374658" cy="15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이대치조정</a:t>
            </a:r>
            <a:endParaRPr lang="en-US" sz="686" dirty="0"/>
          </a:p>
        </p:txBody>
      </p:sp>
      <p:sp>
        <p:nvSpPr>
          <p:cNvPr id="211" name="Shape 209"/>
          <p:cNvSpPr/>
          <p:nvPr/>
        </p:nvSpPr>
        <p:spPr>
          <a:xfrm>
            <a:off x="3340739" y="4966272"/>
            <a:ext cx="609221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3398781" y="5024315"/>
            <a:ext cx="523597" cy="15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686" dirty="0"/>
          </a:p>
        </p:txBody>
      </p:sp>
      <p:sp>
        <p:nvSpPr>
          <p:cNvPr id="213" name="Shape 211"/>
          <p:cNvSpPr/>
          <p:nvPr/>
        </p:nvSpPr>
        <p:spPr>
          <a:xfrm>
            <a:off x="3949960" y="4966272"/>
            <a:ext cx="1523392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4008002" y="5024315"/>
            <a:ext cx="1450839" cy="152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확보 完</a:t>
            </a:r>
            <a:endParaRPr lang="en-US" sz="686" dirty="0"/>
          </a:p>
        </p:txBody>
      </p:sp>
      <p:sp>
        <p:nvSpPr>
          <p:cNvPr id="215" name="Shape 213"/>
          <p:cNvSpPr/>
          <p:nvPr/>
        </p:nvSpPr>
        <p:spPr>
          <a:xfrm>
            <a:off x="5473352" y="4966272"/>
            <a:ext cx="731088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5531394" y="5038826"/>
            <a:ext cx="651557" cy="12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►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</a:t>
            </a:r>
            <a:endParaRPr lang="en-US" sz="686" dirty="0"/>
          </a:p>
        </p:txBody>
      </p:sp>
      <p:sp>
        <p:nvSpPr>
          <p:cNvPr id="217" name="Shape 215"/>
          <p:cNvSpPr/>
          <p:nvPr/>
        </p:nvSpPr>
        <p:spPr>
          <a:xfrm>
            <a:off x="6204440" y="4966272"/>
            <a:ext cx="731088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6262482" y="5038826"/>
            <a:ext cx="651557" cy="12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19" name="Shape 217"/>
          <p:cNvSpPr/>
          <p:nvPr/>
        </p:nvSpPr>
        <p:spPr>
          <a:xfrm>
            <a:off x="6935527" y="4966272"/>
            <a:ext cx="731088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6993570" y="5038826"/>
            <a:ext cx="651557" cy="12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21" name="Shape 219"/>
          <p:cNvSpPr/>
          <p:nvPr/>
        </p:nvSpPr>
        <p:spPr>
          <a:xfrm>
            <a:off x="7666615" y="4966272"/>
            <a:ext cx="731088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7724658" y="5038826"/>
            <a:ext cx="651557" cy="12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23" name="Shape 221"/>
          <p:cNvSpPr/>
          <p:nvPr/>
        </p:nvSpPr>
        <p:spPr>
          <a:xfrm>
            <a:off x="8397703" y="4966272"/>
            <a:ext cx="731655" cy="268447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8455745" y="5038826"/>
            <a:ext cx="652152" cy="12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25" name="Shape 223"/>
          <p:cNvSpPr/>
          <p:nvPr/>
        </p:nvSpPr>
        <p:spPr>
          <a:xfrm>
            <a:off x="1512736" y="5234720"/>
            <a:ext cx="38079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1570779" y="5292762"/>
            <a:ext cx="283746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227" name="Shape 225"/>
          <p:cNvSpPr/>
          <p:nvPr/>
        </p:nvSpPr>
        <p:spPr>
          <a:xfrm>
            <a:off x="1893527" y="5234720"/>
            <a:ext cx="1447211" cy="253936"/>
          </a:xfrm>
          <a:prstGeom prst="rect">
            <a:avLst/>
          </a:prstGeom>
          <a:solidFill>
            <a:srgbClr val="FAFAFA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1951570" y="5292762"/>
            <a:ext cx="1374658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디프로딩(4WD)</a:t>
            </a:r>
            <a:endParaRPr lang="en-US" sz="686" dirty="0"/>
          </a:p>
        </p:txBody>
      </p:sp>
      <p:sp>
        <p:nvSpPr>
          <p:cNvPr id="229" name="Shape 227"/>
          <p:cNvSpPr/>
          <p:nvPr/>
        </p:nvSpPr>
        <p:spPr>
          <a:xfrm>
            <a:off x="3340739" y="5234720"/>
            <a:ext cx="60922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3398781" y="5292762"/>
            <a:ext cx="523597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686" dirty="0"/>
          </a:p>
        </p:txBody>
      </p:sp>
      <p:sp>
        <p:nvSpPr>
          <p:cNvPr id="231" name="Shape 229"/>
          <p:cNvSpPr/>
          <p:nvPr/>
        </p:nvSpPr>
        <p:spPr>
          <a:xfrm>
            <a:off x="3949960" y="5234720"/>
            <a:ext cx="1523392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4008002" y="5292762"/>
            <a:ext cx="1450839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기술개발 중('27)</a:t>
            </a:r>
            <a:endParaRPr lang="en-US" sz="686" dirty="0"/>
          </a:p>
        </p:txBody>
      </p:sp>
      <p:sp>
        <p:nvSpPr>
          <p:cNvPr id="233" name="Shape 231"/>
          <p:cNvSpPr/>
          <p:nvPr/>
        </p:nvSpPr>
        <p:spPr>
          <a:xfrm>
            <a:off x="5473352" y="5234720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5531394" y="5307273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C92A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수동</a:t>
            </a:r>
            <a:endParaRPr lang="en-US" sz="686" dirty="0"/>
          </a:p>
        </p:txBody>
      </p:sp>
      <p:sp>
        <p:nvSpPr>
          <p:cNvPr id="235" name="Shape 233"/>
          <p:cNvSpPr/>
          <p:nvPr/>
        </p:nvSpPr>
        <p:spPr>
          <a:xfrm>
            <a:off x="6204440" y="5234720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6262482" y="5307273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37" name="Shape 235"/>
          <p:cNvSpPr/>
          <p:nvPr/>
        </p:nvSpPr>
        <p:spPr>
          <a:xfrm>
            <a:off x="6935527" y="5234720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6993570" y="5307273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39" name="Shape 237"/>
          <p:cNvSpPr/>
          <p:nvPr/>
        </p:nvSpPr>
        <p:spPr>
          <a:xfrm>
            <a:off x="7666615" y="5234720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7724658" y="5307273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41" name="Shape 239"/>
          <p:cNvSpPr/>
          <p:nvPr/>
        </p:nvSpPr>
        <p:spPr>
          <a:xfrm>
            <a:off x="8397703" y="5234720"/>
            <a:ext cx="731655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8455745" y="5307273"/>
            <a:ext cx="65215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43" name="Shape 241"/>
          <p:cNvSpPr/>
          <p:nvPr/>
        </p:nvSpPr>
        <p:spPr>
          <a:xfrm>
            <a:off x="1512736" y="5488656"/>
            <a:ext cx="38079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1570779" y="5546699"/>
            <a:ext cx="283746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245" name="Shape 243"/>
          <p:cNvSpPr/>
          <p:nvPr/>
        </p:nvSpPr>
        <p:spPr>
          <a:xfrm>
            <a:off x="1893527" y="5488656"/>
            <a:ext cx="1447211" cy="253936"/>
          </a:xfrm>
          <a:prstGeom prst="rect">
            <a:avLst/>
          </a:prstGeom>
          <a:solidFill>
            <a:srgbClr val="FAFAFA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1951570" y="5546699"/>
            <a:ext cx="1374658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멤버로딩</a:t>
            </a:r>
            <a:endParaRPr lang="en-US" sz="686" dirty="0"/>
          </a:p>
        </p:txBody>
      </p:sp>
      <p:sp>
        <p:nvSpPr>
          <p:cNvPr id="247" name="Shape 245"/>
          <p:cNvSpPr/>
          <p:nvPr/>
        </p:nvSpPr>
        <p:spPr>
          <a:xfrm>
            <a:off x="3340739" y="5488656"/>
            <a:ext cx="60922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3398781" y="5546699"/>
            <a:ext cx="523597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686" dirty="0"/>
          </a:p>
        </p:txBody>
      </p:sp>
      <p:sp>
        <p:nvSpPr>
          <p:cNvPr id="249" name="Shape 247"/>
          <p:cNvSpPr/>
          <p:nvPr/>
        </p:nvSpPr>
        <p:spPr>
          <a:xfrm>
            <a:off x="3949960" y="5488656"/>
            <a:ext cx="1523392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4008002" y="5546699"/>
            <a:ext cx="1450839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확보 完</a:t>
            </a:r>
            <a:endParaRPr lang="en-US" sz="686" dirty="0"/>
          </a:p>
        </p:txBody>
      </p:sp>
      <p:sp>
        <p:nvSpPr>
          <p:cNvPr id="251" name="Shape 249"/>
          <p:cNvSpPr/>
          <p:nvPr/>
        </p:nvSpPr>
        <p:spPr>
          <a:xfrm>
            <a:off x="5473352" y="5488656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>
            <a:off x="5531394" y="5561209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53" name="Shape 251"/>
          <p:cNvSpPr/>
          <p:nvPr/>
        </p:nvSpPr>
        <p:spPr>
          <a:xfrm>
            <a:off x="6204440" y="5488656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4" name="Text 252"/>
          <p:cNvSpPr txBox="1"/>
          <p:nvPr/>
        </p:nvSpPr>
        <p:spPr>
          <a:xfrm>
            <a:off x="6262482" y="5561209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55" name="Shape 253"/>
          <p:cNvSpPr/>
          <p:nvPr/>
        </p:nvSpPr>
        <p:spPr>
          <a:xfrm>
            <a:off x="6935527" y="5488656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6" name="Text 254"/>
          <p:cNvSpPr txBox="1"/>
          <p:nvPr/>
        </p:nvSpPr>
        <p:spPr>
          <a:xfrm>
            <a:off x="6993570" y="5561209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57" name="Shape 255"/>
          <p:cNvSpPr/>
          <p:nvPr/>
        </p:nvSpPr>
        <p:spPr>
          <a:xfrm>
            <a:off x="7666615" y="5488656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7724658" y="5561209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59" name="Shape 257"/>
          <p:cNvSpPr/>
          <p:nvPr/>
        </p:nvSpPr>
        <p:spPr>
          <a:xfrm>
            <a:off x="8397703" y="5488656"/>
            <a:ext cx="731655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0" name="Text 258"/>
          <p:cNvSpPr txBox="1"/>
          <p:nvPr/>
        </p:nvSpPr>
        <p:spPr>
          <a:xfrm>
            <a:off x="8455745" y="5561209"/>
            <a:ext cx="65215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61" name="Shape 259"/>
          <p:cNvSpPr/>
          <p:nvPr/>
        </p:nvSpPr>
        <p:spPr>
          <a:xfrm>
            <a:off x="1512736" y="5742593"/>
            <a:ext cx="38079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2" name="Text 260"/>
          <p:cNvSpPr txBox="1"/>
          <p:nvPr/>
        </p:nvSpPr>
        <p:spPr>
          <a:xfrm>
            <a:off x="1570779" y="5800635"/>
            <a:ext cx="283746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686" dirty="0"/>
          </a:p>
        </p:txBody>
      </p:sp>
      <p:sp>
        <p:nvSpPr>
          <p:cNvPr id="263" name="Shape 261"/>
          <p:cNvSpPr/>
          <p:nvPr/>
        </p:nvSpPr>
        <p:spPr>
          <a:xfrm>
            <a:off x="1893527" y="5742593"/>
            <a:ext cx="1447211" cy="253936"/>
          </a:xfrm>
          <a:prstGeom prst="rect">
            <a:avLst/>
          </a:prstGeom>
          <a:solidFill>
            <a:srgbClr val="FAFAFA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264" name="Text 262"/>
          <p:cNvSpPr txBox="1"/>
          <p:nvPr/>
        </p:nvSpPr>
        <p:spPr>
          <a:xfrm>
            <a:off x="1951570" y="5800635"/>
            <a:ext cx="1374658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리어 로워암 로딩</a:t>
            </a:r>
            <a:endParaRPr lang="en-US" sz="686" dirty="0"/>
          </a:p>
        </p:txBody>
      </p:sp>
      <p:sp>
        <p:nvSpPr>
          <p:cNvPr id="265" name="Shape 263"/>
          <p:cNvSpPr/>
          <p:nvPr/>
        </p:nvSpPr>
        <p:spPr>
          <a:xfrm>
            <a:off x="3340739" y="5742593"/>
            <a:ext cx="60922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6" name="Text 264"/>
          <p:cNvSpPr txBox="1"/>
          <p:nvPr/>
        </p:nvSpPr>
        <p:spPr>
          <a:xfrm>
            <a:off x="3398781" y="5800635"/>
            <a:ext cx="523597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686" dirty="0"/>
          </a:p>
        </p:txBody>
      </p:sp>
      <p:sp>
        <p:nvSpPr>
          <p:cNvPr id="267" name="Shape 265"/>
          <p:cNvSpPr/>
          <p:nvPr/>
        </p:nvSpPr>
        <p:spPr>
          <a:xfrm>
            <a:off x="3949960" y="5742593"/>
            <a:ext cx="1523392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8" name="Text 266"/>
          <p:cNvSpPr txBox="1"/>
          <p:nvPr/>
        </p:nvSpPr>
        <p:spPr>
          <a:xfrm>
            <a:off x="4008002" y="5800635"/>
            <a:ext cx="1450839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유동으로 인한 現기술 자동화 불가</a:t>
            </a:r>
            <a:endParaRPr lang="en-US" sz="686" dirty="0"/>
          </a:p>
        </p:txBody>
      </p:sp>
      <p:sp>
        <p:nvSpPr>
          <p:cNvPr id="269" name="Shape 267"/>
          <p:cNvSpPr/>
          <p:nvPr/>
        </p:nvSpPr>
        <p:spPr>
          <a:xfrm>
            <a:off x="5473352" y="5742593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0" name="Text 268"/>
          <p:cNvSpPr txBox="1"/>
          <p:nvPr/>
        </p:nvSpPr>
        <p:spPr>
          <a:xfrm>
            <a:off x="5531394" y="5815146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71" name="Shape 269"/>
          <p:cNvSpPr/>
          <p:nvPr/>
        </p:nvSpPr>
        <p:spPr>
          <a:xfrm>
            <a:off x="6204440" y="5742593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2" name="Text 270"/>
          <p:cNvSpPr txBox="1"/>
          <p:nvPr/>
        </p:nvSpPr>
        <p:spPr>
          <a:xfrm>
            <a:off x="6262482" y="5815146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73" name="Shape 271"/>
          <p:cNvSpPr/>
          <p:nvPr/>
        </p:nvSpPr>
        <p:spPr>
          <a:xfrm>
            <a:off x="6935527" y="5742593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4" name="Text 272"/>
          <p:cNvSpPr txBox="1"/>
          <p:nvPr/>
        </p:nvSpPr>
        <p:spPr>
          <a:xfrm>
            <a:off x="6993570" y="5815146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75" name="Shape 273"/>
          <p:cNvSpPr/>
          <p:nvPr/>
        </p:nvSpPr>
        <p:spPr>
          <a:xfrm>
            <a:off x="7666615" y="5742593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6" name="Text 274"/>
          <p:cNvSpPr txBox="1"/>
          <p:nvPr/>
        </p:nvSpPr>
        <p:spPr>
          <a:xfrm>
            <a:off x="7724658" y="5815146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77" name="Shape 275"/>
          <p:cNvSpPr/>
          <p:nvPr/>
        </p:nvSpPr>
        <p:spPr>
          <a:xfrm>
            <a:off x="8397703" y="5742593"/>
            <a:ext cx="731655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78" name="Text 276"/>
          <p:cNvSpPr txBox="1"/>
          <p:nvPr/>
        </p:nvSpPr>
        <p:spPr>
          <a:xfrm>
            <a:off x="8455745" y="5815146"/>
            <a:ext cx="65215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79" name="Shape 277"/>
          <p:cNvSpPr/>
          <p:nvPr/>
        </p:nvSpPr>
        <p:spPr>
          <a:xfrm>
            <a:off x="1512736" y="5996529"/>
            <a:ext cx="38079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80" name="Text 278"/>
          <p:cNvSpPr txBox="1"/>
          <p:nvPr/>
        </p:nvSpPr>
        <p:spPr>
          <a:xfrm>
            <a:off x="1570779" y="6054572"/>
            <a:ext cx="283746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86" dirty="0"/>
          </a:p>
        </p:txBody>
      </p:sp>
      <p:sp>
        <p:nvSpPr>
          <p:cNvPr id="281" name="Shape 279"/>
          <p:cNvSpPr/>
          <p:nvPr/>
        </p:nvSpPr>
        <p:spPr>
          <a:xfrm>
            <a:off x="1893527" y="5996529"/>
            <a:ext cx="1447211" cy="253936"/>
          </a:xfrm>
          <a:prstGeom prst="rect">
            <a:avLst/>
          </a:prstGeom>
          <a:solidFill>
            <a:srgbClr val="FAFAFA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282" name="Text 280"/>
          <p:cNvSpPr txBox="1"/>
          <p:nvPr/>
        </p:nvSpPr>
        <p:spPr>
          <a:xfrm>
            <a:off x="1951570" y="6054572"/>
            <a:ext cx="1374658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디프/멤버 가체결(4WD)</a:t>
            </a:r>
            <a:endParaRPr lang="en-US" sz="686" dirty="0"/>
          </a:p>
        </p:txBody>
      </p:sp>
      <p:sp>
        <p:nvSpPr>
          <p:cNvPr id="283" name="Shape 281"/>
          <p:cNvSpPr/>
          <p:nvPr/>
        </p:nvSpPr>
        <p:spPr>
          <a:xfrm>
            <a:off x="3340739" y="5996529"/>
            <a:ext cx="609221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84" name="Text 282"/>
          <p:cNvSpPr txBox="1"/>
          <p:nvPr/>
        </p:nvSpPr>
        <p:spPr>
          <a:xfrm>
            <a:off x="3398781" y="6054572"/>
            <a:ext cx="523597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686" dirty="0"/>
          </a:p>
        </p:txBody>
      </p:sp>
      <p:sp>
        <p:nvSpPr>
          <p:cNvPr id="285" name="Shape 283"/>
          <p:cNvSpPr/>
          <p:nvPr/>
        </p:nvSpPr>
        <p:spPr>
          <a:xfrm>
            <a:off x="3949960" y="5996529"/>
            <a:ext cx="1523392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86" name="Text 284"/>
          <p:cNvSpPr txBox="1"/>
          <p:nvPr/>
        </p:nvSpPr>
        <p:spPr>
          <a:xfrm>
            <a:off x="4008002" y="6054572"/>
            <a:ext cx="1450839" cy="13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기술개발 중('29)</a:t>
            </a:r>
            <a:endParaRPr lang="en-US" sz="686" dirty="0"/>
          </a:p>
        </p:txBody>
      </p:sp>
      <p:sp>
        <p:nvSpPr>
          <p:cNvPr id="287" name="Shape 285"/>
          <p:cNvSpPr/>
          <p:nvPr/>
        </p:nvSpPr>
        <p:spPr>
          <a:xfrm>
            <a:off x="5473352" y="5996529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88" name="Text 286"/>
          <p:cNvSpPr txBox="1"/>
          <p:nvPr/>
        </p:nvSpPr>
        <p:spPr>
          <a:xfrm>
            <a:off x="5531394" y="6069082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89" name="Shape 287"/>
          <p:cNvSpPr/>
          <p:nvPr/>
        </p:nvSpPr>
        <p:spPr>
          <a:xfrm>
            <a:off x="6204440" y="5996529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90" name="Text 288"/>
          <p:cNvSpPr txBox="1"/>
          <p:nvPr/>
        </p:nvSpPr>
        <p:spPr>
          <a:xfrm>
            <a:off x="6262482" y="6069082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91" name="Shape 289"/>
          <p:cNvSpPr/>
          <p:nvPr/>
        </p:nvSpPr>
        <p:spPr>
          <a:xfrm>
            <a:off x="6935527" y="5996529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92" name="Text 290"/>
          <p:cNvSpPr txBox="1"/>
          <p:nvPr/>
        </p:nvSpPr>
        <p:spPr>
          <a:xfrm>
            <a:off x="6993570" y="6069082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93" name="Shape 291"/>
          <p:cNvSpPr/>
          <p:nvPr/>
        </p:nvSpPr>
        <p:spPr>
          <a:xfrm>
            <a:off x="7666615" y="5996529"/>
            <a:ext cx="731088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94" name="Text 292"/>
          <p:cNvSpPr txBox="1"/>
          <p:nvPr/>
        </p:nvSpPr>
        <p:spPr>
          <a:xfrm>
            <a:off x="7724658" y="6069082"/>
            <a:ext cx="65155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95" name="Shape 293"/>
          <p:cNvSpPr/>
          <p:nvPr/>
        </p:nvSpPr>
        <p:spPr>
          <a:xfrm>
            <a:off x="8397703" y="5996529"/>
            <a:ext cx="731655" cy="253936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96" name="Text 294"/>
          <p:cNvSpPr txBox="1"/>
          <p:nvPr/>
        </p:nvSpPr>
        <p:spPr>
          <a:xfrm>
            <a:off x="8455745" y="6069082"/>
            <a:ext cx="65215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297" name="Shape 295"/>
          <p:cNvSpPr/>
          <p:nvPr/>
        </p:nvSpPr>
        <p:spPr>
          <a:xfrm>
            <a:off x="9082198" y="4563602"/>
            <a:ext cx="36277" cy="1567151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98" name="Shape 296"/>
          <p:cNvSpPr/>
          <p:nvPr/>
        </p:nvSpPr>
        <p:spPr>
          <a:xfrm>
            <a:off x="1523619" y="6167029"/>
            <a:ext cx="7522302" cy="36277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/>
        </p:spPr>
      </p:sp>
      <p:sp>
        <p:nvSpPr>
          <p:cNvPr id="299" name="Shape 297"/>
          <p:cNvSpPr/>
          <p:nvPr/>
        </p:nvSpPr>
        <p:spPr>
          <a:xfrm>
            <a:off x="9263581" y="0"/>
            <a:ext cx="2925258" cy="50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0" name="Shape 298"/>
          <p:cNvSpPr/>
          <p:nvPr/>
        </p:nvSpPr>
        <p:spPr>
          <a:xfrm>
            <a:off x="2011313" y="127693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301" name="Text 299"/>
          <p:cNvSpPr txBox="1"/>
          <p:nvPr/>
        </p:nvSpPr>
        <p:spPr>
          <a:xfrm>
            <a:off x="2011313" y="127693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302" name="Shape 300"/>
          <p:cNvSpPr/>
          <p:nvPr/>
        </p:nvSpPr>
        <p:spPr>
          <a:xfrm>
            <a:off x="2707371" y="127693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303" name="Text 301"/>
          <p:cNvSpPr txBox="1"/>
          <p:nvPr/>
        </p:nvSpPr>
        <p:spPr>
          <a:xfrm>
            <a:off x="2707371" y="127693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304" name="Shape 302"/>
          <p:cNvSpPr/>
          <p:nvPr/>
        </p:nvSpPr>
        <p:spPr>
          <a:xfrm>
            <a:off x="5927490" y="4977155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305" name="Text 303"/>
          <p:cNvSpPr txBox="1"/>
          <p:nvPr/>
        </p:nvSpPr>
        <p:spPr>
          <a:xfrm>
            <a:off x="5927490" y="4977155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14" dirty="0"/>
          </a:p>
        </p:txBody>
      </p:sp>
      <p:sp>
        <p:nvSpPr>
          <p:cNvPr id="306" name="Shape 304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7" name="Text 305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308" name="Shape 306"/>
          <p:cNvSpPr/>
          <p:nvPr/>
        </p:nvSpPr>
        <p:spPr>
          <a:xfrm>
            <a:off x="1349491" y="210404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09" name="Text 307"/>
          <p:cNvSpPr txBox="1"/>
          <p:nvPr/>
        </p:nvSpPr>
        <p:spPr>
          <a:xfrm>
            <a:off x="1349491" y="210404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310" name="Shape 308"/>
          <p:cNvSpPr/>
          <p:nvPr/>
        </p:nvSpPr>
        <p:spPr>
          <a:xfrm>
            <a:off x="1349491" y="268447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11" name="Text 309"/>
          <p:cNvSpPr txBox="1"/>
          <p:nvPr/>
        </p:nvSpPr>
        <p:spPr>
          <a:xfrm>
            <a:off x="1349491" y="268447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312" name="Shape 310"/>
          <p:cNvSpPr/>
          <p:nvPr/>
        </p:nvSpPr>
        <p:spPr>
          <a:xfrm>
            <a:off x="1349491" y="370021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13" name="Text 311"/>
          <p:cNvSpPr txBox="1"/>
          <p:nvPr/>
        </p:nvSpPr>
        <p:spPr>
          <a:xfrm>
            <a:off x="1349491" y="37002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21666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4711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작업내용별 상세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작업내용(NO 1~15) 기준 Best Practice 기술현황/상세계획과 조지아·울산·차종명 3열의 확대전개 현황을 표시하는 상세 매트릭스이다.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작업내용별 상세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필터 조회 시 작업내용 목록과 차종 컬럼이 함께 갱신. NO는 이대치조정(1)~스텝바 링크/스텝바 가체결(15) 순서로 일부 결번(5,7,9) 존재.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기술현황은 ●(기술 확보 完)/▲(기술개발 중)/X(자동화 불가) 기호로 표시. 확대전개 셀은 검정 필 배지"자동"(재생 아이콘 동반, NO=1 조지아 열만 클릭 가능)/빨간 텍스트"X 수동"/"-"(공란) 3종으로 표기.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영역 내 세로 스크롤 가능(최대 높이 460px 초과 시, 헤더 행 상단 고정). 가로 스크롤은 표 폭이 좁을 때만 발생, 고정 열 없음. NO=1 "이대치조정"의 조지아 열 "자동" 배지 클릭 시 동영상 팝업 오픈(NO=5 참고).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11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자동화 설비 동영상을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자동화 설비 동영상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작업내용별 상세 표에서 NO=1 "이대치조정"의 조지아 열 "자동" 배지(재생 아이콘 동반) 클릭 시 오픈. SCR-001 공정별 상세 표의 자동(●) 배지 클릭 시 열리는 동영상 팝업과 공용 모달(renderAutoVideoModal, videoKind="module").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어두운 헤더(#111827)와 검정 16:9 플레이어 영역으로 구성. 헤더 타이틀은 "[모듈 자동화 동영상] 이대치조정"으로 표시. 플레이어 영역에 재생 아이콘 + "해당 공정 자동화 시연 동영상 재생 중..." + "(프로토타입 샘플 플레이어)" 문구가 고정 노출되는 정적 목업(실제 재생 컨트롤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"닫기" 클릭/배경 클릭/우측 상단 × 클릭 시 모달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/api/automation/module/process/{id}/video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102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50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719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719" y="337882"/>
            <a:ext cx="235503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 - 자동화 설비 동영상 팝업(모듈)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666435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666435" y="348765"/>
            <a:ext cx="275577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작업내용별 상세 표에서 NO=1 "이대치조정"의 조지아 열 "자동" 배지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66889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6668894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0242" y="2002471"/>
            <a:ext cx="4062984" cy="309077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745348" y="2133067"/>
            <a:ext cx="142635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[모듈 자동화 동영상] 이대치조정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358502" y="211855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00242" y="2401514"/>
            <a:ext cx="4062984" cy="228542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443095" y="3203228"/>
            <a:ext cx="377277" cy="377277"/>
          </a:xfrm>
          <a:prstGeom prst="ellipse">
            <a:avLst/>
          </a:prstGeom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43095" y="3203228"/>
            <a:ext cx="420809" cy="37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►</a:t>
            </a:r>
            <a:endParaRPr lang="en-US" sz="1143" dirty="0"/>
          </a:p>
        </p:txBody>
      </p:sp>
      <p:sp>
        <p:nvSpPr>
          <p:cNvPr id="19" name="Text 17"/>
          <p:cNvSpPr txBox="1"/>
          <p:nvPr/>
        </p:nvSpPr>
        <p:spPr>
          <a:xfrm>
            <a:off x="3968665" y="3638547"/>
            <a:ext cx="136967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공정 자동화 시연 동영상 재생 중...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4243914" y="3798165"/>
            <a:ext cx="8191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(프로토타입 샘플 플레이어)</a:t>
            </a:r>
            <a:endParaRPr lang="en-US" sz="571" dirty="0"/>
          </a:p>
        </p:txBody>
      </p:sp>
      <p:sp>
        <p:nvSpPr>
          <p:cNvPr id="21" name="Shape 19"/>
          <p:cNvSpPr/>
          <p:nvPr/>
        </p:nvSpPr>
        <p:spPr>
          <a:xfrm>
            <a:off x="6120890" y="4774006"/>
            <a:ext cx="426251" cy="23217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51486" y="4774006"/>
            <a:ext cx="208591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9263581" y="0"/>
            <a:ext cx="2925258" cy="2728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3178" y="1915407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513178" y="1915407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571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745493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4711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자동화 설비 동영상을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자동화 설비 동영상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작업내용별 상세 표에서 NO=1 "이대치조정"의 조지아 열 "자동" 배지(재생 아이콘 동반) 클릭 시 오픈. SCR-001 공정별 상세 표의 자동(●) 배지 클릭 시 열리는 동영상 팝업과 공용 모달(renderAutoVideoModal, videoKind="module").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어두운 헤더(#111827)와 검정 16:9 플레이어 영역으로 구성. 헤더 타이틀은 "[모듈 자동화 동영상] 이대치조정"으로 표시. 플레이어 영역에 재생 아이콘 + "해당 공정 자동화 시연 동영상 재생 중..." + "(프로토타입 샘플 플레이어)" 문구가 고정 노출되는 정적 목업(실제 재생 컨트롤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"닫기" 클릭/배경 클릭/우측 상단 × 클릭 시 모달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/api/automation/parts/process/{{id}}/video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79808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721905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공정유형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2372492" y="1146342"/>
            <a:ext cx="116085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30535" y="1146342"/>
            <a:ext cx="1088299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작업명 검색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3605898" y="1146342"/>
            <a:ext cx="108829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3941" y="1146342"/>
            <a:ext cx="101574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사용현황(연동모듈수)</a:t>
            </a:r>
            <a:endParaRPr lang="en-US" sz="686" dirty="0"/>
          </a:p>
        </p:txBody>
      </p:sp>
      <p:sp>
        <p:nvSpPr>
          <p:cNvPr id="9" name="Shape 7"/>
          <p:cNvSpPr/>
          <p:nvPr/>
        </p:nvSpPr>
        <p:spPr>
          <a:xfrm>
            <a:off x="4766751" y="1146342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4794" y="1146342"/>
            <a:ext cx="870639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11" name="Shape 9"/>
          <p:cNvSpPr/>
          <p:nvPr/>
        </p:nvSpPr>
        <p:spPr>
          <a:xfrm>
            <a:off x="5782497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82497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13" name="Shape 11"/>
          <p:cNvSpPr/>
          <p:nvPr/>
        </p:nvSpPr>
        <p:spPr>
          <a:xfrm>
            <a:off x="8197048" y="1146342"/>
            <a:ext cx="943193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97048" y="1146342"/>
            <a:ext cx="986725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표준 작업명 등록</a:t>
            </a:r>
            <a:endParaRPr lang="en-US" sz="686" dirty="0"/>
          </a:p>
        </p:txBody>
      </p:sp>
      <p:sp>
        <p:nvSpPr>
          <p:cNvPr id="15" name="Shape 13"/>
          <p:cNvSpPr/>
          <p:nvPr/>
        </p:nvSpPr>
        <p:spPr>
          <a:xfrm>
            <a:off x="1501853" y="1523619"/>
            <a:ext cx="7638387" cy="249583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12736" y="1534502"/>
            <a:ext cx="45697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0779" y="159254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18" name="Shape 16"/>
          <p:cNvSpPr/>
          <p:nvPr/>
        </p:nvSpPr>
        <p:spPr>
          <a:xfrm>
            <a:off x="1969708" y="1534502"/>
            <a:ext cx="182788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27751" y="1592545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작업명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797598" y="1534502"/>
            <a:ext cx="106630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55640" y="159254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공정유형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4863904" y="1534502"/>
            <a:ext cx="152327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21947" y="1592545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사용현황(연동 모듈수)</a:t>
            </a:r>
            <a:endParaRPr lang="en-US" sz="686" dirty="0"/>
          </a:p>
        </p:txBody>
      </p:sp>
      <p:sp>
        <p:nvSpPr>
          <p:cNvPr id="24" name="Shape 22"/>
          <p:cNvSpPr/>
          <p:nvPr/>
        </p:nvSpPr>
        <p:spPr>
          <a:xfrm>
            <a:off x="6387183" y="1534502"/>
            <a:ext cx="137091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5226" y="159254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등록일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7758100" y="1534502"/>
            <a:ext cx="137125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6143" y="1592545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1512736" y="1759417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70779" y="181746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686" dirty="0"/>
          </a:p>
        </p:txBody>
      </p:sp>
      <p:sp>
        <p:nvSpPr>
          <p:cNvPr id="30" name="Shape 28"/>
          <p:cNvSpPr/>
          <p:nvPr/>
        </p:nvSpPr>
        <p:spPr>
          <a:xfrm>
            <a:off x="1969708" y="1759417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27751" y="1817460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볼트 체결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3797598" y="1759417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55640" y="181746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4863904" y="1759417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21947" y="1817460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6387183" y="1759417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5226" y="181746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2026-01-01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7758100" y="1759417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6143" y="1817460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1512736" y="1984332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70779" y="204237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1969708" y="1984332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027751" y="2042375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와이어링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3797598" y="1984332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855640" y="204237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4863904" y="1984332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21947" y="2042375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48" name="Shape 46"/>
          <p:cNvSpPr/>
          <p:nvPr/>
        </p:nvSpPr>
        <p:spPr>
          <a:xfrm>
            <a:off x="6387183" y="1984332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45226" y="204237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2026-02-02</a:t>
            </a:r>
            <a:endParaRPr lang="en-US" sz="686" dirty="0"/>
          </a:p>
        </p:txBody>
      </p:sp>
      <p:sp>
        <p:nvSpPr>
          <p:cNvPr id="50" name="Shape 48"/>
          <p:cNvSpPr/>
          <p:nvPr/>
        </p:nvSpPr>
        <p:spPr>
          <a:xfrm>
            <a:off x="7758100" y="1984332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16143" y="2042375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52" name="Shape 50"/>
          <p:cNvSpPr/>
          <p:nvPr/>
        </p:nvSpPr>
        <p:spPr>
          <a:xfrm>
            <a:off x="1512736" y="220924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570779" y="226729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1969708" y="2209248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27751" y="2267290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3797598" y="220924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855640" y="226729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4863904" y="2209248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921947" y="2267290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6387183" y="220924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45226" y="226729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2026-03-03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7758100" y="2209248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816143" y="2267290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1512736" y="243416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570779" y="249220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1969708" y="2434163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027751" y="2492205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3797598" y="243416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855640" y="249220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4863904" y="2434163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921947" y="2492205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6387183" y="243416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445226" y="249220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2026-04-04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7758100" y="2434163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816143" y="2492205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1512736" y="265907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570779" y="271712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1969708" y="2659078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027751" y="2717121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3797598" y="265907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855640" y="271712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4863904" y="2659078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921947" y="2717121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6387183" y="265907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445226" y="271712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2026-05-05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7758100" y="2659078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816143" y="2717121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1512736" y="288399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570779" y="294203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1969708" y="2883993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027751" y="2942036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이송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3797598" y="288399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855640" y="294203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4863904" y="2883993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921947" y="2942036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6387183" y="288399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445226" y="294203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2026-06-06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7758100" y="2883993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816143" y="2942036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1512736" y="310890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570779" y="316695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1969708" y="3108908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027751" y="3166951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3797598" y="310890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3855640" y="316695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4863904" y="3108908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4921947" y="3166951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6387183" y="310890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445226" y="316695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2026-07-07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7758100" y="3108908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816143" y="3166951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1512736" y="333382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570779" y="339186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1969708" y="3333823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027751" y="3391866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3797598" y="333382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855640" y="339186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4863904" y="3333823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4921947" y="3391866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6387183" y="333382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445226" y="339186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2026-08-08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7758100" y="3333823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7816143" y="3391866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1512736" y="3558739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570779" y="361678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1969708" y="3558739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027751" y="3616781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3797598" y="3558739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3855640" y="361678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4863904" y="3558739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4921947" y="3616781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6387183" y="3558739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6445226" y="361678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2026-09-09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7758100" y="3558739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7816143" y="3616781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1512736" y="3783654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570779" y="384169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1969708" y="3783654"/>
            <a:ext cx="182788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027751" y="3841696"/>
            <a:ext cx="17553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3797598" y="3783654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3855640" y="384169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4863904" y="3783654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4921947" y="3841696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6387183" y="3783654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6445226" y="384169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2026-10-10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7758100" y="3783654"/>
            <a:ext cx="137125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7816143" y="3841696"/>
            <a:ext cx="129870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4726053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4726053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4972734" y="413553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4972734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5219415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5219415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5466097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466097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5712778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5712778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9263581" y="0"/>
            <a:ext cx="2925258" cy="55866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116242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0" name="Text 158"/>
          <p:cNvSpPr txBox="1"/>
          <p:nvPr/>
        </p:nvSpPr>
        <p:spPr>
          <a:xfrm>
            <a:off x="6116242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61" name="Shape 159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2" name="Text 160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63" name="Shape 161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4" name="Text 162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65" name="Shape 163"/>
          <p:cNvSpPr/>
          <p:nvPr/>
        </p:nvSpPr>
        <p:spPr>
          <a:xfrm>
            <a:off x="8373896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6" name="Text 164"/>
          <p:cNvSpPr txBox="1"/>
          <p:nvPr/>
        </p:nvSpPr>
        <p:spPr>
          <a:xfrm>
            <a:off x="8373896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67" name="Shape 165"/>
          <p:cNvSpPr/>
          <p:nvPr/>
        </p:nvSpPr>
        <p:spPr>
          <a:xfrm>
            <a:off x="1414789" y="40484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68" name="Text 166"/>
          <p:cNvSpPr txBox="1"/>
          <p:nvPr/>
        </p:nvSpPr>
        <p:spPr>
          <a:xfrm>
            <a:off x="1414789" y="40484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69" name="Shape 167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70" name="Text 168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71" name="Shape 169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72" name="Text 170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704608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099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&amp;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공정유형/작업명/사용현황/등록일 조건 필터와 신규 등록 버튼으로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/api/admin/module-task?type=&amp;name=&amp;usage=&amp;date=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표준 작업명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표시(관리자 화면).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"표준 작업명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모듈 표준 작업명 관리(SCR-004) 전용.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472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표준 작업명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공정유형별 표준 작업명과 연동 모듈수를 관리하는 24건 목록 표이다.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목록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조건에 해당하는 표준 작업명을 최신 등록순으로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사용현황(연동 모듈수)은 파란색 링크 텍스트로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/api/admin/module-task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"삭제" 클릭 시 삭제 확인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연동 모듈 존재 → 삭제 확인 팝업에 "이 항목은 N개 모듈에서 사용 중입니다. 계속하시겠습니까?" 안내.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DELETE /api/admin/module-task/{id}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영역이다(3페이지,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4991"/>
                <a:gridCol w="1621680"/>
                <a:gridCol w="1985369"/>
                <a:gridCol w="1996710"/>
                <a:gridCol w="2346576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/portal/admin/module-task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5349" cy="159617"/>
        </p:xfrm>
        <a:graphic>
          <a:graphicData uri="http://schemas.openxmlformats.org/drawingml/2006/table">
            <a:tbl>
              <a:tblPr/>
              <a:tblGrid>
                <a:gridCol w="28267"/>
                <a:gridCol w="508814"/>
                <a:gridCol w="28267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SCR-004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294274"/>
                <a:gridCol w="3928262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현황&gt;모듈 표준 작업명 관리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843676" cy="232171"/>
        </p:xfrm>
        <a:graphic>
          <a:graphicData uri="http://schemas.openxmlformats.org/drawingml/2006/table">
            <a:tbl>
              <a:tblPr/>
              <a:tblGrid>
                <a:gridCol w="679084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공정유형</a:t>
                      </a:r>
                      <a:endParaRPr lang="en-US" sz="81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2492" y="1146342"/>
          <a:ext cx="1227165" cy="232171"/>
        </p:xfrm>
        <a:graphic>
          <a:graphicData uri="http://schemas.openxmlformats.org/drawingml/2006/table">
            <a:tbl>
              <a:tblPr/>
              <a:tblGrid>
                <a:gridCol w="1227165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작업명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05898" y="1146342"/>
          <a:ext cx="1150467" cy="232171"/>
        </p:xfrm>
        <a:graphic>
          <a:graphicData uri="http://schemas.openxmlformats.org/drawingml/2006/table">
            <a:tbl>
              <a:tblPr/>
              <a:tblGrid>
                <a:gridCol w="1150467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사용현황(연동모듈수)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6751" y="1146342"/>
          <a:ext cx="997071" cy="232171"/>
        </p:xfrm>
        <a:graphic>
          <a:graphicData uri="http://schemas.openxmlformats.org/drawingml/2006/table">
            <a:tbl>
              <a:tblPr/>
              <a:tblGrid>
                <a:gridCol w="997071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82497" y="1146342"/>
          <a:ext cx="490866" cy="232171"/>
        </p:xfrm>
        <a:graphic>
          <a:graphicData uri="http://schemas.openxmlformats.org/drawingml/2006/table">
            <a:tbl>
              <a:tblPr/>
              <a:tblGrid>
                <a:gridCol w="49086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048" y="1146342"/>
          <a:ext cx="997071" cy="232171"/>
        </p:xfrm>
        <a:graphic>
          <a:graphicData uri="http://schemas.openxmlformats.org/drawingml/2006/table">
            <a:tbl>
              <a:tblPr/>
              <a:tblGrid>
                <a:gridCol w="997071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8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표준 작업명 등록</a:t>
                      </a:r>
                      <a:endParaRPr lang="en-US" sz="778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1530874"/>
          <a:ext cx="7623877" cy="2773208"/>
        </p:xfrm>
        <a:graphic>
          <a:graphicData uri="http://schemas.openxmlformats.org/drawingml/2006/table">
            <a:tbl>
              <a:tblPr/>
              <a:tblGrid>
                <a:gridCol w="457433"/>
                <a:gridCol w="1829730"/>
                <a:gridCol w="1067343"/>
                <a:gridCol w="1524775"/>
                <a:gridCol w="1372298"/>
                <a:gridCol w="1372298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작업명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사용현황(연동 모듈수)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볼트 체결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2026-01-01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2026-02-02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이송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2026-06-06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2026-09-09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2026-10-10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Shape 171"/>
          <p:cNvSpPr/>
          <p:nvPr/>
        </p:nvSpPr>
        <p:spPr>
          <a:xfrm>
            <a:off x="6116242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7" name="Text 172"/>
          <p:cNvSpPr txBox="1"/>
          <p:nvPr/>
        </p:nvSpPr>
        <p:spPr>
          <a:xfrm>
            <a:off x="6116242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88" name="Shape 173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9" name="Text 174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90" name="Shape 175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1" name="Text 176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92" name="Shape 177"/>
          <p:cNvSpPr/>
          <p:nvPr/>
        </p:nvSpPr>
        <p:spPr>
          <a:xfrm>
            <a:off x="8373896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3" name="Text 178"/>
          <p:cNvSpPr txBox="1"/>
          <p:nvPr/>
        </p:nvSpPr>
        <p:spPr>
          <a:xfrm>
            <a:off x="8373896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94" name="Shape 179"/>
          <p:cNvSpPr/>
          <p:nvPr/>
        </p:nvSpPr>
        <p:spPr>
          <a:xfrm>
            <a:off x="1414789" y="40484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5" name="Text 180"/>
          <p:cNvSpPr txBox="1"/>
          <p:nvPr/>
        </p:nvSpPr>
        <p:spPr>
          <a:xfrm>
            <a:off x="1414789" y="40484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96" name="Shape 181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7" name="Text 182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98" name="Shape 183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9" name="Text 184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5349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4753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5966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5966" y="337882"/>
            <a:ext cx="199147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 - 표준 작업명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304122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304122" y="348765"/>
            <a:ext cx="1201324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표준 작업명 등록"(1-2)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752127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752127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0455" y="2677216"/>
            <a:ext cx="3482558" cy="1741279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35561" y="2807812"/>
            <a:ext cx="75217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작업명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068289" y="279330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035561" y="328666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906201" y="3221366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78754" y="3221366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작업명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3035561" y="363492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공정유형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906201" y="3569622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8754" y="3569622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2890455" y="3961409"/>
            <a:ext cx="348255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31873" y="4070239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62469" y="4070239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25" name="Shape 23"/>
          <p:cNvSpPr/>
          <p:nvPr/>
        </p:nvSpPr>
        <p:spPr>
          <a:xfrm>
            <a:off x="5816166" y="4070239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6762" y="4070239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27" name="Shape 25"/>
          <p:cNvSpPr/>
          <p:nvPr/>
        </p:nvSpPr>
        <p:spPr>
          <a:xfrm>
            <a:off x="9263581" y="0"/>
            <a:ext cx="2925258" cy="2205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03391" y="259015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803391" y="259015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71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75387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479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표준 작업명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표준 작업명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표준 작업명 등록"(1-2)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작업명*, 공정유형*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필수값(작업명, 공정유형)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2445046" y="1193502"/>
            <a:ext cx="91440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590379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48422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8" name="Shape 6"/>
          <p:cNvSpPr/>
          <p:nvPr/>
        </p:nvSpPr>
        <p:spPr>
          <a:xfrm>
            <a:off x="3533572" y="1146342"/>
            <a:ext cx="79808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1614" y="1146342"/>
            <a:ext cx="721905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I/F 유형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10" name="Shape 8"/>
          <p:cNvSpPr/>
          <p:nvPr/>
        </p:nvSpPr>
        <p:spPr>
          <a:xfrm>
            <a:off x="4404211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62254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결과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12" name="Shape 10"/>
          <p:cNvSpPr/>
          <p:nvPr/>
        </p:nvSpPr>
        <p:spPr>
          <a:xfrm>
            <a:off x="5202297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02297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14" name="Shape 12"/>
          <p:cNvSpPr/>
          <p:nvPr/>
        </p:nvSpPr>
        <p:spPr>
          <a:xfrm>
            <a:off x="1501853" y="1523619"/>
            <a:ext cx="7638387" cy="249583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12736" y="1534502"/>
            <a:ext cx="380791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70779" y="159254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1893527" y="1534502"/>
            <a:ext cx="121855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51570" y="159254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실행시각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3112082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70125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I/F-ID</a:t>
            </a:r>
            <a:endParaRPr lang="en-US" sz="686" dirty="0"/>
          </a:p>
        </p:txBody>
      </p:sp>
      <p:sp>
        <p:nvSpPr>
          <p:cNvPr id="21" name="Shape 19"/>
          <p:cNvSpPr/>
          <p:nvPr/>
        </p:nvSpPr>
        <p:spPr>
          <a:xfrm>
            <a:off x="3873665" y="1534502"/>
            <a:ext cx="106630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708" y="159254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4939972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98014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처리건수</a:t>
            </a:r>
            <a:endParaRPr lang="en-US" sz="686" dirty="0"/>
          </a:p>
        </p:txBody>
      </p:sp>
      <p:sp>
        <p:nvSpPr>
          <p:cNvPr id="25" name="Shape 23"/>
          <p:cNvSpPr/>
          <p:nvPr/>
        </p:nvSpPr>
        <p:spPr>
          <a:xfrm>
            <a:off x="5701555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59597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686" dirty="0"/>
          </a:p>
        </p:txBody>
      </p:sp>
      <p:sp>
        <p:nvSpPr>
          <p:cNvPr id="27" name="Shape 25"/>
          <p:cNvSpPr/>
          <p:nvPr/>
        </p:nvSpPr>
        <p:spPr>
          <a:xfrm>
            <a:off x="6463137" y="1534502"/>
            <a:ext cx="266622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21180" y="1592545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원인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1512736" y="1759417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70779" y="1817460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686" dirty="0"/>
          </a:p>
        </p:txBody>
      </p:sp>
      <p:sp>
        <p:nvSpPr>
          <p:cNvPr id="31" name="Shape 29"/>
          <p:cNvSpPr/>
          <p:nvPr/>
        </p:nvSpPr>
        <p:spPr>
          <a:xfrm>
            <a:off x="1893527" y="1759417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51570" y="1817460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2026-08-07 03:00:00</a:t>
            </a:r>
            <a:endParaRPr lang="en-US" sz="686" dirty="0"/>
          </a:p>
        </p:txBody>
      </p:sp>
      <p:sp>
        <p:nvSpPr>
          <p:cNvPr id="33" name="Shape 31"/>
          <p:cNvSpPr/>
          <p:nvPr/>
        </p:nvSpPr>
        <p:spPr>
          <a:xfrm>
            <a:off x="3112082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70125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IF-001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3873665" y="1759417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31708" y="181746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4939972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98014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</a:t>
            </a:r>
            <a:endParaRPr lang="en-US" sz="686" dirty="0"/>
          </a:p>
        </p:txBody>
      </p:sp>
      <p:sp>
        <p:nvSpPr>
          <p:cNvPr id="39" name="Shape 37"/>
          <p:cNvSpPr/>
          <p:nvPr/>
        </p:nvSpPr>
        <p:spPr>
          <a:xfrm>
            <a:off x="5701555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59597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41" name="Shape 39"/>
          <p:cNvSpPr/>
          <p:nvPr/>
        </p:nvSpPr>
        <p:spPr>
          <a:xfrm>
            <a:off x="6463137" y="1759417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21180" y="1817460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43" name="Shape 41"/>
          <p:cNvSpPr/>
          <p:nvPr/>
        </p:nvSpPr>
        <p:spPr>
          <a:xfrm>
            <a:off x="1512736" y="1984332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70779" y="204237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686" dirty="0"/>
          </a:p>
        </p:txBody>
      </p:sp>
      <p:sp>
        <p:nvSpPr>
          <p:cNvPr id="45" name="Shape 43"/>
          <p:cNvSpPr/>
          <p:nvPr/>
        </p:nvSpPr>
        <p:spPr>
          <a:xfrm>
            <a:off x="1893527" y="1984332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951570" y="204237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2026-08-07 03:10:07</a:t>
            </a:r>
            <a:endParaRPr lang="en-US" sz="686" dirty="0"/>
          </a:p>
        </p:txBody>
      </p:sp>
      <p:sp>
        <p:nvSpPr>
          <p:cNvPr id="47" name="Shape 45"/>
          <p:cNvSpPr/>
          <p:nvPr/>
        </p:nvSpPr>
        <p:spPr>
          <a:xfrm>
            <a:off x="3112082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170125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IF-002</a:t>
            </a:r>
            <a:endParaRPr lang="en-US" sz="686" dirty="0"/>
          </a:p>
        </p:txBody>
      </p:sp>
      <p:sp>
        <p:nvSpPr>
          <p:cNvPr id="49" name="Shape 47"/>
          <p:cNvSpPr/>
          <p:nvPr/>
        </p:nvSpPr>
        <p:spPr>
          <a:xfrm>
            <a:off x="3873665" y="1984332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31708" y="204237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배치(재처리)</a:t>
            </a:r>
            <a:endParaRPr lang="en-US" sz="686" dirty="0"/>
          </a:p>
        </p:txBody>
      </p:sp>
      <p:sp>
        <p:nvSpPr>
          <p:cNvPr id="51" name="Shape 49"/>
          <p:cNvSpPr/>
          <p:nvPr/>
        </p:nvSpPr>
        <p:spPr>
          <a:xfrm>
            <a:off x="4939972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998014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837</a:t>
            </a:r>
            <a:endParaRPr lang="en-US" sz="686" dirty="0"/>
          </a:p>
        </p:txBody>
      </p:sp>
      <p:sp>
        <p:nvSpPr>
          <p:cNvPr id="53" name="Shape 51"/>
          <p:cNvSpPr/>
          <p:nvPr/>
        </p:nvSpPr>
        <p:spPr>
          <a:xfrm>
            <a:off x="5701555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759597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686" dirty="0"/>
          </a:p>
        </p:txBody>
      </p:sp>
      <p:sp>
        <p:nvSpPr>
          <p:cNvPr id="55" name="Shape 53"/>
          <p:cNvSpPr/>
          <p:nvPr/>
        </p:nvSpPr>
        <p:spPr>
          <a:xfrm>
            <a:off x="6463137" y="1984332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21180" y="2042375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불일치</a:t>
            </a:r>
            <a:endParaRPr lang="en-US" sz="686" dirty="0"/>
          </a:p>
        </p:txBody>
      </p:sp>
      <p:sp>
        <p:nvSpPr>
          <p:cNvPr id="57" name="Shape 55"/>
          <p:cNvSpPr/>
          <p:nvPr/>
        </p:nvSpPr>
        <p:spPr>
          <a:xfrm>
            <a:off x="1512736" y="2209248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570779" y="2267290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686" dirty="0"/>
          </a:p>
        </p:txBody>
      </p:sp>
      <p:sp>
        <p:nvSpPr>
          <p:cNvPr id="59" name="Shape 57"/>
          <p:cNvSpPr/>
          <p:nvPr/>
        </p:nvSpPr>
        <p:spPr>
          <a:xfrm>
            <a:off x="1893527" y="220924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951570" y="2267290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2026-08-07 03:20:14</a:t>
            </a:r>
            <a:endParaRPr lang="en-US" sz="686" dirty="0"/>
          </a:p>
        </p:txBody>
      </p:sp>
      <p:sp>
        <p:nvSpPr>
          <p:cNvPr id="61" name="Shape 59"/>
          <p:cNvSpPr/>
          <p:nvPr/>
        </p:nvSpPr>
        <p:spPr>
          <a:xfrm>
            <a:off x="3112082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170125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IF-003</a:t>
            </a:r>
            <a:endParaRPr lang="en-US" sz="686" dirty="0"/>
          </a:p>
        </p:txBody>
      </p:sp>
      <p:sp>
        <p:nvSpPr>
          <p:cNvPr id="63" name="Shape 61"/>
          <p:cNvSpPr/>
          <p:nvPr/>
        </p:nvSpPr>
        <p:spPr>
          <a:xfrm>
            <a:off x="3873665" y="220924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931708" y="226729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686" dirty="0"/>
          </a:p>
        </p:txBody>
      </p:sp>
      <p:sp>
        <p:nvSpPr>
          <p:cNvPr id="65" name="Shape 63"/>
          <p:cNvSpPr/>
          <p:nvPr/>
        </p:nvSpPr>
        <p:spPr>
          <a:xfrm>
            <a:off x="4939972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998014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874</a:t>
            </a:r>
            <a:endParaRPr lang="en-US" sz="686" dirty="0"/>
          </a:p>
        </p:txBody>
      </p:sp>
      <p:sp>
        <p:nvSpPr>
          <p:cNvPr id="67" name="Shape 65"/>
          <p:cNvSpPr/>
          <p:nvPr/>
        </p:nvSpPr>
        <p:spPr>
          <a:xfrm>
            <a:off x="5701555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759597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69" name="Shape 67"/>
          <p:cNvSpPr/>
          <p:nvPr/>
        </p:nvSpPr>
        <p:spPr>
          <a:xfrm>
            <a:off x="6463137" y="2209248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521180" y="2267290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71" name="Shape 69"/>
          <p:cNvSpPr/>
          <p:nvPr/>
        </p:nvSpPr>
        <p:spPr>
          <a:xfrm>
            <a:off x="1512736" y="2434163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570779" y="249220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686" dirty="0"/>
          </a:p>
        </p:txBody>
      </p:sp>
      <p:sp>
        <p:nvSpPr>
          <p:cNvPr id="73" name="Shape 71"/>
          <p:cNvSpPr/>
          <p:nvPr/>
        </p:nvSpPr>
        <p:spPr>
          <a:xfrm>
            <a:off x="1893527" y="243416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951570" y="249220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2026-08-06 03:30:21</a:t>
            </a:r>
            <a:endParaRPr lang="en-US" sz="686" dirty="0"/>
          </a:p>
        </p:txBody>
      </p:sp>
      <p:sp>
        <p:nvSpPr>
          <p:cNvPr id="75" name="Shape 73"/>
          <p:cNvSpPr/>
          <p:nvPr/>
        </p:nvSpPr>
        <p:spPr>
          <a:xfrm>
            <a:off x="3112082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170125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IF-004</a:t>
            </a:r>
            <a:endParaRPr lang="en-US" sz="686" dirty="0"/>
          </a:p>
        </p:txBody>
      </p:sp>
      <p:sp>
        <p:nvSpPr>
          <p:cNvPr id="77" name="Shape 75"/>
          <p:cNvSpPr/>
          <p:nvPr/>
        </p:nvSpPr>
        <p:spPr>
          <a:xfrm>
            <a:off x="3873665" y="243416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931708" y="249220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endParaRPr lang="en-US" sz="686" dirty="0"/>
          </a:p>
        </p:txBody>
      </p:sp>
      <p:sp>
        <p:nvSpPr>
          <p:cNvPr id="79" name="Shape 77"/>
          <p:cNvSpPr/>
          <p:nvPr/>
        </p:nvSpPr>
        <p:spPr>
          <a:xfrm>
            <a:off x="4939972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998014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911</a:t>
            </a:r>
            <a:endParaRPr lang="en-US" sz="686" dirty="0"/>
          </a:p>
        </p:txBody>
      </p:sp>
      <p:sp>
        <p:nvSpPr>
          <p:cNvPr id="81" name="Shape 79"/>
          <p:cNvSpPr/>
          <p:nvPr/>
        </p:nvSpPr>
        <p:spPr>
          <a:xfrm>
            <a:off x="5701555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759597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83" name="Shape 81"/>
          <p:cNvSpPr/>
          <p:nvPr/>
        </p:nvSpPr>
        <p:spPr>
          <a:xfrm>
            <a:off x="6463137" y="2434163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521180" y="2492205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85" name="Shape 83"/>
          <p:cNvSpPr/>
          <p:nvPr/>
        </p:nvSpPr>
        <p:spPr>
          <a:xfrm>
            <a:off x="1512736" y="2659078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570779" y="2717121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686" dirty="0"/>
          </a:p>
        </p:txBody>
      </p:sp>
      <p:sp>
        <p:nvSpPr>
          <p:cNvPr id="87" name="Shape 85"/>
          <p:cNvSpPr/>
          <p:nvPr/>
        </p:nvSpPr>
        <p:spPr>
          <a:xfrm>
            <a:off x="1893527" y="265907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951570" y="271712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2026-08-06 03:40:28</a:t>
            </a:r>
            <a:endParaRPr lang="en-US" sz="686" dirty="0"/>
          </a:p>
        </p:txBody>
      </p:sp>
      <p:sp>
        <p:nvSpPr>
          <p:cNvPr id="89" name="Shape 87"/>
          <p:cNvSpPr/>
          <p:nvPr/>
        </p:nvSpPr>
        <p:spPr>
          <a:xfrm>
            <a:off x="3112082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170125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IF-005</a:t>
            </a:r>
            <a:endParaRPr lang="en-US" sz="686" dirty="0"/>
          </a:p>
        </p:txBody>
      </p:sp>
      <p:sp>
        <p:nvSpPr>
          <p:cNvPr id="91" name="Shape 89"/>
          <p:cNvSpPr/>
          <p:nvPr/>
        </p:nvSpPr>
        <p:spPr>
          <a:xfrm>
            <a:off x="3873665" y="265907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931708" y="271712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배치(재처리)</a:t>
            </a:r>
            <a:endParaRPr lang="en-US" sz="686" dirty="0"/>
          </a:p>
        </p:txBody>
      </p:sp>
      <p:sp>
        <p:nvSpPr>
          <p:cNvPr id="93" name="Shape 91"/>
          <p:cNvSpPr/>
          <p:nvPr/>
        </p:nvSpPr>
        <p:spPr>
          <a:xfrm>
            <a:off x="4939972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998014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948</a:t>
            </a:r>
            <a:endParaRPr lang="en-US" sz="686" dirty="0"/>
          </a:p>
        </p:txBody>
      </p:sp>
      <p:sp>
        <p:nvSpPr>
          <p:cNvPr id="95" name="Shape 93"/>
          <p:cNvSpPr/>
          <p:nvPr/>
        </p:nvSpPr>
        <p:spPr>
          <a:xfrm>
            <a:off x="5701555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759597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97" name="Shape 95"/>
          <p:cNvSpPr/>
          <p:nvPr/>
        </p:nvSpPr>
        <p:spPr>
          <a:xfrm>
            <a:off x="6463137" y="2659078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521180" y="2717121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99" name="Shape 97"/>
          <p:cNvSpPr/>
          <p:nvPr/>
        </p:nvSpPr>
        <p:spPr>
          <a:xfrm>
            <a:off x="1512736" y="2883993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570779" y="2942036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686" dirty="0"/>
          </a:p>
        </p:txBody>
      </p:sp>
      <p:sp>
        <p:nvSpPr>
          <p:cNvPr id="101" name="Shape 99"/>
          <p:cNvSpPr/>
          <p:nvPr/>
        </p:nvSpPr>
        <p:spPr>
          <a:xfrm>
            <a:off x="1893527" y="288399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951570" y="294203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2026-08-06 03:50:35</a:t>
            </a:r>
            <a:endParaRPr lang="en-US" sz="686" dirty="0"/>
          </a:p>
        </p:txBody>
      </p:sp>
      <p:sp>
        <p:nvSpPr>
          <p:cNvPr id="103" name="Shape 101"/>
          <p:cNvSpPr/>
          <p:nvPr/>
        </p:nvSpPr>
        <p:spPr>
          <a:xfrm>
            <a:off x="3112082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170125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IF-001</a:t>
            </a:r>
            <a:endParaRPr lang="en-US" sz="686" dirty="0"/>
          </a:p>
        </p:txBody>
      </p:sp>
      <p:sp>
        <p:nvSpPr>
          <p:cNvPr id="105" name="Shape 103"/>
          <p:cNvSpPr/>
          <p:nvPr/>
        </p:nvSpPr>
        <p:spPr>
          <a:xfrm>
            <a:off x="3873665" y="288399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931708" y="294203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686" dirty="0"/>
          </a:p>
        </p:txBody>
      </p:sp>
      <p:sp>
        <p:nvSpPr>
          <p:cNvPr id="107" name="Shape 105"/>
          <p:cNvSpPr/>
          <p:nvPr/>
        </p:nvSpPr>
        <p:spPr>
          <a:xfrm>
            <a:off x="4939972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998014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985</a:t>
            </a:r>
            <a:endParaRPr lang="en-US" sz="686" dirty="0"/>
          </a:p>
        </p:txBody>
      </p:sp>
      <p:sp>
        <p:nvSpPr>
          <p:cNvPr id="109" name="Shape 107"/>
          <p:cNvSpPr/>
          <p:nvPr/>
        </p:nvSpPr>
        <p:spPr>
          <a:xfrm>
            <a:off x="5701555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759597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111" name="Shape 109"/>
          <p:cNvSpPr/>
          <p:nvPr/>
        </p:nvSpPr>
        <p:spPr>
          <a:xfrm>
            <a:off x="6463137" y="2883993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521180" y="2942036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13" name="Shape 111"/>
          <p:cNvSpPr/>
          <p:nvPr/>
        </p:nvSpPr>
        <p:spPr>
          <a:xfrm>
            <a:off x="1512736" y="3108908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570779" y="3166951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686" dirty="0"/>
          </a:p>
        </p:txBody>
      </p:sp>
      <p:sp>
        <p:nvSpPr>
          <p:cNvPr id="115" name="Shape 113"/>
          <p:cNvSpPr/>
          <p:nvPr/>
        </p:nvSpPr>
        <p:spPr>
          <a:xfrm>
            <a:off x="1893527" y="310890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951570" y="316695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2026-08-05 03:00:42</a:t>
            </a:r>
            <a:endParaRPr lang="en-US" sz="686" dirty="0"/>
          </a:p>
        </p:txBody>
      </p:sp>
      <p:sp>
        <p:nvSpPr>
          <p:cNvPr id="117" name="Shape 115"/>
          <p:cNvSpPr/>
          <p:nvPr/>
        </p:nvSpPr>
        <p:spPr>
          <a:xfrm>
            <a:off x="3112082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170125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IF-002</a:t>
            </a:r>
            <a:endParaRPr lang="en-US" sz="686" dirty="0"/>
          </a:p>
        </p:txBody>
      </p:sp>
      <p:sp>
        <p:nvSpPr>
          <p:cNvPr id="119" name="Shape 117"/>
          <p:cNvSpPr/>
          <p:nvPr/>
        </p:nvSpPr>
        <p:spPr>
          <a:xfrm>
            <a:off x="3873665" y="310890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3931708" y="316695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endParaRPr lang="en-US" sz="686" dirty="0"/>
          </a:p>
        </p:txBody>
      </p:sp>
      <p:sp>
        <p:nvSpPr>
          <p:cNvPr id="121" name="Shape 119"/>
          <p:cNvSpPr/>
          <p:nvPr/>
        </p:nvSpPr>
        <p:spPr>
          <a:xfrm>
            <a:off x="4939972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4998014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1022</a:t>
            </a:r>
            <a:endParaRPr lang="en-US" sz="686" dirty="0"/>
          </a:p>
        </p:txBody>
      </p:sp>
      <p:sp>
        <p:nvSpPr>
          <p:cNvPr id="123" name="Shape 121"/>
          <p:cNvSpPr/>
          <p:nvPr/>
        </p:nvSpPr>
        <p:spPr>
          <a:xfrm>
            <a:off x="5701555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759597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686" dirty="0"/>
          </a:p>
        </p:txBody>
      </p:sp>
      <p:sp>
        <p:nvSpPr>
          <p:cNvPr id="125" name="Shape 123"/>
          <p:cNvSpPr/>
          <p:nvPr/>
        </p:nvSpPr>
        <p:spPr>
          <a:xfrm>
            <a:off x="6463137" y="3108908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6521180" y="3166951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DB 연결 타임아웃</a:t>
            </a:r>
            <a:endParaRPr lang="en-US" sz="686" dirty="0"/>
          </a:p>
        </p:txBody>
      </p:sp>
      <p:sp>
        <p:nvSpPr>
          <p:cNvPr id="127" name="Shape 125"/>
          <p:cNvSpPr/>
          <p:nvPr/>
        </p:nvSpPr>
        <p:spPr>
          <a:xfrm>
            <a:off x="1512736" y="3333823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570779" y="3391866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686" dirty="0"/>
          </a:p>
        </p:txBody>
      </p:sp>
      <p:sp>
        <p:nvSpPr>
          <p:cNvPr id="129" name="Shape 127"/>
          <p:cNvSpPr/>
          <p:nvPr/>
        </p:nvSpPr>
        <p:spPr>
          <a:xfrm>
            <a:off x="1893527" y="333382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1951570" y="339186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2026-08-05 03:10:49</a:t>
            </a:r>
            <a:endParaRPr lang="en-US" sz="686" dirty="0"/>
          </a:p>
        </p:txBody>
      </p:sp>
      <p:sp>
        <p:nvSpPr>
          <p:cNvPr id="131" name="Shape 129"/>
          <p:cNvSpPr/>
          <p:nvPr/>
        </p:nvSpPr>
        <p:spPr>
          <a:xfrm>
            <a:off x="3112082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3170125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IF-003</a:t>
            </a:r>
            <a:endParaRPr lang="en-US" sz="686" dirty="0"/>
          </a:p>
        </p:txBody>
      </p:sp>
      <p:sp>
        <p:nvSpPr>
          <p:cNvPr id="133" name="Shape 131"/>
          <p:cNvSpPr/>
          <p:nvPr/>
        </p:nvSpPr>
        <p:spPr>
          <a:xfrm>
            <a:off x="3873665" y="333382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3931708" y="339186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배치(재처리)</a:t>
            </a:r>
            <a:endParaRPr lang="en-US" sz="686" dirty="0"/>
          </a:p>
        </p:txBody>
      </p:sp>
      <p:sp>
        <p:nvSpPr>
          <p:cNvPr id="135" name="Shape 133"/>
          <p:cNvSpPr/>
          <p:nvPr/>
        </p:nvSpPr>
        <p:spPr>
          <a:xfrm>
            <a:off x="4939972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4998014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1059</a:t>
            </a:r>
            <a:endParaRPr lang="en-US" sz="686" dirty="0"/>
          </a:p>
        </p:txBody>
      </p:sp>
      <p:sp>
        <p:nvSpPr>
          <p:cNvPr id="137" name="Shape 135"/>
          <p:cNvSpPr/>
          <p:nvPr/>
        </p:nvSpPr>
        <p:spPr>
          <a:xfrm>
            <a:off x="5701555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5759597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139" name="Shape 137"/>
          <p:cNvSpPr/>
          <p:nvPr/>
        </p:nvSpPr>
        <p:spPr>
          <a:xfrm>
            <a:off x="6463137" y="3333823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6521180" y="3391866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41" name="Shape 139"/>
          <p:cNvSpPr/>
          <p:nvPr/>
        </p:nvSpPr>
        <p:spPr>
          <a:xfrm>
            <a:off x="1512736" y="3558739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1570779" y="3616781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686" dirty="0"/>
          </a:p>
        </p:txBody>
      </p:sp>
      <p:sp>
        <p:nvSpPr>
          <p:cNvPr id="143" name="Shape 141"/>
          <p:cNvSpPr/>
          <p:nvPr/>
        </p:nvSpPr>
        <p:spPr>
          <a:xfrm>
            <a:off x="1893527" y="3558739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951570" y="361678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2026-08-05 03:20:56</a:t>
            </a:r>
            <a:endParaRPr lang="en-US" sz="686" dirty="0"/>
          </a:p>
        </p:txBody>
      </p:sp>
      <p:sp>
        <p:nvSpPr>
          <p:cNvPr id="145" name="Shape 143"/>
          <p:cNvSpPr/>
          <p:nvPr/>
        </p:nvSpPr>
        <p:spPr>
          <a:xfrm>
            <a:off x="3112082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3170125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IF-004</a:t>
            </a:r>
            <a:endParaRPr lang="en-US" sz="686" dirty="0"/>
          </a:p>
        </p:txBody>
      </p:sp>
      <p:sp>
        <p:nvSpPr>
          <p:cNvPr id="147" name="Shape 145"/>
          <p:cNvSpPr/>
          <p:nvPr/>
        </p:nvSpPr>
        <p:spPr>
          <a:xfrm>
            <a:off x="3873665" y="3558739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3931708" y="361678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686" dirty="0"/>
          </a:p>
        </p:txBody>
      </p:sp>
      <p:sp>
        <p:nvSpPr>
          <p:cNvPr id="149" name="Shape 147"/>
          <p:cNvSpPr/>
          <p:nvPr/>
        </p:nvSpPr>
        <p:spPr>
          <a:xfrm>
            <a:off x="4939972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4998014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1096</a:t>
            </a:r>
            <a:endParaRPr lang="en-US" sz="686" dirty="0"/>
          </a:p>
        </p:txBody>
      </p:sp>
      <p:sp>
        <p:nvSpPr>
          <p:cNvPr id="151" name="Shape 149"/>
          <p:cNvSpPr/>
          <p:nvPr/>
        </p:nvSpPr>
        <p:spPr>
          <a:xfrm>
            <a:off x="5701555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5759597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153" name="Shape 151"/>
          <p:cNvSpPr/>
          <p:nvPr/>
        </p:nvSpPr>
        <p:spPr>
          <a:xfrm>
            <a:off x="6463137" y="3558739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6521180" y="3616781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55" name="Shape 153"/>
          <p:cNvSpPr/>
          <p:nvPr/>
        </p:nvSpPr>
        <p:spPr>
          <a:xfrm>
            <a:off x="1512736" y="3783654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570779" y="3841696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686" dirty="0"/>
          </a:p>
        </p:txBody>
      </p:sp>
      <p:sp>
        <p:nvSpPr>
          <p:cNvPr id="157" name="Shape 155"/>
          <p:cNvSpPr/>
          <p:nvPr/>
        </p:nvSpPr>
        <p:spPr>
          <a:xfrm>
            <a:off x="1893527" y="3783654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951570" y="384169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2026-08-04 03:30:03</a:t>
            </a:r>
            <a:endParaRPr lang="en-US" sz="686" dirty="0"/>
          </a:p>
        </p:txBody>
      </p:sp>
      <p:sp>
        <p:nvSpPr>
          <p:cNvPr id="159" name="Shape 157"/>
          <p:cNvSpPr/>
          <p:nvPr/>
        </p:nvSpPr>
        <p:spPr>
          <a:xfrm>
            <a:off x="3112082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3170125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IF-005</a:t>
            </a:r>
            <a:endParaRPr lang="en-US" sz="686" dirty="0"/>
          </a:p>
        </p:txBody>
      </p:sp>
      <p:sp>
        <p:nvSpPr>
          <p:cNvPr id="161" name="Shape 159"/>
          <p:cNvSpPr/>
          <p:nvPr/>
        </p:nvSpPr>
        <p:spPr>
          <a:xfrm>
            <a:off x="3873665" y="3783654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931708" y="384169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endParaRPr lang="en-US" sz="686" dirty="0"/>
          </a:p>
        </p:txBody>
      </p:sp>
      <p:sp>
        <p:nvSpPr>
          <p:cNvPr id="163" name="Shape 161"/>
          <p:cNvSpPr/>
          <p:nvPr/>
        </p:nvSpPr>
        <p:spPr>
          <a:xfrm>
            <a:off x="4939972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4998014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1133</a:t>
            </a:r>
            <a:endParaRPr lang="en-US" sz="686" dirty="0"/>
          </a:p>
        </p:txBody>
      </p:sp>
      <p:sp>
        <p:nvSpPr>
          <p:cNvPr id="165" name="Shape 163"/>
          <p:cNvSpPr/>
          <p:nvPr/>
        </p:nvSpPr>
        <p:spPr>
          <a:xfrm>
            <a:off x="5701555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5759597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686" dirty="0"/>
          </a:p>
        </p:txBody>
      </p:sp>
      <p:sp>
        <p:nvSpPr>
          <p:cNvPr id="167" name="Shape 165"/>
          <p:cNvSpPr/>
          <p:nvPr/>
        </p:nvSpPr>
        <p:spPr>
          <a:xfrm>
            <a:off x="6463137" y="3783654"/>
            <a:ext cx="2666220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6521180" y="3841696"/>
            <a:ext cx="259366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686" dirty="0"/>
          </a:p>
        </p:txBody>
      </p:sp>
      <p:sp>
        <p:nvSpPr>
          <p:cNvPr id="169" name="Shape 167"/>
          <p:cNvSpPr/>
          <p:nvPr/>
        </p:nvSpPr>
        <p:spPr>
          <a:xfrm>
            <a:off x="4726053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4726053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71" name="Shape 169"/>
          <p:cNvSpPr/>
          <p:nvPr/>
        </p:nvSpPr>
        <p:spPr>
          <a:xfrm>
            <a:off x="4972734" y="413553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2" name="Text 170"/>
          <p:cNvSpPr txBox="1"/>
          <p:nvPr/>
        </p:nvSpPr>
        <p:spPr>
          <a:xfrm>
            <a:off x="4972734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73" name="Shape 171"/>
          <p:cNvSpPr/>
          <p:nvPr/>
        </p:nvSpPr>
        <p:spPr>
          <a:xfrm>
            <a:off x="5219415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5219415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75" name="Shape 173"/>
          <p:cNvSpPr/>
          <p:nvPr/>
        </p:nvSpPr>
        <p:spPr>
          <a:xfrm>
            <a:off x="5466097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5466097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86" dirty="0"/>
          </a:p>
        </p:txBody>
      </p:sp>
      <p:sp>
        <p:nvSpPr>
          <p:cNvPr id="177" name="Shape 175"/>
          <p:cNvSpPr/>
          <p:nvPr/>
        </p:nvSpPr>
        <p:spPr>
          <a:xfrm>
            <a:off x="5712778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5712778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79" name="Shape 177"/>
          <p:cNvSpPr/>
          <p:nvPr/>
        </p:nvSpPr>
        <p:spPr>
          <a:xfrm>
            <a:off x="9263581" y="0"/>
            <a:ext cx="2925258" cy="4411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0" name="Shape 178"/>
          <p:cNvSpPr/>
          <p:nvPr/>
        </p:nvSpPr>
        <p:spPr>
          <a:xfrm>
            <a:off x="6270871" y="1472832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1" name="Text 179"/>
          <p:cNvSpPr txBox="1"/>
          <p:nvPr/>
        </p:nvSpPr>
        <p:spPr>
          <a:xfrm>
            <a:off x="6270871" y="1472832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82" name="Shape 180"/>
          <p:cNvSpPr/>
          <p:nvPr/>
        </p:nvSpPr>
        <p:spPr>
          <a:xfrm>
            <a:off x="8937091" y="1472832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3" name="Text 181"/>
          <p:cNvSpPr txBox="1"/>
          <p:nvPr/>
        </p:nvSpPr>
        <p:spPr>
          <a:xfrm>
            <a:off x="8937091" y="1472832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84" name="Shape 182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5" name="Text 183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86" name="Shape 184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7" name="Text 185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88" name="Shape 186"/>
          <p:cNvSpPr/>
          <p:nvPr/>
        </p:nvSpPr>
        <p:spPr>
          <a:xfrm>
            <a:off x="1349491" y="4215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9" name="Text 187"/>
          <p:cNvSpPr txBox="1"/>
          <p:nvPr/>
        </p:nvSpPr>
        <p:spPr>
          <a:xfrm>
            <a:off x="1349491" y="4215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4589040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3556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실행 기간·I/F 유형·결과 조건으로 실행 이력을 조회하는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기본값은 전체 기간/전체 유형/전체 결과.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/api/admin/if-log?from=&amp;to=&amp;type=&amp;result=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75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I/F 실행결과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배치/배치(재처리)/실시간 3가지 유형의 I/F 실행 이력 23건을 최신순으로 표시하는 목록 표이다. 등록/수정 기능 없이 조회 전용이다.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결과 뱃지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성공은 녹색 뱃지, 실패는 빨간색 뱃지로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/api/admin/if-log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실패 원인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결과가 실패인 행에만 원인 텍스트 노출(성공 행은 "-").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실패 행 클릭 시 별도 팝업 없음 — 실패원인은 표 셀에 정적 텍스트로만 표시된다.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영역이다(3페이지,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2497"/>
                <a:gridCol w="1306138"/>
                <a:gridCol w="1437249"/>
                <a:gridCol w="1996710"/>
                <a:gridCol w="3212732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/portal/admin/if-log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2855" cy="159617"/>
        </p:xfrm>
        <a:graphic>
          <a:graphicData uri="http://schemas.openxmlformats.org/drawingml/2006/table">
            <a:tbl>
              <a:tblPr/>
              <a:tblGrid>
                <a:gridCol w="28143"/>
                <a:gridCol w="506569"/>
                <a:gridCol w="28143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SCR-005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051507"/>
                <a:gridCol w="4171028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생기포털&gt;공정 자동화 현황&gt;I/F 실행결과 관리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941250" cy="232171"/>
        </p:xfrm>
        <a:graphic>
          <a:graphicData uri="http://schemas.openxmlformats.org/drawingml/2006/table">
            <a:tbl>
              <a:tblPr/>
              <a:tblGrid>
                <a:gridCol w="941250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45046" y="1193502"/>
          <a:ext cx="78683" cy="137851"/>
        </p:xfrm>
        <a:graphic>
          <a:graphicData uri="http://schemas.openxmlformats.org/drawingml/2006/table">
            <a:tbl>
              <a:tblPr/>
              <a:tblGrid>
                <a:gridCol w="78683"/>
              </a:tblGrid>
              <a:tr h="137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90379" y="1146342"/>
          <a:ext cx="941250" cy="232171"/>
        </p:xfrm>
        <a:graphic>
          <a:graphicData uri="http://schemas.openxmlformats.org/drawingml/2006/table">
            <a:tbl>
              <a:tblPr/>
              <a:tblGrid>
                <a:gridCol w="941250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33572" y="1146342"/>
          <a:ext cx="862813" cy="232171"/>
        </p:xfrm>
        <a:graphic>
          <a:graphicData uri="http://schemas.openxmlformats.org/drawingml/2006/table">
            <a:tbl>
              <a:tblPr/>
              <a:tblGrid>
                <a:gridCol w="698221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I/F 유형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68938" y="1146342"/>
          <a:ext cx="784375" cy="232171"/>
        </p:xfrm>
        <a:graphic>
          <a:graphicData uri="http://schemas.openxmlformats.org/drawingml/2006/table">
            <a:tbl>
              <a:tblPr/>
              <a:tblGrid>
                <a:gridCol w="619783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결과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02297" y="1146342"/>
          <a:ext cx="502000" cy="232171"/>
        </p:xfrm>
        <a:graphic>
          <a:graphicData uri="http://schemas.openxmlformats.org/drawingml/2006/table">
            <a:tbl>
              <a:tblPr/>
              <a:tblGrid>
                <a:gridCol w="502000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8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1530874"/>
          <a:ext cx="7623877" cy="2773208"/>
        </p:xfrm>
        <a:graphic>
          <a:graphicData uri="http://schemas.openxmlformats.org/drawingml/2006/table">
            <a:tbl>
              <a:tblPr/>
              <a:tblGrid>
                <a:gridCol w="381194"/>
                <a:gridCol w="1219820"/>
                <a:gridCol w="762388"/>
                <a:gridCol w="1067343"/>
                <a:gridCol w="762388"/>
                <a:gridCol w="762388"/>
                <a:gridCol w="2668357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실행시각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I/F-ID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처리건수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 원인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2026-08-07 03:00:00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2026-08-07 03:10:07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배치(재처리)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스키마 불일치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2026-08-07 03:20:14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874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2026-08-06 03:30:21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2026-08-06 03:40:28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배치(재처리)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948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2026-08-06 03:50:35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985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2026-08-05 03:00:42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DB 연결 타임아웃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2026-08-05 03:10:49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배치(재처리)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1059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2026-08-05 03:20:56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1096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2026-08-04 03:30:03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IF-005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1133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Shape 188"/>
          <p:cNvSpPr/>
          <p:nvPr/>
        </p:nvSpPr>
        <p:spPr>
          <a:xfrm>
            <a:off x="6270871" y="1472832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04" name="Text 189"/>
          <p:cNvSpPr txBox="1"/>
          <p:nvPr/>
        </p:nvSpPr>
        <p:spPr>
          <a:xfrm>
            <a:off x="6270871" y="1472832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205" name="Shape 190"/>
          <p:cNvSpPr/>
          <p:nvPr/>
        </p:nvSpPr>
        <p:spPr>
          <a:xfrm>
            <a:off x="8937091" y="1472832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06" name="Text 191"/>
          <p:cNvSpPr txBox="1"/>
          <p:nvPr/>
        </p:nvSpPr>
        <p:spPr>
          <a:xfrm>
            <a:off x="8937091" y="1472832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207" name="Shape 192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8" name="Text 193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09" name="Shape 194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10" name="Text 195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11" name="Shape 196"/>
          <p:cNvSpPr/>
          <p:nvPr/>
        </p:nvSpPr>
        <p:spPr>
          <a:xfrm>
            <a:off x="1349491" y="4215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12" name="Text 197"/>
          <p:cNvSpPr txBox="1"/>
          <p:nvPr/>
        </p:nvSpPr>
        <p:spPr>
          <a:xfrm>
            <a:off x="1349491" y="4215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501853" y="1146342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501853" y="1291448"/>
            <a:ext cx="768191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로드맵·생산기술 Tech PR·기술동향을 한 화면에서 확인</a:t>
            </a:r>
            <a:endParaRPr lang="en-US" sz="628" dirty="0"/>
          </a:p>
        </p:txBody>
      </p:sp>
      <p:sp>
        <p:nvSpPr>
          <p:cNvPr id="5" name="Shape 3"/>
          <p:cNvSpPr/>
          <p:nvPr/>
        </p:nvSpPr>
        <p:spPr>
          <a:xfrm>
            <a:off x="1501853" y="2249152"/>
            <a:ext cx="7638387" cy="174127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25194" y="2372492"/>
            <a:ext cx="50594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8447130" y="2383375"/>
            <a:ext cx="61330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보기 ›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221366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26.Q1</a:t>
            </a:r>
            <a:endParaRPr lang="en-US" sz="571" dirty="0"/>
          </a:p>
        </p:txBody>
      </p:sp>
      <p:sp>
        <p:nvSpPr>
          <p:cNvPr id="9" name="Text 7"/>
          <p:cNvSpPr txBox="1"/>
          <p:nvPr/>
        </p:nvSpPr>
        <p:spPr>
          <a:xfrm>
            <a:off x="3704299" y="2575642"/>
            <a:ext cx="5265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26.Q2</a:t>
            </a:r>
            <a:endParaRPr lang="en-US" sz="571" dirty="0"/>
          </a:p>
        </p:txBody>
      </p:sp>
      <p:sp>
        <p:nvSpPr>
          <p:cNvPr id="10" name="Text 8"/>
          <p:cNvSpPr txBox="1"/>
          <p:nvPr/>
        </p:nvSpPr>
        <p:spPr>
          <a:xfrm>
            <a:off x="4187345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26.Q3</a:t>
            </a:r>
            <a:endParaRPr lang="en-US" sz="571" dirty="0"/>
          </a:p>
        </p:txBody>
      </p:sp>
      <p:sp>
        <p:nvSpPr>
          <p:cNvPr id="11" name="Text 9"/>
          <p:cNvSpPr txBox="1"/>
          <p:nvPr/>
        </p:nvSpPr>
        <p:spPr>
          <a:xfrm>
            <a:off x="4670278" y="2575642"/>
            <a:ext cx="5265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26.Q4</a:t>
            </a:r>
            <a:endParaRPr lang="en-US" sz="571" dirty="0"/>
          </a:p>
        </p:txBody>
      </p:sp>
      <p:sp>
        <p:nvSpPr>
          <p:cNvPr id="12" name="Text 10"/>
          <p:cNvSpPr txBox="1"/>
          <p:nvPr/>
        </p:nvSpPr>
        <p:spPr>
          <a:xfrm>
            <a:off x="5153324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27.Q1</a:t>
            </a:r>
            <a:endParaRPr lang="en-US" sz="571" dirty="0"/>
          </a:p>
        </p:txBody>
      </p:sp>
      <p:sp>
        <p:nvSpPr>
          <p:cNvPr id="13" name="Text 11"/>
          <p:cNvSpPr txBox="1"/>
          <p:nvPr/>
        </p:nvSpPr>
        <p:spPr>
          <a:xfrm>
            <a:off x="5636257" y="2575642"/>
            <a:ext cx="5265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27.Q2</a:t>
            </a:r>
            <a:endParaRPr lang="en-US" sz="571" dirty="0"/>
          </a:p>
        </p:txBody>
      </p:sp>
      <p:sp>
        <p:nvSpPr>
          <p:cNvPr id="14" name="Text 12"/>
          <p:cNvSpPr txBox="1"/>
          <p:nvPr/>
        </p:nvSpPr>
        <p:spPr>
          <a:xfrm>
            <a:off x="6119303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27.Q3</a:t>
            </a:r>
            <a:endParaRPr lang="en-US" sz="571" dirty="0"/>
          </a:p>
        </p:txBody>
      </p:sp>
      <p:sp>
        <p:nvSpPr>
          <p:cNvPr id="15" name="Text 13"/>
          <p:cNvSpPr txBox="1"/>
          <p:nvPr/>
        </p:nvSpPr>
        <p:spPr>
          <a:xfrm>
            <a:off x="6602236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27.Q4</a:t>
            </a:r>
            <a:endParaRPr lang="en-US" sz="571" dirty="0"/>
          </a:p>
        </p:txBody>
      </p:sp>
      <p:sp>
        <p:nvSpPr>
          <p:cNvPr id="16" name="Text 14"/>
          <p:cNvSpPr txBox="1"/>
          <p:nvPr/>
        </p:nvSpPr>
        <p:spPr>
          <a:xfrm>
            <a:off x="7085168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28.Q1</a:t>
            </a:r>
            <a:endParaRPr lang="en-US" sz="571" dirty="0"/>
          </a:p>
        </p:txBody>
      </p:sp>
      <p:sp>
        <p:nvSpPr>
          <p:cNvPr id="17" name="Text 15"/>
          <p:cNvSpPr txBox="1"/>
          <p:nvPr/>
        </p:nvSpPr>
        <p:spPr>
          <a:xfrm>
            <a:off x="7568101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28.Q2</a:t>
            </a:r>
            <a:endParaRPr lang="en-US" sz="571" dirty="0"/>
          </a:p>
        </p:txBody>
      </p:sp>
      <p:sp>
        <p:nvSpPr>
          <p:cNvPr id="18" name="Text 16"/>
          <p:cNvSpPr txBox="1"/>
          <p:nvPr/>
        </p:nvSpPr>
        <p:spPr>
          <a:xfrm>
            <a:off x="8051034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28.Q3</a:t>
            </a:r>
            <a:endParaRPr lang="en-US" sz="571" dirty="0"/>
          </a:p>
        </p:txBody>
      </p:sp>
      <p:sp>
        <p:nvSpPr>
          <p:cNvPr id="19" name="Text 17"/>
          <p:cNvSpPr txBox="1"/>
          <p:nvPr/>
        </p:nvSpPr>
        <p:spPr>
          <a:xfrm>
            <a:off x="8533967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28.Q4</a:t>
            </a:r>
            <a:endParaRPr lang="en-US" sz="571" dirty="0"/>
          </a:p>
        </p:txBody>
      </p:sp>
      <p:sp>
        <p:nvSpPr>
          <p:cNvPr id="20" name="Shape 18"/>
          <p:cNvSpPr/>
          <p:nvPr/>
        </p:nvSpPr>
        <p:spPr>
          <a:xfrm>
            <a:off x="1625194" y="2706238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25194" y="2775163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자동화 로드맵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3221366" y="2760653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3511126" y="2760653"/>
            <a:ext cx="2607951" cy="130596"/>
          </a:xfrm>
          <a:prstGeom prst="rect">
            <a:avLst/>
          </a:prstGeom>
          <a:solidFill>
            <a:srgbClr val="3B6F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625194" y="2938408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25194" y="3007334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 로드맵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221366" y="2992823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264546" y="2992823"/>
            <a:ext cx="1854530" cy="1305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28" name="Shape 26"/>
          <p:cNvSpPr/>
          <p:nvPr/>
        </p:nvSpPr>
        <p:spPr>
          <a:xfrm>
            <a:off x="1625194" y="3170579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25194" y="3239504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자동화 로드맵</a:t>
            </a:r>
            <a:endParaRPr lang="en-US" sz="686" dirty="0"/>
          </a:p>
        </p:txBody>
      </p:sp>
      <p:sp>
        <p:nvSpPr>
          <p:cNvPr id="30" name="Shape 28"/>
          <p:cNvSpPr/>
          <p:nvPr/>
        </p:nvSpPr>
        <p:spPr>
          <a:xfrm>
            <a:off x="3221366" y="3224994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1126" y="3224994"/>
            <a:ext cx="1564770" cy="130596"/>
          </a:xfrm>
          <a:prstGeom prst="rect">
            <a:avLst/>
          </a:prstGeom>
          <a:solidFill>
            <a:srgbClr val="E0559B"/>
          </a:solidFill>
          <a:ln/>
        </p:spPr>
      </p:sp>
      <p:sp>
        <p:nvSpPr>
          <p:cNvPr id="32" name="Shape 30"/>
          <p:cNvSpPr/>
          <p:nvPr/>
        </p:nvSpPr>
        <p:spPr>
          <a:xfrm>
            <a:off x="1625194" y="3402749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25194" y="3471675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자동화 로드맵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3221366" y="3457164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3"/>
          <p:cNvSpPr/>
          <p:nvPr/>
        </p:nvSpPr>
        <p:spPr>
          <a:xfrm>
            <a:off x="5133825" y="3457164"/>
            <a:ext cx="1564770" cy="130596"/>
          </a:xfrm>
          <a:prstGeom prst="rect">
            <a:avLst/>
          </a:prstGeom>
          <a:solidFill>
            <a:srgbClr val="2FA86B"/>
          </a:solidFill>
          <a:ln/>
        </p:spPr>
      </p:sp>
      <p:sp>
        <p:nvSpPr>
          <p:cNvPr id="36" name="Shape 34"/>
          <p:cNvSpPr/>
          <p:nvPr/>
        </p:nvSpPr>
        <p:spPr>
          <a:xfrm>
            <a:off x="1625194" y="3634920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25194" y="3703845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물류/반송 자동화 로드맵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3221366" y="3689335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Shape 37"/>
          <p:cNvSpPr/>
          <p:nvPr/>
        </p:nvSpPr>
        <p:spPr>
          <a:xfrm>
            <a:off x="5133825" y="3689335"/>
            <a:ext cx="1912459" cy="130596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133825" y="3689335"/>
            <a:ext cx="195599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미등록</a:t>
            </a:r>
            <a:endParaRPr lang="en-US" sz="571" dirty="0"/>
          </a:p>
        </p:txBody>
      </p:sp>
      <p:sp>
        <p:nvSpPr>
          <p:cNvPr id="41" name="Shape 39"/>
          <p:cNvSpPr/>
          <p:nvPr/>
        </p:nvSpPr>
        <p:spPr>
          <a:xfrm>
            <a:off x="1501853" y="4135537"/>
            <a:ext cx="3761094" cy="1915407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96172" y="4229857"/>
            <a:ext cx="748659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4845879" y="4237112"/>
            <a:ext cx="36628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전체보기 ›</a:t>
            </a:r>
            <a:endParaRPr lang="en-US" sz="628" dirty="0"/>
          </a:p>
        </p:txBody>
      </p:sp>
      <p:sp>
        <p:nvSpPr>
          <p:cNvPr id="44" name="Shape 42"/>
          <p:cNvSpPr/>
          <p:nvPr/>
        </p:nvSpPr>
        <p:spPr>
          <a:xfrm>
            <a:off x="1596172" y="4396729"/>
            <a:ext cx="1123102" cy="1493124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3428" y="4403984"/>
            <a:ext cx="1108592" cy="110859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603428" y="4403984"/>
            <a:ext cx="1152124" cy="1108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1661470" y="5570619"/>
            <a:ext cx="103603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로봇 도입</a:t>
            </a:r>
            <a:endParaRPr lang="en-US" sz="686" dirty="0"/>
          </a:p>
        </p:txBody>
      </p:sp>
      <p:sp>
        <p:nvSpPr>
          <p:cNvPr id="48" name="Text 46"/>
          <p:cNvSpPr txBox="1"/>
          <p:nvPr/>
        </p:nvSpPr>
        <p:spPr>
          <a:xfrm>
            <a:off x="1661470" y="5730236"/>
            <a:ext cx="1036038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28" dirty="0"/>
          </a:p>
        </p:txBody>
      </p:sp>
      <p:sp>
        <p:nvSpPr>
          <p:cNvPr id="49" name="Shape 47"/>
          <p:cNvSpPr/>
          <p:nvPr/>
        </p:nvSpPr>
        <p:spPr>
          <a:xfrm>
            <a:off x="2820849" y="4396729"/>
            <a:ext cx="1123102" cy="1493124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28104" y="4403984"/>
            <a:ext cx="1108592" cy="110859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828104" y="4403984"/>
            <a:ext cx="1152124" cy="1108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2886147" y="5570619"/>
            <a:ext cx="103603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AI 적용</a:t>
            </a:r>
            <a:endParaRPr lang="en-US" sz="686" dirty="0"/>
          </a:p>
        </p:txBody>
      </p:sp>
      <p:sp>
        <p:nvSpPr>
          <p:cNvPr id="53" name="Text 51"/>
          <p:cNvSpPr txBox="1"/>
          <p:nvPr/>
        </p:nvSpPr>
        <p:spPr>
          <a:xfrm>
            <a:off x="2886147" y="5730236"/>
            <a:ext cx="1036038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28" dirty="0"/>
          </a:p>
        </p:txBody>
      </p:sp>
      <p:sp>
        <p:nvSpPr>
          <p:cNvPr id="54" name="Shape 52"/>
          <p:cNvSpPr/>
          <p:nvPr/>
        </p:nvSpPr>
        <p:spPr>
          <a:xfrm>
            <a:off x="4045526" y="4396729"/>
            <a:ext cx="1123102" cy="1493124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52781" y="4403984"/>
            <a:ext cx="1108592" cy="110859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052781" y="4403984"/>
            <a:ext cx="1152124" cy="1108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4110824" y="5570619"/>
            <a:ext cx="103603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코봇 활용 사례</a:t>
            </a:r>
            <a:endParaRPr lang="en-US" sz="686" dirty="0"/>
          </a:p>
        </p:txBody>
      </p:sp>
      <p:sp>
        <p:nvSpPr>
          <p:cNvPr id="58" name="Text 56"/>
          <p:cNvSpPr txBox="1"/>
          <p:nvPr/>
        </p:nvSpPr>
        <p:spPr>
          <a:xfrm>
            <a:off x="4110824" y="5730236"/>
            <a:ext cx="1036038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28" dirty="0"/>
          </a:p>
        </p:txBody>
      </p:sp>
      <p:sp>
        <p:nvSpPr>
          <p:cNvPr id="59" name="Shape 57"/>
          <p:cNvSpPr/>
          <p:nvPr/>
        </p:nvSpPr>
        <p:spPr>
          <a:xfrm>
            <a:off x="5379033" y="4135537"/>
            <a:ext cx="3761208" cy="1915407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473352" y="4229857"/>
            <a:ext cx="55446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기술동향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8723172" y="4237112"/>
            <a:ext cx="36628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전체보기 ›</a:t>
            </a:r>
            <a:endParaRPr lang="en-US" sz="628" dirty="0"/>
          </a:p>
        </p:txBody>
      </p:sp>
      <p:sp>
        <p:nvSpPr>
          <p:cNvPr id="62" name="Text 60"/>
          <p:cNvSpPr txBox="1"/>
          <p:nvPr/>
        </p:nvSpPr>
        <p:spPr>
          <a:xfrm>
            <a:off x="5473352" y="4440261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2026-07-01 · 조회 121</a:t>
            </a:r>
            <a:endParaRPr lang="en-US" sz="686" dirty="0"/>
          </a:p>
        </p:txBody>
      </p:sp>
      <p:sp>
        <p:nvSpPr>
          <p:cNvPr id="63" name="Text 61"/>
          <p:cNvSpPr txBox="1"/>
          <p:nvPr/>
        </p:nvSpPr>
        <p:spPr>
          <a:xfrm>
            <a:off x="5473352" y="4636155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신기술 소재 자료 B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2026-07-05 · 조회 85</a:t>
            </a:r>
            <a:endParaRPr lang="en-US" sz="686" dirty="0"/>
          </a:p>
        </p:txBody>
      </p:sp>
      <p:sp>
        <p:nvSpPr>
          <p:cNvPr id="64" name="Text 62"/>
          <p:cNvSpPr txBox="1"/>
          <p:nvPr/>
        </p:nvSpPr>
        <p:spPr>
          <a:xfrm>
            <a:off x="5473352" y="4832049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기술개발 제안 C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2026-07-10 · 조회 42</a:t>
            </a:r>
            <a:endParaRPr lang="en-US" sz="686" dirty="0"/>
          </a:p>
        </p:txBody>
      </p:sp>
      <p:sp>
        <p:nvSpPr>
          <p:cNvPr id="65" name="Text 63"/>
          <p:cNvSpPr txBox="1"/>
          <p:nvPr/>
        </p:nvSpPr>
        <p:spPr>
          <a:xfrm>
            <a:off x="5473352" y="5027943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D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2026-07-14 · 조회 200</a:t>
            </a:r>
            <a:endParaRPr lang="en-US" sz="686" dirty="0"/>
          </a:p>
        </p:txBody>
      </p:sp>
      <p:sp>
        <p:nvSpPr>
          <p:cNvPr id="66" name="Text 64"/>
          <p:cNvSpPr txBox="1"/>
          <p:nvPr/>
        </p:nvSpPr>
        <p:spPr>
          <a:xfrm>
            <a:off x="5473352" y="5223837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기술동향 E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2026-07-19 · 조회 74</a:t>
            </a:r>
            <a:endParaRPr lang="en-US" sz="686" dirty="0"/>
          </a:p>
        </p:txBody>
      </p:sp>
      <p:sp>
        <p:nvSpPr>
          <p:cNvPr id="67" name="Text 65"/>
          <p:cNvSpPr txBox="1"/>
          <p:nvPr/>
        </p:nvSpPr>
        <p:spPr>
          <a:xfrm>
            <a:off x="5473352" y="5419730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기술동향 F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2026-07-20 · 조회 85</a:t>
            </a:r>
            <a:endParaRPr lang="en-US" sz="686" dirty="0"/>
          </a:p>
        </p:txBody>
      </p:sp>
      <p:sp>
        <p:nvSpPr>
          <p:cNvPr id="68" name="Text 66"/>
          <p:cNvSpPr txBox="1"/>
          <p:nvPr/>
        </p:nvSpPr>
        <p:spPr>
          <a:xfrm>
            <a:off x="5473352" y="5615624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기술동향 G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2026-07-21 · 조회 96</a:t>
            </a:r>
            <a:endParaRPr lang="en-US" sz="686" dirty="0"/>
          </a:p>
        </p:txBody>
      </p:sp>
      <p:sp>
        <p:nvSpPr>
          <p:cNvPr id="69" name="Text 67"/>
          <p:cNvSpPr txBox="1"/>
          <p:nvPr/>
        </p:nvSpPr>
        <p:spPr>
          <a:xfrm>
            <a:off x="5473352" y="5811518"/>
            <a:ext cx="361610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기술동향 H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2026-07-22 · 조회 107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9263581" y="0"/>
            <a:ext cx="2925258" cy="56301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1443810" y="219110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1443810" y="219110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73" name="Shape 71"/>
          <p:cNvSpPr/>
          <p:nvPr/>
        </p:nvSpPr>
        <p:spPr>
          <a:xfrm>
            <a:off x="8886304" y="228180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74" name="Text 72"/>
          <p:cNvSpPr txBox="1"/>
          <p:nvPr/>
        </p:nvSpPr>
        <p:spPr>
          <a:xfrm>
            <a:off x="8886304" y="228180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75" name="Shape 73"/>
          <p:cNvSpPr/>
          <p:nvPr/>
        </p:nvSpPr>
        <p:spPr>
          <a:xfrm>
            <a:off x="1480087" y="404121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1480087" y="404121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514" dirty="0"/>
          </a:p>
        </p:txBody>
      </p:sp>
      <p:sp>
        <p:nvSpPr>
          <p:cNvPr id="77" name="Shape 75"/>
          <p:cNvSpPr/>
          <p:nvPr/>
        </p:nvSpPr>
        <p:spPr>
          <a:xfrm>
            <a:off x="5357267" y="404121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78" name="Text 76"/>
          <p:cNvSpPr txBox="1"/>
          <p:nvPr/>
        </p:nvSpPr>
        <p:spPr>
          <a:xfrm>
            <a:off x="5357267" y="404121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514" dirty="0"/>
          </a:p>
        </p:txBody>
      </p:sp>
      <p:sp>
        <p:nvSpPr>
          <p:cNvPr id="79" name="Shape 77"/>
          <p:cNvSpPr/>
          <p:nvPr/>
        </p:nvSpPr>
        <p:spPr>
          <a:xfrm>
            <a:off x="1349491" y="144381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0" name="Text 78"/>
          <p:cNvSpPr txBox="1"/>
          <p:nvPr/>
        </p:nvSpPr>
        <p:spPr>
          <a:xfrm>
            <a:off x="1349491" y="144381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81" name="Shape 79"/>
          <p:cNvSpPr/>
          <p:nvPr/>
        </p:nvSpPr>
        <p:spPr>
          <a:xfrm>
            <a:off x="1349491" y="219110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2" name="Text 80"/>
          <p:cNvSpPr txBox="1"/>
          <p:nvPr/>
        </p:nvSpPr>
        <p:spPr>
          <a:xfrm>
            <a:off x="1349491" y="219110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83" name="Shape 81"/>
          <p:cNvSpPr/>
          <p:nvPr/>
        </p:nvSpPr>
        <p:spPr>
          <a:xfrm>
            <a:off x="1349491" y="407749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4" name="Text 82"/>
          <p:cNvSpPr txBox="1"/>
          <p:nvPr/>
        </p:nvSpPr>
        <p:spPr>
          <a:xfrm>
            <a:off x="1349491" y="407749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606859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1077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KPI 카드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등록 로드맵/진행중/계획/반려/보류 5개 상태별 건수를 요약 카드로 보여주는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카드 상단 3px 컬러 바로 상태를 구분(진행중=파랑, 계획=주황, 반려=빨강, 보류=회색).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/api/mtrm/dashboard/kpi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3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통합 로드맵 미니 간트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5개 대표 로드맵(차체/조립/도장/엔진/물류·반송)을 고정 기간 막대로 요약 표시하는 아코디언형 미니 간트이다(SCR-008과 별개 상태로 펼침 관리).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로드맵 행(아코디언)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차체/조립/도장/엔진 4개는 색상 막대, 물류/반송은 상세과제 미매핑이라 "상세과제 미등록" 텍스트 막대로 렌더.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로드맵명 좌측 화살표(▾) 클릭 시 하위 상세과제 목록 펼침(다중 펼침 가능).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/api/mtrm/roadmap/summary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통합 로드맵 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통합 로드맵(SCR-006) 화면으로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이 화면에서 트리거되는 팝업/모달로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3-1 생산기술 Tech PR 미리보기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최근 등록된 자료 3건을 카드(썸네일 1:1)로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카드 클릭 시 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이동 없이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techPrDetail 오버레이가 대시보드 위에 바로 오픈(SCR-009 카드와 동일 컴포넌트, SCR-009로는 이동 안 함). "전체보기"는 별개로 SCR-009로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/api/mtrm/techpr/recent?limit=3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59797">
                <a:tc>
                  <a:txBody>
                    <a:bodyPr/>
                    <a:lstStyle/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3-2 최근 기술동향 미리보기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최근 등록된 기술동향 8건을 리스트로 표시(SCR-014 목록보다 적은 8건만 노출).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항목 클릭 시 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이동 없이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dashTrendDetail 팝업이 대시보드 위에 바로 오픈(SCR-014로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1108964"/>
                <a:gridCol w="1035758"/>
                <a:gridCol w="1344934"/>
                <a:gridCol w="1996710"/>
                <a:gridCol w="3428960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/portal/mtrm/main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709322" cy="159617"/>
        </p:xfrm>
        <a:graphic>
          <a:graphicData uri="http://schemas.openxmlformats.org/drawingml/2006/table">
            <a:tbl>
              <a:tblPr/>
              <a:tblGrid>
                <a:gridCol w="35466"/>
                <a:gridCol w="638390"/>
                <a:gridCol w="35466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64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5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MTRM-MAIN</a:t>
                      </a:r>
                      <a:endParaRPr lang="en-US" sz="64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64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2970585"/>
                <a:gridCol w="4251950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공유&gt;메인 대시보드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501853"/>
          <a:ext cx="7638387" cy="602192"/>
        </p:xfrm>
        <a:graphic>
          <a:graphicData uri="http://schemas.openxmlformats.org/drawingml/2006/table">
            <a:tbl>
              <a:tblPr/>
              <a:tblGrid>
                <a:gridCol w="1527677"/>
                <a:gridCol w="1527677"/>
                <a:gridCol w="1527677"/>
                <a:gridCol w="1527677"/>
                <a:gridCol w="1527677"/>
              </a:tblGrid>
              <a:tr h="602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등록 로드맵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진행중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계획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반려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보류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Shape 83"/>
          <p:cNvSpPr/>
          <p:nvPr/>
        </p:nvSpPr>
        <p:spPr>
          <a:xfrm>
            <a:off x="1443810" y="219110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93" name="Text 84"/>
          <p:cNvSpPr txBox="1"/>
          <p:nvPr/>
        </p:nvSpPr>
        <p:spPr>
          <a:xfrm>
            <a:off x="1443810" y="219110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94" name="Shape 85"/>
          <p:cNvSpPr/>
          <p:nvPr/>
        </p:nvSpPr>
        <p:spPr>
          <a:xfrm>
            <a:off x="8886304" y="228180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95" name="Text 86"/>
          <p:cNvSpPr txBox="1"/>
          <p:nvPr/>
        </p:nvSpPr>
        <p:spPr>
          <a:xfrm>
            <a:off x="8886304" y="228180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96" name="Shape 87"/>
          <p:cNvSpPr/>
          <p:nvPr/>
        </p:nvSpPr>
        <p:spPr>
          <a:xfrm>
            <a:off x="1480087" y="404121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97" name="Text 88"/>
          <p:cNvSpPr txBox="1"/>
          <p:nvPr/>
        </p:nvSpPr>
        <p:spPr>
          <a:xfrm>
            <a:off x="1480087" y="404121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514" dirty="0"/>
          </a:p>
        </p:txBody>
      </p:sp>
      <p:sp>
        <p:nvSpPr>
          <p:cNvPr id="98" name="Shape 89"/>
          <p:cNvSpPr/>
          <p:nvPr/>
        </p:nvSpPr>
        <p:spPr>
          <a:xfrm>
            <a:off x="5357267" y="404121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99" name="Text 90"/>
          <p:cNvSpPr txBox="1"/>
          <p:nvPr/>
        </p:nvSpPr>
        <p:spPr>
          <a:xfrm>
            <a:off x="5357267" y="404121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514" dirty="0"/>
          </a:p>
        </p:txBody>
      </p:sp>
      <p:sp>
        <p:nvSpPr>
          <p:cNvPr id="100" name="Shape 91"/>
          <p:cNvSpPr/>
          <p:nvPr/>
        </p:nvSpPr>
        <p:spPr>
          <a:xfrm>
            <a:off x="1349491" y="144381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01" name="Text 92"/>
          <p:cNvSpPr txBox="1"/>
          <p:nvPr/>
        </p:nvSpPr>
        <p:spPr>
          <a:xfrm>
            <a:off x="1349491" y="144381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02" name="Shape 93"/>
          <p:cNvSpPr/>
          <p:nvPr/>
        </p:nvSpPr>
        <p:spPr>
          <a:xfrm>
            <a:off x="1349491" y="219110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03" name="Text 94"/>
          <p:cNvSpPr txBox="1"/>
          <p:nvPr/>
        </p:nvSpPr>
        <p:spPr>
          <a:xfrm>
            <a:off x="1349491" y="219110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04" name="Shape 95"/>
          <p:cNvSpPr/>
          <p:nvPr/>
        </p:nvSpPr>
        <p:spPr>
          <a:xfrm>
            <a:off x="1349491" y="407749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05" name="Text 96"/>
          <p:cNvSpPr txBox="1"/>
          <p:nvPr/>
        </p:nvSpPr>
        <p:spPr>
          <a:xfrm>
            <a:off x="1349491" y="407749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06" name="Text 97"/>
          <p:cNvSpPr/>
          <p:nvPr/>
        </p:nvSpPr>
        <p:spPr>
          <a:xfrm>
            <a:off x="9394177" y="6565392"/>
            <a:ext cx="2678577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709322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57872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MTRM-MAIN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209939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209939" y="337882"/>
            <a:ext cx="633708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090328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090328" y="348765"/>
            <a:ext cx="80987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/portal/mtrm/main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146885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146885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803856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51367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108830" y="137125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108830" y="18065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459556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4" name="Shape 22"/>
          <p:cNvSpPr/>
          <p:nvPr/>
        </p:nvSpPr>
        <p:spPr>
          <a:xfrm>
            <a:off x="7255" y="2597408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8830" y="2655450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108830" y="287311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076259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210405" y="3257643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4535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67119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388885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10651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3" name="Text 31"/>
          <p:cNvSpPr txBox="1"/>
          <p:nvPr/>
        </p:nvSpPr>
        <p:spPr>
          <a:xfrm>
            <a:off x="108830" y="432417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108830" y="45418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Text 33"/>
          <p:cNvSpPr txBox="1"/>
          <p:nvPr/>
        </p:nvSpPr>
        <p:spPr>
          <a:xfrm>
            <a:off x="1501853" y="1146342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1501853" y="1291448"/>
            <a:ext cx="768191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로드맵·생산기술 Tech PR·기술동향을 한 화면에서 확인</a:t>
            </a:r>
            <a:endParaRPr lang="en-US" sz="628" dirty="0"/>
          </a:p>
        </p:txBody>
      </p:sp>
      <p:sp>
        <p:nvSpPr>
          <p:cNvPr id="37" name="Shape 35"/>
          <p:cNvSpPr/>
          <p:nvPr/>
        </p:nvSpPr>
        <p:spPr>
          <a:xfrm>
            <a:off x="1501853" y="1501853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25194" y="1610683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등록 로드맵</a:t>
            </a:r>
            <a:endParaRPr lang="en-US" sz="686" dirty="0"/>
          </a:p>
        </p:txBody>
      </p:sp>
      <p:sp>
        <p:nvSpPr>
          <p:cNvPr id="39" name="Text 37"/>
          <p:cNvSpPr txBox="1"/>
          <p:nvPr/>
        </p:nvSpPr>
        <p:spPr>
          <a:xfrm>
            <a:off x="1625194" y="1770300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14건</a:t>
            </a:r>
            <a:endParaRPr lang="en-US" sz="1371" dirty="0"/>
          </a:p>
        </p:txBody>
      </p:sp>
      <p:sp>
        <p:nvSpPr>
          <p:cNvPr id="40" name="Shape 38"/>
          <p:cNvSpPr/>
          <p:nvPr/>
        </p:nvSpPr>
        <p:spPr>
          <a:xfrm>
            <a:off x="3049845" y="1501853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1971C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73186" y="1610683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진행중</a:t>
            </a:r>
            <a:endParaRPr lang="en-US" sz="686" dirty="0"/>
          </a:p>
        </p:txBody>
      </p:sp>
      <p:sp>
        <p:nvSpPr>
          <p:cNvPr id="42" name="Text 40"/>
          <p:cNvSpPr txBox="1"/>
          <p:nvPr/>
        </p:nvSpPr>
        <p:spPr>
          <a:xfrm>
            <a:off x="3173186" y="1770300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71" dirty="0"/>
          </a:p>
        </p:txBody>
      </p:sp>
      <p:sp>
        <p:nvSpPr>
          <p:cNvPr id="43" name="Shape 41"/>
          <p:cNvSpPr/>
          <p:nvPr/>
        </p:nvSpPr>
        <p:spPr>
          <a:xfrm>
            <a:off x="4597838" y="1501853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E8930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21178" y="1610683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계획</a:t>
            </a:r>
            <a:endParaRPr lang="en-US" sz="686" dirty="0"/>
          </a:p>
        </p:txBody>
      </p:sp>
      <p:sp>
        <p:nvSpPr>
          <p:cNvPr id="45" name="Text 43"/>
          <p:cNvSpPr txBox="1"/>
          <p:nvPr/>
        </p:nvSpPr>
        <p:spPr>
          <a:xfrm>
            <a:off x="4721178" y="1770300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</a:t>
            </a:r>
            <a:endParaRPr lang="en-US" sz="1371" dirty="0"/>
          </a:p>
        </p:txBody>
      </p:sp>
      <p:sp>
        <p:nvSpPr>
          <p:cNvPr id="46" name="Shape 44"/>
          <p:cNvSpPr/>
          <p:nvPr/>
        </p:nvSpPr>
        <p:spPr>
          <a:xfrm>
            <a:off x="6145830" y="1501853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E0313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69171" y="1610683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반려</a:t>
            </a:r>
            <a:endParaRPr lang="en-US" sz="686" dirty="0"/>
          </a:p>
        </p:txBody>
      </p:sp>
      <p:sp>
        <p:nvSpPr>
          <p:cNvPr id="48" name="Text 46"/>
          <p:cNvSpPr txBox="1"/>
          <p:nvPr/>
        </p:nvSpPr>
        <p:spPr>
          <a:xfrm>
            <a:off x="6269171" y="1770300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71" dirty="0"/>
          </a:p>
        </p:txBody>
      </p:sp>
      <p:sp>
        <p:nvSpPr>
          <p:cNvPr id="49" name="Shape 47"/>
          <p:cNvSpPr/>
          <p:nvPr/>
        </p:nvSpPr>
        <p:spPr>
          <a:xfrm>
            <a:off x="7693822" y="1501853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868E9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817163" y="1610683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보류</a:t>
            </a:r>
            <a:endParaRPr lang="en-US" sz="686" dirty="0"/>
          </a:p>
        </p:txBody>
      </p:sp>
      <p:sp>
        <p:nvSpPr>
          <p:cNvPr id="51" name="Text 49"/>
          <p:cNvSpPr txBox="1"/>
          <p:nvPr/>
        </p:nvSpPr>
        <p:spPr>
          <a:xfrm>
            <a:off x="7817163" y="1770300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71" dirty="0"/>
          </a:p>
        </p:txBody>
      </p:sp>
      <p:sp>
        <p:nvSpPr>
          <p:cNvPr id="52" name="Shape 50"/>
          <p:cNvSpPr/>
          <p:nvPr/>
        </p:nvSpPr>
        <p:spPr>
          <a:xfrm>
            <a:off x="1501853" y="2249152"/>
            <a:ext cx="7638387" cy="174127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625194" y="2372492"/>
            <a:ext cx="50594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447130" y="2383375"/>
            <a:ext cx="61330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보기 ›</a:t>
            </a:r>
            <a:endParaRPr lang="en-US" sz="628" dirty="0"/>
          </a:p>
        </p:txBody>
      </p:sp>
      <p:sp>
        <p:nvSpPr>
          <p:cNvPr id="55" name="Text 53"/>
          <p:cNvSpPr txBox="1"/>
          <p:nvPr/>
        </p:nvSpPr>
        <p:spPr>
          <a:xfrm>
            <a:off x="3221366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26.Q1</a:t>
            </a:r>
            <a:endParaRPr lang="en-US" sz="571" dirty="0"/>
          </a:p>
        </p:txBody>
      </p:sp>
      <p:sp>
        <p:nvSpPr>
          <p:cNvPr id="56" name="Text 54"/>
          <p:cNvSpPr txBox="1"/>
          <p:nvPr/>
        </p:nvSpPr>
        <p:spPr>
          <a:xfrm>
            <a:off x="3704299" y="2575642"/>
            <a:ext cx="5265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26.Q2</a:t>
            </a:r>
            <a:endParaRPr lang="en-US" sz="571" dirty="0"/>
          </a:p>
        </p:txBody>
      </p:sp>
      <p:sp>
        <p:nvSpPr>
          <p:cNvPr id="57" name="Text 55"/>
          <p:cNvSpPr txBox="1"/>
          <p:nvPr/>
        </p:nvSpPr>
        <p:spPr>
          <a:xfrm>
            <a:off x="4187345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26.Q3</a:t>
            </a:r>
            <a:endParaRPr lang="en-US" sz="571" dirty="0"/>
          </a:p>
        </p:txBody>
      </p:sp>
      <p:sp>
        <p:nvSpPr>
          <p:cNvPr id="58" name="Text 56"/>
          <p:cNvSpPr txBox="1"/>
          <p:nvPr/>
        </p:nvSpPr>
        <p:spPr>
          <a:xfrm>
            <a:off x="4670278" y="2575642"/>
            <a:ext cx="5265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26.Q4</a:t>
            </a:r>
            <a:endParaRPr lang="en-US" sz="571" dirty="0"/>
          </a:p>
        </p:txBody>
      </p:sp>
      <p:sp>
        <p:nvSpPr>
          <p:cNvPr id="59" name="Text 57"/>
          <p:cNvSpPr txBox="1"/>
          <p:nvPr/>
        </p:nvSpPr>
        <p:spPr>
          <a:xfrm>
            <a:off x="5153324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27.Q1</a:t>
            </a:r>
            <a:endParaRPr lang="en-US" sz="571" dirty="0"/>
          </a:p>
        </p:txBody>
      </p:sp>
      <p:sp>
        <p:nvSpPr>
          <p:cNvPr id="60" name="Text 58"/>
          <p:cNvSpPr txBox="1"/>
          <p:nvPr/>
        </p:nvSpPr>
        <p:spPr>
          <a:xfrm>
            <a:off x="5636257" y="2575642"/>
            <a:ext cx="5265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27.Q2</a:t>
            </a:r>
            <a:endParaRPr lang="en-US" sz="571" dirty="0"/>
          </a:p>
        </p:txBody>
      </p:sp>
      <p:sp>
        <p:nvSpPr>
          <p:cNvPr id="61" name="Text 59"/>
          <p:cNvSpPr txBox="1"/>
          <p:nvPr/>
        </p:nvSpPr>
        <p:spPr>
          <a:xfrm>
            <a:off x="6119303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27.Q3</a:t>
            </a:r>
            <a:endParaRPr lang="en-US" sz="571" dirty="0"/>
          </a:p>
        </p:txBody>
      </p:sp>
      <p:sp>
        <p:nvSpPr>
          <p:cNvPr id="62" name="Text 60"/>
          <p:cNvSpPr txBox="1"/>
          <p:nvPr/>
        </p:nvSpPr>
        <p:spPr>
          <a:xfrm>
            <a:off x="6602236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27.Q4</a:t>
            </a:r>
            <a:endParaRPr lang="en-US" sz="571" dirty="0"/>
          </a:p>
        </p:txBody>
      </p:sp>
      <p:sp>
        <p:nvSpPr>
          <p:cNvPr id="63" name="Text 61"/>
          <p:cNvSpPr txBox="1"/>
          <p:nvPr/>
        </p:nvSpPr>
        <p:spPr>
          <a:xfrm>
            <a:off x="7085168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28.Q1</a:t>
            </a:r>
            <a:endParaRPr lang="en-US" sz="571" dirty="0"/>
          </a:p>
        </p:txBody>
      </p:sp>
      <p:sp>
        <p:nvSpPr>
          <p:cNvPr id="64" name="Text 62"/>
          <p:cNvSpPr txBox="1"/>
          <p:nvPr/>
        </p:nvSpPr>
        <p:spPr>
          <a:xfrm>
            <a:off x="7568101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28.Q2</a:t>
            </a:r>
            <a:endParaRPr lang="en-US" sz="571" dirty="0"/>
          </a:p>
        </p:txBody>
      </p:sp>
      <p:sp>
        <p:nvSpPr>
          <p:cNvPr id="65" name="Text 63"/>
          <p:cNvSpPr txBox="1"/>
          <p:nvPr/>
        </p:nvSpPr>
        <p:spPr>
          <a:xfrm>
            <a:off x="8051034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28.Q3</a:t>
            </a:r>
            <a:endParaRPr lang="en-US" sz="571" dirty="0"/>
          </a:p>
        </p:txBody>
      </p:sp>
      <p:sp>
        <p:nvSpPr>
          <p:cNvPr id="66" name="Text 64"/>
          <p:cNvSpPr txBox="1"/>
          <p:nvPr/>
        </p:nvSpPr>
        <p:spPr>
          <a:xfrm>
            <a:off x="8533967" y="2575642"/>
            <a:ext cx="52646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7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28.Q4</a:t>
            </a:r>
            <a:endParaRPr lang="en-US" sz="571" dirty="0"/>
          </a:p>
        </p:txBody>
      </p:sp>
      <p:sp>
        <p:nvSpPr>
          <p:cNvPr id="67" name="Shape 65"/>
          <p:cNvSpPr/>
          <p:nvPr/>
        </p:nvSpPr>
        <p:spPr>
          <a:xfrm>
            <a:off x="1625194" y="2706238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625194" y="2775163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자동화 로드맵</a:t>
            </a:r>
            <a:endParaRPr lang="en-US" sz="686" dirty="0"/>
          </a:p>
        </p:txBody>
      </p:sp>
      <p:sp>
        <p:nvSpPr>
          <p:cNvPr id="69" name="Shape 67"/>
          <p:cNvSpPr/>
          <p:nvPr/>
        </p:nvSpPr>
        <p:spPr>
          <a:xfrm>
            <a:off x="3221366" y="2760653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0" name="Shape 68"/>
          <p:cNvSpPr/>
          <p:nvPr/>
        </p:nvSpPr>
        <p:spPr>
          <a:xfrm>
            <a:off x="3511126" y="2760653"/>
            <a:ext cx="2607951" cy="130596"/>
          </a:xfrm>
          <a:prstGeom prst="rect">
            <a:avLst/>
          </a:prstGeom>
          <a:solidFill>
            <a:srgbClr val="3B6FD6"/>
          </a:solidFill>
          <a:ln/>
        </p:spPr>
      </p:sp>
      <p:sp>
        <p:nvSpPr>
          <p:cNvPr id="71" name="Shape 69"/>
          <p:cNvSpPr/>
          <p:nvPr/>
        </p:nvSpPr>
        <p:spPr>
          <a:xfrm>
            <a:off x="1625194" y="2938408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625194" y="3007334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 로드맵</a:t>
            </a:r>
            <a:endParaRPr lang="en-US" sz="686" dirty="0"/>
          </a:p>
        </p:txBody>
      </p:sp>
      <p:sp>
        <p:nvSpPr>
          <p:cNvPr id="73" name="Shape 71"/>
          <p:cNvSpPr/>
          <p:nvPr/>
        </p:nvSpPr>
        <p:spPr>
          <a:xfrm>
            <a:off x="3221366" y="2992823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4" name="Shape 72"/>
          <p:cNvSpPr/>
          <p:nvPr/>
        </p:nvSpPr>
        <p:spPr>
          <a:xfrm>
            <a:off x="4264546" y="2992823"/>
            <a:ext cx="1854530" cy="130596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75" name="Shape 73"/>
          <p:cNvSpPr/>
          <p:nvPr/>
        </p:nvSpPr>
        <p:spPr>
          <a:xfrm>
            <a:off x="1625194" y="3170579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625194" y="3239504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자동화 로드맵</a:t>
            </a:r>
            <a:endParaRPr lang="en-US" sz="686" dirty="0"/>
          </a:p>
        </p:txBody>
      </p:sp>
      <p:sp>
        <p:nvSpPr>
          <p:cNvPr id="77" name="Shape 75"/>
          <p:cNvSpPr/>
          <p:nvPr/>
        </p:nvSpPr>
        <p:spPr>
          <a:xfrm>
            <a:off x="3221366" y="3224994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8" name="Shape 76"/>
          <p:cNvSpPr/>
          <p:nvPr/>
        </p:nvSpPr>
        <p:spPr>
          <a:xfrm>
            <a:off x="3511126" y="3224994"/>
            <a:ext cx="1564770" cy="130596"/>
          </a:xfrm>
          <a:prstGeom prst="rect">
            <a:avLst/>
          </a:prstGeom>
          <a:solidFill>
            <a:srgbClr val="E0559B"/>
          </a:solidFill>
          <a:ln/>
        </p:spPr>
      </p:sp>
      <p:sp>
        <p:nvSpPr>
          <p:cNvPr id="79" name="Shape 77"/>
          <p:cNvSpPr/>
          <p:nvPr/>
        </p:nvSpPr>
        <p:spPr>
          <a:xfrm>
            <a:off x="1625194" y="3402749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625194" y="3471675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자동화 로드맵</a:t>
            </a:r>
            <a:endParaRPr lang="en-US" sz="686" dirty="0"/>
          </a:p>
        </p:txBody>
      </p:sp>
      <p:sp>
        <p:nvSpPr>
          <p:cNvPr id="81" name="Shape 79"/>
          <p:cNvSpPr/>
          <p:nvPr/>
        </p:nvSpPr>
        <p:spPr>
          <a:xfrm>
            <a:off x="3221366" y="3457164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2" name="Shape 80"/>
          <p:cNvSpPr/>
          <p:nvPr/>
        </p:nvSpPr>
        <p:spPr>
          <a:xfrm>
            <a:off x="5133825" y="3457164"/>
            <a:ext cx="1564770" cy="130596"/>
          </a:xfrm>
          <a:prstGeom prst="rect">
            <a:avLst/>
          </a:prstGeom>
          <a:solidFill>
            <a:srgbClr val="2FA86B"/>
          </a:solidFill>
          <a:ln/>
        </p:spPr>
      </p:sp>
      <p:sp>
        <p:nvSpPr>
          <p:cNvPr id="83" name="Shape 81"/>
          <p:cNvSpPr/>
          <p:nvPr/>
        </p:nvSpPr>
        <p:spPr>
          <a:xfrm>
            <a:off x="1625194" y="3634920"/>
            <a:ext cx="7391706" cy="232171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625194" y="3703845"/>
            <a:ext cx="163970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물류/반송 자동화 로드맵</a:t>
            </a:r>
            <a:endParaRPr lang="en-US" sz="686" dirty="0"/>
          </a:p>
        </p:txBody>
      </p:sp>
      <p:sp>
        <p:nvSpPr>
          <p:cNvPr id="85" name="Shape 83"/>
          <p:cNvSpPr/>
          <p:nvPr/>
        </p:nvSpPr>
        <p:spPr>
          <a:xfrm>
            <a:off x="3221366" y="3689335"/>
            <a:ext cx="5795534" cy="1305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6" name="Shape 84"/>
          <p:cNvSpPr/>
          <p:nvPr/>
        </p:nvSpPr>
        <p:spPr>
          <a:xfrm>
            <a:off x="5133825" y="3689335"/>
            <a:ext cx="1912459" cy="130596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133825" y="3689335"/>
            <a:ext cx="195599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미등록</a:t>
            </a:r>
            <a:endParaRPr lang="en-US" sz="571" dirty="0"/>
          </a:p>
        </p:txBody>
      </p:sp>
      <p:sp>
        <p:nvSpPr>
          <p:cNvPr id="88" name="Shape 86"/>
          <p:cNvSpPr/>
          <p:nvPr/>
        </p:nvSpPr>
        <p:spPr>
          <a:xfrm>
            <a:off x="1501853" y="4135537"/>
            <a:ext cx="3761094" cy="1915407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596172" y="4229857"/>
            <a:ext cx="748659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4845879" y="4237112"/>
            <a:ext cx="36628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전체보기 ›</a:t>
            </a:r>
            <a:endParaRPr lang="en-US" sz="628" dirty="0"/>
          </a:p>
        </p:txBody>
      </p:sp>
      <p:sp>
        <p:nvSpPr>
          <p:cNvPr id="91" name="Shape 89"/>
          <p:cNvSpPr/>
          <p:nvPr/>
        </p:nvSpPr>
        <p:spPr>
          <a:xfrm>
            <a:off x="1596172" y="4396729"/>
            <a:ext cx="1123102" cy="1493124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03428" y="4403984"/>
            <a:ext cx="1108592" cy="110859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603428" y="4403984"/>
            <a:ext cx="1152124" cy="1108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1661470" y="5570619"/>
            <a:ext cx="103603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로봇 도입</a:t>
            </a:r>
            <a:endParaRPr lang="en-US" sz="686" dirty="0"/>
          </a:p>
        </p:txBody>
      </p:sp>
      <p:sp>
        <p:nvSpPr>
          <p:cNvPr id="95" name="Text 93"/>
          <p:cNvSpPr txBox="1"/>
          <p:nvPr/>
        </p:nvSpPr>
        <p:spPr>
          <a:xfrm>
            <a:off x="1661470" y="5730236"/>
            <a:ext cx="1036038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28" dirty="0"/>
          </a:p>
        </p:txBody>
      </p:sp>
      <p:sp>
        <p:nvSpPr>
          <p:cNvPr id="96" name="Shape 94"/>
          <p:cNvSpPr/>
          <p:nvPr/>
        </p:nvSpPr>
        <p:spPr>
          <a:xfrm>
            <a:off x="2820849" y="4396729"/>
            <a:ext cx="1123102" cy="1493124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828104" y="4403984"/>
            <a:ext cx="1108592" cy="110859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2828104" y="4403984"/>
            <a:ext cx="1152124" cy="1108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700" dirty="0"/>
          </a:p>
        </p:txBody>
      </p:sp>
      <p:sp>
        <p:nvSpPr>
          <p:cNvPr id="99" name="Text 97"/>
          <p:cNvSpPr txBox="1"/>
          <p:nvPr/>
        </p:nvSpPr>
        <p:spPr>
          <a:xfrm>
            <a:off x="2886147" y="5570619"/>
            <a:ext cx="103603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AI 적용</a:t>
            </a:r>
            <a:endParaRPr lang="en-US" sz="686" dirty="0"/>
          </a:p>
        </p:txBody>
      </p:sp>
      <p:sp>
        <p:nvSpPr>
          <p:cNvPr id="100" name="Text 98"/>
          <p:cNvSpPr txBox="1"/>
          <p:nvPr/>
        </p:nvSpPr>
        <p:spPr>
          <a:xfrm>
            <a:off x="2886147" y="5730236"/>
            <a:ext cx="1036038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28" dirty="0"/>
          </a:p>
        </p:txBody>
      </p:sp>
      <p:sp>
        <p:nvSpPr>
          <p:cNvPr id="101" name="Shape 99"/>
          <p:cNvSpPr/>
          <p:nvPr/>
        </p:nvSpPr>
        <p:spPr>
          <a:xfrm>
            <a:off x="4045526" y="4396729"/>
            <a:ext cx="1123102" cy="1493124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052781" y="4403984"/>
            <a:ext cx="1108592" cy="110859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4052781" y="4403984"/>
            <a:ext cx="1152124" cy="1108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104" name="Text 102"/>
          <p:cNvSpPr txBox="1"/>
          <p:nvPr/>
        </p:nvSpPr>
        <p:spPr>
          <a:xfrm>
            <a:off x="4110824" y="5570619"/>
            <a:ext cx="103603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코봇 활용 사례</a:t>
            </a:r>
            <a:endParaRPr lang="en-US" sz="686" dirty="0"/>
          </a:p>
        </p:txBody>
      </p:sp>
      <p:sp>
        <p:nvSpPr>
          <p:cNvPr id="105" name="Text 103"/>
          <p:cNvSpPr txBox="1"/>
          <p:nvPr/>
        </p:nvSpPr>
        <p:spPr>
          <a:xfrm>
            <a:off x="4110824" y="5730236"/>
            <a:ext cx="1036038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28" dirty="0"/>
          </a:p>
        </p:txBody>
      </p:sp>
      <p:sp>
        <p:nvSpPr>
          <p:cNvPr id="106" name="Shape 104"/>
          <p:cNvSpPr/>
          <p:nvPr/>
        </p:nvSpPr>
        <p:spPr>
          <a:xfrm>
            <a:off x="5379033" y="4135537"/>
            <a:ext cx="3761208" cy="1915407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473352" y="4229857"/>
            <a:ext cx="55446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기술동향</a:t>
            </a:r>
            <a:endParaRPr lang="en-US" sz="700" dirty="0"/>
          </a:p>
        </p:txBody>
      </p:sp>
      <p:sp>
        <p:nvSpPr>
          <p:cNvPr id="108" name="Text 106"/>
          <p:cNvSpPr txBox="1"/>
          <p:nvPr/>
        </p:nvSpPr>
        <p:spPr>
          <a:xfrm>
            <a:off x="8723172" y="4237112"/>
            <a:ext cx="36628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전체보기 ›</a:t>
            </a:r>
            <a:endParaRPr lang="en-US" sz="628" dirty="0"/>
          </a:p>
        </p:txBody>
      </p:sp>
      <p:sp>
        <p:nvSpPr>
          <p:cNvPr id="109" name="Text 107"/>
          <p:cNvSpPr txBox="1"/>
          <p:nvPr/>
        </p:nvSpPr>
        <p:spPr>
          <a:xfrm>
            <a:off x="5473352" y="4440261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2026-07-01 · 조회 121</a:t>
            </a:r>
            <a:endParaRPr lang="en-US" sz="686" dirty="0"/>
          </a:p>
        </p:txBody>
      </p:sp>
      <p:sp>
        <p:nvSpPr>
          <p:cNvPr id="110" name="Text 108"/>
          <p:cNvSpPr txBox="1"/>
          <p:nvPr/>
        </p:nvSpPr>
        <p:spPr>
          <a:xfrm>
            <a:off x="5473352" y="4636155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신기술 소재 자료 B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2026-07-05 · 조회 85</a:t>
            </a:r>
            <a:endParaRPr lang="en-US" sz="686" dirty="0"/>
          </a:p>
        </p:txBody>
      </p:sp>
      <p:sp>
        <p:nvSpPr>
          <p:cNvPr id="111" name="Text 109"/>
          <p:cNvSpPr txBox="1"/>
          <p:nvPr/>
        </p:nvSpPr>
        <p:spPr>
          <a:xfrm>
            <a:off x="5473352" y="4832049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기술개발 제안 C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2026-07-10 · 조회 42</a:t>
            </a:r>
            <a:endParaRPr lang="en-US" sz="686" dirty="0"/>
          </a:p>
        </p:txBody>
      </p:sp>
      <p:sp>
        <p:nvSpPr>
          <p:cNvPr id="112" name="Text 110"/>
          <p:cNvSpPr txBox="1"/>
          <p:nvPr/>
        </p:nvSpPr>
        <p:spPr>
          <a:xfrm>
            <a:off x="5473352" y="5027943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D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2026-07-14 · 조회 200</a:t>
            </a:r>
            <a:endParaRPr lang="en-US" sz="686" dirty="0"/>
          </a:p>
        </p:txBody>
      </p:sp>
      <p:sp>
        <p:nvSpPr>
          <p:cNvPr id="113" name="Text 111"/>
          <p:cNvSpPr txBox="1"/>
          <p:nvPr/>
        </p:nvSpPr>
        <p:spPr>
          <a:xfrm>
            <a:off x="5473352" y="5223837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기술동향 E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2026-07-19 · 조회 74</a:t>
            </a:r>
            <a:endParaRPr lang="en-US" sz="686" dirty="0"/>
          </a:p>
        </p:txBody>
      </p:sp>
      <p:sp>
        <p:nvSpPr>
          <p:cNvPr id="114" name="Text 112"/>
          <p:cNvSpPr txBox="1"/>
          <p:nvPr/>
        </p:nvSpPr>
        <p:spPr>
          <a:xfrm>
            <a:off x="5473352" y="5419730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기술동향 F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2026-07-20 · 조회 85</a:t>
            </a:r>
            <a:endParaRPr lang="en-US" sz="686" dirty="0"/>
          </a:p>
        </p:txBody>
      </p:sp>
      <p:sp>
        <p:nvSpPr>
          <p:cNvPr id="115" name="Text 113"/>
          <p:cNvSpPr txBox="1"/>
          <p:nvPr/>
        </p:nvSpPr>
        <p:spPr>
          <a:xfrm>
            <a:off x="5473352" y="5615624"/>
            <a:ext cx="361610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기술동향 G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2026-07-21 · 조회 96</a:t>
            </a:r>
            <a:endParaRPr lang="en-US" sz="686" dirty="0"/>
          </a:p>
        </p:txBody>
      </p:sp>
      <p:sp>
        <p:nvSpPr>
          <p:cNvPr id="116" name="Text 114"/>
          <p:cNvSpPr txBox="1"/>
          <p:nvPr/>
        </p:nvSpPr>
        <p:spPr>
          <a:xfrm>
            <a:off x="5473352" y="5811518"/>
            <a:ext cx="361610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기술동향 H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2026-07-22 · 조회 107</a:t>
            </a:r>
            <a:endParaRPr lang="en-US" sz="686" dirty="0"/>
          </a:p>
        </p:txBody>
      </p:sp>
      <p:sp>
        <p:nvSpPr>
          <p:cNvPr id="117" name="Shape 115"/>
          <p:cNvSpPr/>
          <p:nvPr/>
        </p:nvSpPr>
        <p:spPr>
          <a:xfrm>
            <a:off x="9263581" y="0"/>
            <a:ext cx="2925258" cy="16832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443810" y="219110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19" name="Text 117"/>
          <p:cNvSpPr txBox="1"/>
          <p:nvPr/>
        </p:nvSpPr>
        <p:spPr>
          <a:xfrm>
            <a:off x="1443810" y="219110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20" name="Shape 118"/>
          <p:cNvSpPr/>
          <p:nvPr/>
        </p:nvSpPr>
        <p:spPr>
          <a:xfrm>
            <a:off x="8886304" y="228180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21" name="Text 119"/>
          <p:cNvSpPr txBox="1"/>
          <p:nvPr/>
        </p:nvSpPr>
        <p:spPr>
          <a:xfrm>
            <a:off x="8886304" y="228180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22" name="Shape 120"/>
          <p:cNvSpPr/>
          <p:nvPr/>
        </p:nvSpPr>
        <p:spPr>
          <a:xfrm>
            <a:off x="1480087" y="404121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23" name="Text 121"/>
          <p:cNvSpPr txBox="1"/>
          <p:nvPr/>
        </p:nvSpPr>
        <p:spPr>
          <a:xfrm>
            <a:off x="1480087" y="404121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514" dirty="0"/>
          </a:p>
        </p:txBody>
      </p:sp>
      <p:sp>
        <p:nvSpPr>
          <p:cNvPr id="124" name="Shape 122"/>
          <p:cNvSpPr/>
          <p:nvPr/>
        </p:nvSpPr>
        <p:spPr>
          <a:xfrm>
            <a:off x="5357267" y="4041218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25" name="Text 123"/>
          <p:cNvSpPr txBox="1"/>
          <p:nvPr/>
        </p:nvSpPr>
        <p:spPr>
          <a:xfrm>
            <a:off x="5357267" y="4041218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514" dirty="0"/>
          </a:p>
        </p:txBody>
      </p:sp>
      <p:sp>
        <p:nvSpPr>
          <p:cNvPr id="126" name="Shape 124"/>
          <p:cNvSpPr/>
          <p:nvPr/>
        </p:nvSpPr>
        <p:spPr>
          <a:xfrm>
            <a:off x="1349491" y="144381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27" name="Text 125"/>
          <p:cNvSpPr txBox="1"/>
          <p:nvPr/>
        </p:nvSpPr>
        <p:spPr>
          <a:xfrm>
            <a:off x="1349491" y="144381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28" name="Shape 126"/>
          <p:cNvSpPr/>
          <p:nvPr/>
        </p:nvSpPr>
        <p:spPr>
          <a:xfrm>
            <a:off x="1349491" y="219110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29" name="Text 127"/>
          <p:cNvSpPr txBox="1"/>
          <p:nvPr/>
        </p:nvSpPr>
        <p:spPr>
          <a:xfrm>
            <a:off x="1349491" y="219110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30" name="Shape 128"/>
          <p:cNvSpPr/>
          <p:nvPr/>
        </p:nvSpPr>
        <p:spPr>
          <a:xfrm>
            <a:off x="1349491" y="407749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31" name="Text 129"/>
          <p:cNvSpPr txBox="1"/>
          <p:nvPr/>
        </p:nvSpPr>
        <p:spPr>
          <a:xfrm>
            <a:off x="1349491" y="407749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76226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487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이동 안 함). "전체보기"는 별개로 SCR-014로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/api/mtrm/trend/recent?limit=8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709322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57872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MTRM-MAIN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209939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209939" y="337882"/>
            <a:ext cx="265749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 - 최근 기술동향 상세 팝업(dashTrendDetail)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114111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4114111" y="348765"/>
            <a:ext cx="126945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기술동향" 리스트 항목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630248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5630248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1872555"/>
            <a:ext cx="4643410" cy="3350488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003151"/>
            <a:ext cx="104340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198864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2416705"/>
            <a:ext cx="439672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2026-07-01 · 조회 121 · 기획팀/박**</a:t>
            </a:r>
            <a:endParaRPr lang="en-US" sz="628" dirty="0"/>
          </a:p>
        </p:txBody>
      </p:sp>
      <p:sp>
        <p:nvSpPr>
          <p:cNvPr id="17" name="Text 15"/>
          <p:cNvSpPr txBox="1"/>
          <p:nvPr/>
        </p:nvSpPr>
        <p:spPr>
          <a:xfrm>
            <a:off x="2455135" y="2569067"/>
            <a:ext cx="439672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#자동화</a:t>
            </a:r>
            <a:endParaRPr lang="en-US" sz="628" dirty="0"/>
          </a:p>
        </p:txBody>
      </p:sp>
      <p:sp>
        <p:nvSpPr>
          <p:cNvPr id="18" name="Shape 16"/>
          <p:cNvSpPr/>
          <p:nvPr/>
        </p:nvSpPr>
        <p:spPr>
          <a:xfrm>
            <a:off x="2455135" y="2779471"/>
            <a:ext cx="4353197" cy="203149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55135" y="2779471"/>
            <a:ext cx="4396729" cy="2031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이미지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2455135" y="4927048"/>
            <a:ext cx="4396729" cy="15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완성차 OEM의 조립라인 자동화 도입 현황과 협동로봇 적용 사례를 정리한 자료입니다.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263581" y="0"/>
            <a:ext cx="2925258" cy="24668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222965" y="1785491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222965" y="1785491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571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49758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223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기술동향 상세를 트리거하는 영역이다(상위 MTRM-MAIN Description NO=3 "팝업 영역" 요소 3-2와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3-2 기술동향 상세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MTRM-MAIN "최근 기술동향" 8건 리스트 중 항목 클릭 시 대시보드 위에 바로 오픈된다(SCR-014로 화면 이동하지 않음, 공용 modal-root 오버레이 사용).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모달 헤더에 제목을 표시(고정 라벨 아님). 본문은 등록일·조회수·부서/담당자, 태그(#접두), 이미지 자리표시(280px), 내용 순으로 표시. 하단 별도 footer/닫기 버튼 없음.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헤더 우측 × 또는 배경(오버레이) 클릭 시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/api/mtrm/trend/{id}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2270918"/>
            <a:ext cx="7638387" cy="300370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9394" y="5390709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9394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6" name="Shape 4"/>
          <p:cNvSpPr/>
          <p:nvPr/>
        </p:nvSpPr>
        <p:spPr>
          <a:xfrm>
            <a:off x="5096075" y="5390709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96075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8" name="Shape 6"/>
          <p:cNvSpPr/>
          <p:nvPr/>
        </p:nvSpPr>
        <p:spPr>
          <a:xfrm>
            <a:off x="5342756" y="5390709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2756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0" name="Shape 8"/>
          <p:cNvSpPr/>
          <p:nvPr/>
        </p:nvSpPr>
        <p:spPr>
          <a:xfrm>
            <a:off x="5589437" y="5390709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89437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2" name="Shape 10"/>
          <p:cNvSpPr/>
          <p:nvPr/>
        </p:nvSpPr>
        <p:spPr>
          <a:xfrm>
            <a:off x="9263581" y="0"/>
            <a:ext cx="2925258" cy="56301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414789" y="530364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414789" y="530364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15" name="Shape 13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7" name="Shape 15"/>
          <p:cNvSpPr/>
          <p:nvPr/>
        </p:nvSpPr>
        <p:spPr>
          <a:xfrm>
            <a:off x="1349491" y="183559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349491" y="183559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9" name="Shape 17"/>
          <p:cNvSpPr/>
          <p:nvPr/>
        </p:nvSpPr>
        <p:spPr>
          <a:xfrm>
            <a:off x="1349491" y="235072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349491" y="235072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69674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KPI 카드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등록 로드맵/진행중/계획/반려/보류 5개 상태별 건수를 요약 카드로 보여주는 영역이다(MTRM-MAIN과 동일 컴포넌트).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/api/mtrm/roadmap/kpi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472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&amp; 액션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분과/로드맵명/기간/대표과제/상태 조건 필터와 간트차트 이동·신규 등록 버튼으로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/api/mtrm/roadmap?section=&amp;name=&amp;period=&amp;task=&amp;status=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간트차트로 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통합 로드맵 차트(SCR-008)로 이동.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2-3 로드맵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"통합 로드맵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/api/mtrm/roadmap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479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통합 로드맵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분과별 중장기 자동화 로드맵 14건을 관리하는 목록 표이다(페이지당 10건, 2페이지).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3-1 로드맵명 링크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로드맵명 클릭 시 상세과제 로드맵 관리(SCR-007)로 이동하며 해당 로드맵으로 필터링됨.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3-2 상태 뱃지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진행중=파랑, 계획=주황, 반려=빨강, 보류=회색 뱃지로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1893">
                <a:tc>
                  <a:txBody>
                    <a:bodyPr/>
                    <a:lstStyle/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3-3 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"개정 이력" 팝업 오픈(버전별 변경 이력 조회 전용, 조회만 가능).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3857"/>
                <a:gridCol w="870825"/>
                <a:gridCol w="1647942"/>
                <a:gridCol w="1996710"/>
                <a:gridCol w="3435992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/portal/mtrm/roadmap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4215" cy="159617"/>
        </p:xfrm>
        <a:graphic>
          <a:graphicData uri="http://schemas.openxmlformats.org/drawingml/2006/table">
            <a:tbl>
              <a:tblPr/>
              <a:tblGrid>
                <a:gridCol w="28211"/>
                <a:gridCol w="507794"/>
                <a:gridCol w="28211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SCR-006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2843559"/>
                <a:gridCol w="4378977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공유&gt;통합 로드맵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7638387" cy="602192"/>
        </p:xfrm>
        <a:graphic>
          <a:graphicData uri="http://schemas.openxmlformats.org/drawingml/2006/table">
            <a:tbl>
              <a:tblPr/>
              <a:tblGrid>
                <a:gridCol w="1527677"/>
                <a:gridCol w="1527677"/>
                <a:gridCol w="1527677"/>
                <a:gridCol w="1527677"/>
                <a:gridCol w="1527677"/>
              </a:tblGrid>
              <a:tr h="602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등록 로드맵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진행중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97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계획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93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반려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31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4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보류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728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68E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893641"/>
          <a:ext cx="778654" cy="232171"/>
        </p:xfrm>
        <a:graphic>
          <a:graphicData uri="http://schemas.openxmlformats.org/drawingml/2006/table">
            <a:tbl>
              <a:tblPr/>
              <a:tblGrid>
                <a:gridCol w="614062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분과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99939" y="1893641"/>
          <a:ext cx="1090116" cy="232171"/>
        </p:xfrm>
        <a:graphic>
          <a:graphicData uri="http://schemas.openxmlformats.org/drawingml/2006/table">
            <a:tbl>
              <a:tblPr/>
              <a:tblGrid>
                <a:gridCol w="109011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로드맵명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41360" y="1893641"/>
          <a:ext cx="778654" cy="232171"/>
        </p:xfrm>
        <a:graphic>
          <a:graphicData uri="http://schemas.openxmlformats.org/drawingml/2006/table">
            <a:tbl>
              <a:tblPr/>
              <a:tblGrid>
                <a:gridCol w="614062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기간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4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86325" y="1893641"/>
          <a:ext cx="1012250" cy="232171"/>
        </p:xfrm>
        <a:graphic>
          <a:graphicData uri="http://schemas.openxmlformats.org/drawingml/2006/table">
            <a:tbl>
              <a:tblPr/>
              <a:tblGrid>
                <a:gridCol w="1012250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대표과제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7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8313" y="1893641"/>
          <a:ext cx="778654" cy="232171"/>
        </p:xfrm>
        <a:graphic>
          <a:graphicData uri="http://schemas.openxmlformats.org/drawingml/2006/table">
            <a:tbl>
              <a:tblPr/>
              <a:tblGrid>
                <a:gridCol w="614062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상태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0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0157" y="1893641"/>
          <a:ext cx="498339" cy="232171"/>
        </p:xfrm>
        <a:graphic>
          <a:graphicData uri="http://schemas.openxmlformats.org/drawingml/2006/table">
            <a:tbl>
              <a:tblPr/>
              <a:tblGrid>
                <a:gridCol w="498339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7945" y="1958939"/>
          <a:ext cx="643606" cy="101575"/>
        </p:xfrm>
        <a:graphic>
          <a:graphicData uri="http://schemas.openxmlformats.org/drawingml/2006/table">
            <a:tbl>
              <a:tblPr/>
              <a:tblGrid>
                <a:gridCol w="643606"/>
              </a:tblGrid>
              <a:tr h="1015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971C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간트차트로 보기 ›</a:t>
                      </a:r>
                      <a:endParaRPr lang="en-US" sz="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6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3729" y="1893641"/>
          <a:ext cx="747508" cy="232171"/>
        </p:xfrm>
        <a:graphic>
          <a:graphicData uri="http://schemas.openxmlformats.org/drawingml/2006/table">
            <a:tbl>
              <a:tblPr/>
              <a:tblGrid>
                <a:gridCol w="747508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로드맵 등록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2278173"/>
          <a:ext cx="7623877" cy="2773208"/>
        </p:xfrm>
        <a:graphic>
          <a:graphicData uri="http://schemas.openxmlformats.org/drawingml/2006/table">
            <a:tbl>
              <a:tblPr/>
              <a:tblGrid>
                <a:gridCol w="410165"/>
                <a:gridCol w="655653"/>
                <a:gridCol w="1803809"/>
                <a:gridCol w="1311307"/>
                <a:gridCol w="1311307"/>
                <a:gridCol w="983480"/>
                <a:gridCol w="1148156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로드맵명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대표과제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개정이력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자동화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2026.01~2026.12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자동화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2026.04~2027.06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코봇 도입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자동화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2026.01~2026.09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로봇 재검토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 자동화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2026.10~2027.09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조립라인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물류/반송 자동화 로드맵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2027.01~2027.12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반송 표준화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자동화 로드맵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2028.06~2030.12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확대전개 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배선 자동화 로드맵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2026.07~2029.12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확대전개 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냉각 자동화 로드맵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2027.08~2030.12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확대전개 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자동화 로드맵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2028.09~2029.12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확대전개 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자동화 로드맵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2026.01~2030.12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확대전개 검토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19"/>
          <p:cNvSpPr/>
          <p:nvPr/>
        </p:nvSpPr>
        <p:spPr>
          <a:xfrm>
            <a:off x="1414789" y="530364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8" name="Text 20"/>
          <p:cNvSpPr txBox="1"/>
          <p:nvPr/>
        </p:nvSpPr>
        <p:spPr>
          <a:xfrm>
            <a:off x="1414789" y="530364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39" name="Shape 21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0" name="Text 22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41" name="Shape 23"/>
          <p:cNvSpPr/>
          <p:nvPr/>
        </p:nvSpPr>
        <p:spPr>
          <a:xfrm>
            <a:off x="1349491" y="183559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2" name="Text 24"/>
          <p:cNvSpPr txBox="1"/>
          <p:nvPr/>
        </p:nvSpPr>
        <p:spPr>
          <a:xfrm>
            <a:off x="1349491" y="183559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43" name="Shape 25"/>
          <p:cNvSpPr/>
          <p:nvPr/>
        </p:nvSpPr>
        <p:spPr>
          <a:xfrm>
            <a:off x="1349491" y="235072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4" name="Text 26"/>
          <p:cNvSpPr txBox="1"/>
          <p:nvPr/>
        </p:nvSpPr>
        <p:spPr>
          <a:xfrm>
            <a:off x="1349491" y="235072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45" name="Text 27"/>
          <p:cNvSpPr/>
          <p:nvPr/>
        </p:nvSpPr>
        <p:spPr>
          <a:xfrm>
            <a:off x="9394177" y="6565392"/>
            <a:ext cx="2678577" cy="292608"/>
          </a:xfrm>
          <a:prstGeom prst="rect">
            <a:avLst/>
          </a:prstGeom>
          <a:solidFill>
            <a:srgbClr val="2A2A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화면에 계속 ▼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21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61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833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833" y="337882"/>
            <a:ext cx="539728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851242" y="232679"/>
            <a:ext cx="18421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1851242" y="348765"/>
            <a:ext cx="982530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/portal/mtrm/roadmap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080454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080454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728582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46796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108830" y="137125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108830" y="18065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459556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65545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5" name="Shape 23"/>
          <p:cNvSpPr/>
          <p:nvPr/>
        </p:nvSpPr>
        <p:spPr>
          <a:xfrm>
            <a:off x="7255" y="2815067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8830" y="2873110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076259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210405" y="3257643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4535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67119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388885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10651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3" name="Text 31"/>
          <p:cNvSpPr txBox="1"/>
          <p:nvPr/>
        </p:nvSpPr>
        <p:spPr>
          <a:xfrm>
            <a:off x="108830" y="432417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108830" y="45418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1501853" y="1146342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25194" y="1255172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등록 로드맵</a:t>
            </a:r>
            <a:endParaRPr lang="en-US" sz="686" dirty="0"/>
          </a:p>
        </p:txBody>
      </p:sp>
      <p:sp>
        <p:nvSpPr>
          <p:cNvPr id="37" name="Text 35"/>
          <p:cNvSpPr txBox="1"/>
          <p:nvPr/>
        </p:nvSpPr>
        <p:spPr>
          <a:xfrm>
            <a:off x="1625194" y="1414789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14건</a:t>
            </a:r>
            <a:endParaRPr lang="en-US" sz="1371" dirty="0"/>
          </a:p>
        </p:txBody>
      </p:sp>
      <p:sp>
        <p:nvSpPr>
          <p:cNvPr id="38" name="Shape 36"/>
          <p:cNvSpPr/>
          <p:nvPr/>
        </p:nvSpPr>
        <p:spPr>
          <a:xfrm>
            <a:off x="3049845" y="1146342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1971C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73186" y="1255172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진행중</a:t>
            </a:r>
            <a:endParaRPr lang="en-US" sz="686" dirty="0"/>
          </a:p>
        </p:txBody>
      </p:sp>
      <p:sp>
        <p:nvSpPr>
          <p:cNvPr id="40" name="Text 38"/>
          <p:cNvSpPr txBox="1"/>
          <p:nvPr/>
        </p:nvSpPr>
        <p:spPr>
          <a:xfrm>
            <a:off x="3173186" y="1414789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71" dirty="0"/>
          </a:p>
        </p:txBody>
      </p:sp>
      <p:sp>
        <p:nvSpPr>
          <p:cNvPr id="41" name="Shape 39"/>
          <p:cNvSpPr/>
          <p:nvPr/>
        </p:nvSpPr>
        <p:spPr>
          <a:xfrm>
            <a:off x="4597838" y="1146342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E8930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21178" y="1255172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계획</a:t>
            </a:r>
            <a:endParaRPr lang="en-US" sz="686" dirty="0"/>
          </a:p>
        </p:txBody>
      </p:sp>
      <p:sp>
        <p:nvSpPr>
          <p:cNvPr id="43" name="Text 41"/>
          <p:cNvSpPr txBox="1"/>
          <p:nvPr/>
        </p:nvSpPr>
        <p:spPr>
          <a:xfrm>
            <a:off x="4721178" y="1414789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</a:t>
            </a:r>
            <a:endParaRPr lang="en-US" sz="1371" dirty="0"/>
          </a:p>
        </p:txBody>
      </p:sp>
      <p:sp>
        <p:nvSpPr>
          <p:cNvPr id="44" name="Shape 42"/>
          <p:cNvSpPr/>
          <p:nvPr/>
        </p:nvSpPr>
        <p:spPr>
          <a:xfrm>
            <a:off x="6145830" y="1146342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E0313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69171" y="1255172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반려</a:t>
            </a:r>
            <a:endParaRPr lang="en-US" sz="686" dirty="0"/>
          </a:p>
        </p:txBody>
      </p:sp>
      <p:sp>
        <p:nvSpPr>
          <p:cNvPr id="46" name="Text 44"/>
          <p:cNvSpPr txBox="1"/>
          <p:nvPr/>
        </p:nvSpPr>
        <p:spPr>
          <a:xfrm>
            <a:off x="6269171" y="1414789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71" dirty="0"/>
          </a:p>
        </p:txBody>
      </p:sp>
      <p:sp>
        <p:nvSpPr>
          <p:cNvPr id="47" name="Shape 45"/>
          <p:cNvSpPr/>
          <p:nvPr/>
        </p:nvSpPr>
        <p:spPr>
          <a:xfrm>
            <a:off x="7693822" y="1146342"/>
            <a:ext cx="1446418" cy="602192"/>
          </a:xfrm>
          <a:prstGeom prst="rect">
            <a:avLst/>
          </a:prstGeom>
          <a:solidFill>
            <a:srgbClr val="FFFFFF"/>
          </a:solidFill>
          <a:ln w="22860">
            <a:solidFill>
              <a:srgbClr val="868E9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17163" y="1255172"/>
            <a:ext cx="124326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보류</a:t>
            </a:r>
            <a:endParaRPr lang="en-US" sz="686" dirty="0"/>
          </a:p>
        </p:txBody>
      </p:sp>
      <p:sp>
        <p:nvSpPr>
          <p:cNvPr id="49" name="Text 47"/>
          <p:cNvSpPr txBox="1"/>
          <p:nvPr/>
        </p:nvSpPr>
        <p:spPr>
          <a:xfrm>
            <a:off x="7817163" y="1414789"/>
            <a:ext cx="1243269" cy="21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5"/>
              </a:lnSpc>
              <a:buNone/>
            </a:pPr>
            <a:r>
              <a:rPr lang="en-US" sz="1371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371" dirty="0"/>
          </a:p>
        </p:txBody>
      </p:sp>
      <p:sp>
        <p:nvSpPr>
          <p:cNvPr id="50" name="Shape 48"/>
          <p:cNvSpPr/>
          <p:nvPr/>
        </p:nvSpPr>
        <p:spPr>
          <a:xfrm>
            <a:off x="1501853" y="1893641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59896" y="1893641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분과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52" name="Shape 50"/>
          <p:cNvSpPr/>
          <p:nvPr/>
        </p:nvSpPr>
        <p:spPr>
          <a:xfrm>
            <a:off x="2299939" y="1893641"/>
            <a:ext cx="101574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357982" y="1893641"/>
            <a:ext cx="94319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로드맵명 검색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3388238" y="1893641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46281" y="1893641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기간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4186325" y="1893641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44367" y="1893641"/>
            <a:ext cx="870639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대표과제 검색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5202071" y="1893641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260113" y="1893641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상태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6000157" y="1893641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000157" y="1893641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62" name="Text 60"/>
          <p:cNvSpPr txBox="1"/>
          <p:nvPr/>
        </p:nvSpPr>
        <p:spPr>
          <a:xfrm>
            <a:off x="7727945" y="1958939"/>
            <a:ext cx="64323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간트차트로 보기 ›</a:t>
            </a:r>
            <a:endParaRPr lang="en-US" sz="686" dirty="0"/>
          </a:p>
        </p:txBody>
      </p:sp>
      <p:sp>
        <p:nvSpPr>
          <p:cNvPr id="63" name="Shape 61"/>
          <p:cNvSpPr/>
          <p:nvPr/>
        </p:nvSpPr>
        <p:spPr>
          <a:xfrm>
            <a:off x="8443729" y="1893641"/>
            <a:ext cx="696512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443729" y="1893641"/>
            <a:ext cx="731337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로드맵 등록</a:t>
            </a:r>
            <a:endParaRPr lang="en-US" sz="686" dirty="0"/>
          </a:p>
        </p:txBody>
      </p:sp>
      <p:sp>
        <p:nvSpPr>
          <p:cNvPr id="65" name="Shape 63"/>
          <p:cNvSpPr/>
          <p:nvPr/>
        </p:nvSpPr>
        <p:spPr>
          <a:xfrm>
            <a:off x="1501853" y="2270918"/>
            <a:ext cx="7638387" cy="300370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12736" y="2281801"/>
            <a:ext cx="40969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570779" y="2339843"/>
            <a:ext cx="314099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1922435" y="2281801"/>
            <a:ext cx="65502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980478" y="2339843"/>
            <a:ext cx="57168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2577455" y="2281801"/>
            <a:ext cx="180204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635498" y="2339843"/>
            <a:ext cx="1729489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로드맵명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4379498" y="2281801"/>
            <a:ext cx="131004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437540" y="2339843"/>
            <a:ext cx="123748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5689538" y="2281801"/>
            <a:ext cx="131004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747581" y="2339843"/>
            <a:ext cx="123748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대표과제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6999578" y="2281801"/>
            <a:ext cx="98253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057621" y="2339843"/>
            <a:ext cx="9099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7982108" y="2281801"/>
            <a:ext cx="114724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040151" y="2339843"/>
            <a:ext cx="107469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개정이력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1512736" y="2506716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570779" y="2564759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1922435" y="2506716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980478" y="2564759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2577455" y="2506716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635498" y="2564759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자동화 로드맵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4379498" y="2506716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437540" y="2564759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2026.01~2026.12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5689538" y="2506716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747581" y="2564759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자동화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6999578" y="2506716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057621" y="2564759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7982108" y="2506716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040151" y="2564759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1512736" y="2782419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570779" y="2840461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1922435" y="2782419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980478" y="2840461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2577455" y="2782419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635498" y="2840461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 로드맵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4379498" y="2782419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437540" y="2840461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2026.04~2027.06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5689538" y="2782419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747581" y="2840461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코봇 도입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6999578" y="2782419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057621" y="2840461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7982108" y="2782419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040151" y="2840461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1512736" y="3058121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570779" y="3116164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1922435" y="3058121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1980478" y="3116164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2577455" y="3058121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2635498" y="3116164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자동화 로드맵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4379498" y="3058121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437540" y="3116164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2026.01~2026.09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5689538" y="3058121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747581" y="3116164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로봇 재검토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6999578" y="3058121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057621" y="3116164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7982108" y="3058121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040151" y="3116164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1512736" y="3333823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570779" y="3391866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1922435" y="3333823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980478" y="3391866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2577455" y="3333823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635498" y="3391866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자동화 로드맵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4379498" y="3333823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4437540" y="3391866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2026.10~2027.09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5689538" y="3333823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747581" y="3391866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조립라인 자동화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6999578" y="3333823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7057621" y="3391866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7982108" y="3333823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040151" y="3391866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1512736" y="3609526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570779" y="3667569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1922435" y="3609526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980478" y="3667569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2577455" y="3609526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2635498" y="3667569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물류/반송 자동화 로드맵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4379498" y="3609526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4437540" y="3667569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2027.01~2027.12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5689538" y="3609526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5747581" y="3667569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반송 표준화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6999578" y="3609526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7057621" y="3667569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7982108" y="3609526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8040151" y="3667569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1512736" y="3885228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1570779" y="3943271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1922435" y="3885228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980478" y="3943271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2577455" y="3885228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635498" y="3943271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자동화 로드맵 1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4379498" y="3885228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4437540" y="3943271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2028.06~2030.12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5689538" y="3885228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5747581" y="3943271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확대전개 검토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6999578" y="3885228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7057621" y="3943271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7982108" y="3885228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8040151" y="3943271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64" name="Shape 162"/>
          <p:cNvSpPr/>
          <p:nvPr/>
        </p:nvSpPr>
        <p:spPr>
          <a:xfrm>
            <a:off x="1512736" y="4160931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1570779" y="4218974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686" dirty="0"/>
          </a:p>
        </p:txBody>
      </p:sp>
      <p:sp>
        <p:nvSpPr>
          <p:cNvPr id="166" name="Shape 164"/>
          <p:cNvSpPr/>
          <p:nvPr/>
        </p:nvSpPr>
        <p:spPr>
          <a:xfrm>
            <a:off x="1922435" y="4160931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1980478" y="4218974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</a:t>
            </a:r>
            <a:endParaRPr lang="en-US" sz="686" dirty="0"/>
          </a:p>
        </p:txBody>
      </p:sp>
      <p:sp>
        <p:nvSpPr>
          <p:cNvPr id="168" name="Shape 166"/>
          <p:cNvSpPr/>
          <p:nvPr/>
        </p:nvSpPr>
        <p:spPr>
          <a:xfrm>
            <a:off x="2577455" y="4160931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2635498" y="4218974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 자동화 로드맵 1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4379498" y="4160931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4437540" y="4218974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2026.07~2029.12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5689538" y="4160931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5747581" y="4218974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확대전개 검토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6999578" y="4160931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7057621" y="4218974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7982108" y="4160931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8040151" y="4218974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1512736" y="4436633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1570779" y="4494676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1922435" y="4436633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1980478" y="4494676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2577455" y="4436633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2635498" y="4494676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 자동화 로드맵 1</a:t>
            </a:r>
            <a:endParaRPr lang="en-US" sz="686" dirty="0"/>
          </a:p>
        </p:txBody>
      </p:sp>
      <p:sp>
        <p:nvSpPr>
          <p:cNvPr id="184" name="Shape 182"/>
          <p:cNvSpPr/>
          <p:nvPr/>
        </p:nvSpPr>
        <p:spPr>
          <a:xfrm>
            <a:off x="4379498" y="4436633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4437540" y="4494676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2027.08~2030.12</a:t>
            </a:r>
            <a:endParaRPr lang="en-US" sz="686" dirty="0"/>
          </a:p>
        </p:txBody>
      </p:sp>
      <p:sp>
        <p:nvSpPr>
          <p:cNvPr id="186" name="Shape 184"/>
          <p:cNvSpPr/>
          <p:nvPr/>
        </p:nvSpPr>
        <p:spPr>
          <a:xfrm>
            <a:off x="5689538" y="4436633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5747581" y="4494676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확대전개 검토</a:t>
            </a:r>
            <a:endParaRPr lang="en-US" sz="686" dirty="0"/>
          </a:p>
        </p:txBody>
      </p:sp>
      <p:sp>
        <p:nvSpPr>
          <p:cNvPr id="188" name="Shape 186"/>
          <p:cNvSpPr/>
          <p:nvPr/>
        </p:nvSpPr>
        <p:spPr>
          <a:xfrm>
            <a:off x="6999578" y="4436633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7057621" y="4494676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686" dirty="0"/>
          </a:p>
        </p:txBody>
      </p:sp>
      <p:sp>
        <p:nvSpPr>
          <p:cNvPr id="190" name="Shape 188"/>
          <p:cNvSpPr/>
          <p:nvPr/>
        </p:nvSpPr>
        <p:spPr>
          <a:xfrm>
            <a:off x="7982108" y="4436633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8040151" y="4494676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192" name="Shape 190"/>
          <p:cNvSpPr/>
          <p:nvPr/>
        </p:nvSpPr>
        <p:spPr>
          <a:xfrm>
            <a:off x="1512736" y="4712336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1570779" y="4770379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86" dirty="0"/>
          </a:p>
        </p:txBody>
      </p:sp>
      <p:sp>
        <p:nvSpPr>
          <p:cNvPr id="194" name="Shape 192"/>
          <p:cNvSpPr/>
          <p:nvPr/>
        </p:nvSpPr>
        <p:spPr>
          <a:xfrm>
            <a:off x="1922435" y="4712336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1980478" y="4770379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86" dirty="0"/>
          </a:p>
        </p:txBody>
      </p:sp>
      <p:sp>
        <p:nvSpPr>
          <p:cNvPr id="196" name="Shape 194"/>
          <p:cNvSpPr/>
          <p:nvPr/>
        </p:nvSpPr>
        <p:spPr>
          <a:xfrm>
            <a:off x="2577455" y="4712336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2635498" y="4770379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자동화 로드맵 2</a:t>
            </a:r>
            <a:endParaRPr lang="en-US" sz="686" dirty="0"/>
          </a:p>
        </p:txBody>
      </p:sp>
      <p:sp>
        <p:nvSpPr>
          <p:cNvPr id="198" name="Shape 196"/>
          <p:cNvSpPr/>
          <p:nvPr/>
        </p:nvSpPr>
        <p:spPr>
          <a:xfrm>
            <a:off x="4379498" y="4712336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4437540" y="4770379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2028.09~2029.12</a:t>
            </a:r>
            <a:endParaRPr lang="en-US" sz="686" dirty="0"/>
          </a:p>
        </p:txBody>
      </p:sp>
      <p:sp>
        <p:nvSpPr>
          <p:cNvPr id="200" name="Shape 198"/>
          <p:cNvSpPr/>
          <p:nvPr/>
        </p:nvSpPr>
        <p:spPr>
          <a:xfrm>
            <a:off x="5689538" y="4712336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5747581" y="4770379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확대전개 검토</a:t>
            </a:r>
            <a:endParaRPr lang="en-US" sz="686" dirty="0"/>
          </a:p>
        </p:txBody>
      </p:sp>
      <p:sp>
        <p:nvSpPr>
          <p:cNvPr id="202" name="Shape 200"/>
          <p:cNvSpPr/>
          <p:nvPr/>
        </p:nvSpPr>
        <p:spPr>
          <a:xfrm>
            <a:off x="6999578" y="4712336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7057621" y="4770379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</a:t>
            </a:r>
            <a:endParaRPr lang="en-US" sz="686" dirty="0"/>
          </a:p>
        </p:txBody>
      </p:sp>
      <p:sp>
        <p:nvSpPr>
          <p:cNvPr id="204" name="Shape 202"/>
          <p:cNvSpPr/>
          <p:nvPr/>
        </p:nvSpPr>
        <p:spPr>
          <a:xfrm>
            <a:off x="7982108" y="4712336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8040151" y="4770379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206" name="Shape 204"/>
          <p:cNvSpPr/>
          <p:nvPr/>
        </p:nvSpPr>
        <p:spPr>
          <a:xfrm>
            <a:off x="1512736" y="4988038"/>
            <a:ext cx="40969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1570779" y="5046081"/>
            <a:ext cx="31409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686" dirty="0"/>
          </a:p>
        </p:txBody>
      </p:sp>
      <p:sp>
        <p:nvSpPr>
          <p:cNvPr id="208" name="Shape 206"/>
          <p:cNvSpPr/>
          <p:nvPr/>
        </p:nvSpPr>
        <p:spPr>
          <a:xfrm>
            <a:off x="1922435" y="4988038"/>
            <a:ext cx="65502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1980478" y="5046081"/>
            <a:ext cx="57168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210" name="Shape 208"/>
          <p:cNvSpPr/>
          <p:nvPr/>
        </p:nvSpPr>
        <p:spPr>
          <a:xfrm>
            <a:off x="2577455" y="4988038"/>
            <a:ext cx="1802042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2635498" y="5046081"/>
            <a:ext cx="1729489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 로드맵 2</a:t>
            </a:r>
            <a:endParaRPr lang="en-US" sz="686" dirty="0"/>
          </a:p>
        </p:txBody>
      </p:sp>
      <p:sp>
        <p:nvSpPr>
          <p:cNvPr id="212" name="Shape 210"/>
          <p:cNvSpPr/>
          <p:nvPr/>
        </p:nvSpPr>
        <p:spPr>
          <a:xfrm>
            <a:off x="4379498" y="4988038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4437540" y="5046081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2026.01~2030.12</a:t>
            </a:r>
            <a:endParaRPr lang="en-US" sz="686" dirty="0"/>
          </a:p>
        </p:txBody>
      </p:sp>
      <p:sp>
        <p:nvSpPr>
          <p:cNvPr id="214" name="Shape 212"/>
          <p:cNvSpPr/>
          <p:nvPr/>
        </p:nvSpPr>
        <p:spPr>
          <a:xfrm>
            <a:off x="5689538" y="4988038"/>
            <a:ext cx="131004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5747581" y="5046081"/>
            <a:ext cx="123748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확대전개 검토</a:t>
            </a:r>
            <a:endParaRPr lang="en-US" sz="686" dirty="0"/>
          </a:p>
        </p:txBody>
      </p:sp>
      <p:sp>
        <p:nvSpPr>
          <p:cNvPr id="216" name="Shape 214"/>
          <p:cNvSpPr/>
          <p:nvPr/>
        </p:nvSpPr>
        <p:spPr>
          <a:xfrm>
            <a:off x="6999578" y="4988038"/>
            <a:ext cx="98253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7057621" y="5046081"/>
            <a:ext cx="9099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686" dirty="0"/>
          </a:p>
        </p:txBody>
      </p:sp>
      <p:sp>
        <p:nvSpPr>
          <p:cNvPr id="218" name="Shape 216"/>
          <p:cNvSpPr/>
          <p:nvPr/>
        </p:nvSpPr>
        <p:spPr>
          <a:xfrm>
            <a:off x="7982108" y="4988038"/>
            <a:ext cx="1147249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8040151" y="5046081"/>
            <a:ext cx="107469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이력보기</a:t>
            </a:r>
            <a:endParaRPr lang="en-US" sz="686" dirty="0"/>
          </a:p>
        </p:txBody>
      </p:sp>
      <p:sp>
        <p:nvSpPr>
          <p:cNvPr id="220" name="Shape 218"/>
          <p:cNvSpPr/>
          <p:nvPr/>
        </p:nvSpPr>
        <p:spPr>
          <a:xfrm>
            <a:off x="4849394" y="5390709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4849394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222" name="Shape 220"/>
          <p:cNvSpPr/>
          <p:nvPr/>
        </p:nvSpPr>
        <p:spPr>
          <a:xfrm>
            <a:off x="5096075" y="5390709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3" name="Text 221"/>
          <p:cNvSpPr txBox="1"/>
          <p:nvPr/>
        </p:nvSpPr>
        <p:spPr>
          <a:xfrm>
            <a:off x="5096075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224" name="Shape 222"/>
          <p:cNvSpPr/>
          <p:nvPr/>
        </p:nvSpPr>
        <p:spPr>
          <a:xfrm>
            <a:off x="5342756" y="5390709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5342756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226" name="Shape 224"/>
          <p:cNvSpPr/>
          <p:nvPr/>
        </p:nvSpPr>
        <p:spPr>
          <a:xfrm>
            <a:off x="5589437" y="5390709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5589437" y="5390709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228" name="Shape 226"/>
          <p:cNvSpPr/>
          <p:nvPr/>
        </p:nvSpPr>
        <p:spPr>
          <a:xfrm>
            <a:off x="9263581" y="0"/>
            <a:ext cx="2925258" cy="2067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9" name="Shape 227"/>
          <p:cNvSpPr/>
          <p:nvPr/>
        </p:nvSpPr>
        <p:spPr>
          <a:xfrm>
            <a:off x="6333902" y="201698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30" name="Text 228"/>
          <p:cNvSpPr txBox="1"/>
          <p:nvPr/>
        </p:nvSpPr>
        <p:spPr>
          <a:xfrm>
            <a:off x="6333902" y="201698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231" name="Shape 229"/>
          <p:cNvSpPr/>
          <p:nvPr/>
        </p:nvSpPr>
        <p:spPr>
          <a:xfrm>
            <a:off x="8197048" y="1951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32" name="Text 230"/>
          <p:cNvSpPr txBox="1"/>
          <p:nvPr/>
        </p:nvSpPr>
        <p:spPr>
          <a:xfrm>
            <a:off x="8197048" y="1951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233" name="Shape 231"/>
          <p:cNvSpPr/>
          <p:nvPr/>
        </p:nvSpPr>
        <p:spPr>
          <a:xfrm>
            <a:off x="9009644" y="201698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34" name="Text 232"/>
          <p:cNvSpPr txBox="1"/>
          <p:nvPr/>
        </p:nvSpPr>
        <p:spPr>
          <a:xfrm>
            <a:off x="9009644" y="201698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14" dirty="0"/>
          </a:p>
        </p:txBody>
      </p:sp>
      <p:sp>
        <p:nvSpPr>
          <p:cNvPr id="235" name="Shape 233"/>
          <p:cNvSpPr/>
          <p:nvPr/>
        </p:nvSpPr>
        <p:spPr>
          <a:xfrm>
            <a:off x="4187232" y="222013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36" name="Text 234"/>
          <p:cNvSpPr txBox="1"/>
          <p:nvPr/>
        </p:nvSpPr>
        <p:spPr>
          <a:xfrm>
            <a:off x="4187232" y="222013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514" dirty="0"/>
          </a:p>
        </p:txBody>
      </p:sp>
      <p:sp>
        <p:nvSpPr>
          <p:cNvPr id="237" name="Shape 235"/>
          <p:cNvSpPr/>
          <p:nvPr/>
        </p:nvSpPr>
        <p:spPr>
          <a:xfrm>
            <a:off x="7789842" y="222013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38" name="Text 236"/>
          <p:cNvSpPr txBox="1"/>
          <p:nvPr/>
        </p:nvSpPr>
        <p:spPr>
          <a:xfrm>
            <a:off x="7789842" y="222013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514" dirty="0"/>
          </a:p>
        </p:txBody>
      </p:sp>
      <p:sp>
        <p:nvSpPr>
          <p:cNvPr id="239" name="Shape 237"/>
          <p:cNvSpPr/>
          <p:nvPr/>
        </p:nvSpPr>
        <p:spPr>
          <a:xfrm>
            <a:off x="8937091" y="222013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40" name="Text 238"/>
          <p:cNvSpPr txBox="1"/>
          <p:nvPr/>
        </p:nvSpPr>
        <p:spPr>
          <a:xfrm>
            <a:off x="8937091" y="222013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3-3</a:t>
            </a:r>
            <a:endParaRPr lang="en-US" sz="514" dirty="0"/>
          </a:p>
        </p:txBody>
      </p:sp>
      <p:sp>
        <p:nvSpPr>
          <p:cNvPr id="241" name="Shape 239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42" name="Text 240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43" name="Shape 241"/>
          <p:cNvSpPr/>
          <p:nvPr/>
        </p:nvSpPr>
        <p:spPr>
          <a:xfrm>
            <a:off x="1349491" y="183559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44" name="Text 242"/>
          <p:cNvSpPr txBox="1"/>
          <p:nvPr/>
        </p:nvSpPr>
        <p:spPr>
          <a:xfrm>
            <a:off x="1349491" y="183559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245" name="Shape 243"/>
          <p:cNvSpPr/>
          <p:nvPr/>
        </p:nvSpPr>
        <p:spPr>
          <a:xfrm>
            <a:off x="1349491" y="235072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46" name="Text 244"/>
          <p:cNvSpPr txBox="1"/>
          <p:nvPr/>
        </p:nvSpPr>
        <p:spPr>
          <a:xfrm>
            <a:off x="1349491" y="235072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247" name="Shape 245"/>
          <p:cNvSpPr/>
          <p:nvPr/>
        </p:nvSpPr>
        <p:spPr>
          <a:xfrm>
            <a:off x="1349491" y="547051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48" name="Text 246"/>
          <p:cNvSpPr txBox="1"/>
          <p:nvPr/>
        </p:nvSpPr>
        <p:spPr>
          <a:xfrm>
            <a:off x="1349491" y="54705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 (계속)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57810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/api/mtrm/roadmap/{id}/history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21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61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833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833" y="337882"/>
            <a:ext cx="156363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- 통합 로드맵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75151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875151" y="348765"/>
            <a:ext cx="1033431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로드맵 등록"(2-3)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155263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155263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2154833"/>
            <a:ext cx="4643410" cy="2786046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285429"/>
            <a:ext cx="75217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22709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276428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325775" y="2698982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328" y="2698982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311253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325775" y="3047238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328" y="3047238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로드맵명 입력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2455135" y="346079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기간(시작)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325775" y="3395494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98328" y="3395494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2455135" y="380904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기간(종료)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325775" y="3743750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98328" y="3743750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2455135" y="4157303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대표과제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325775" y="4092005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98328" y="4092005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대표과제 입력</a:t>
            </a:r>
            <a:endParaRPr lang="en-US" sz="686" dirty="0"/>
          </a:p>
        </p:txBody>
      </p:sp>
      <p:sp>
        <p:nvSpPr>
          <p:cNvPr id="31" name="Shape 29"/>
          <p:cNvSpPr/>
          <p:nvPr/>
        </p:nvSpPr>
        <p:spPr>
          <a:xfrm>
            <a:off x="2310029" y="4483793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12299" y="4592623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42895" y="4592623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6396592" y="4592623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27188" y="4592623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9263581" y="0"/>
            <a:ext cx="2925258" cy="24668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2965" y="206776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222965" y="206776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71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125733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8514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통합 로드맵 등록을 트리거하는 영역이다(상위 SCR-006 Description NO=2 요소 2-3과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2-3 통합 로드맵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로드맵 등록"(2-3)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분과*, 로드맵명*, 기간(시작)*, 기간(종료)*, 대표과제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필수값(분과, 로드맵명, 기간(시작), 기간(종료))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21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61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833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833" y="337882"/>
            <a:ext cx="1255625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- 개정 이력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567139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567139" y="348765"/>
            <a:ext cx="73301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"이력보기"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546835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546835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2441418"/>
            <a:ext cx="4643410" cy="2212875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572014"/>
            <a:ext cx="44484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개정 이력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255750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3014589"/>
            <a:ext cx="188905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v1.2</a:t>
            </a:r>
            <a:endParaRPr lang="en-US" sz="686" dirty="0"/>
          </a:p>
        </p:txBody>
      </p:sp>
      <p:sp>
        <p:nvSpPr>
          <p:cNvPr id="17" name="Text 15"/>
          <p:cNvSpPr txBox="1"/>
          <p:nvPr/>
        </p:nvSpPr>
        <p:spPr>
          <a:xfrm>
            <a:off x="2455135" y="3137930"/>
            <a:ext cx="439672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2026-07-20 · 기간 연장 (2028.12까지)</a:t>
            </a:r>
            <a:endParaRPr lang="en-US" sz="686" dirty="0"/>
          </a:p>
        </p:txBody>
      </p:sp>
      <p:sp>
        <p:nvSpPr>
          <p:cNvPr id="18" name="Text 16"/>
          <p:cNvSpPr txBox="1"/>
          <p:nvPr/>
        </p:nvSpPr>
        <p:spPr>
          <a:xfrm>
            <a:off x="2455135" y="3420887"/>
            <a:ext cx="16596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v1.1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3544228"/>
            <a:ext cx="439672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2026-04-01 · 대표과제 변경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2455135" y="3827186"/>
            <a:ext cx="19099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v1.0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2455135" y="3950526"/>
            <a:ext cx="439672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2026-01-05 · 최초 등록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2310029" y="4197208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592" y="4306038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27188" y="4306038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</a:t>
            </a:r>
            <a:endParaRPr lang="en-US" sz="686" dirty="0"/>
          </a:p>
        </p:txBody>
      </p:sp>
      <p:sp>
        <p:nvSpPr>
          <p:cNvPr id="25" name="Shape 23"/>
          <p:cNvSpPr/>
          <p:nvPr/>
        </p:nvSpPr>
        <p:spPr>
          <a:xfrm>
            <a:off x="9263581" y="0"/>
            <a:ext cx="2925258" cy="2205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222965" y="235435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222965" y="235435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3-3</a:t>
            </a:r>
            <a:endParaRPr lang="en-US" sz="571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87782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개정 이력을 트리거하는 영역이다(상위 SCR-006 Description NO=3 목록 표 요소 3-3과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3-3 개정 이력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"이력보기" 클릭 시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버전(v1.0, v1.1…)별 변경일자와 변경 내용을 최신순으로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전용 팝업이며 수정 기능은 없다. "닫기" 또는 배경 클릭 시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/api/mtrm/roadmap/{id}/history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886385"/>
            <a:ext cx="7638387" cy="300370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9394" y="500617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9394" y="500617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6" name="Shape 4"/>
          <p:cNvSpPr/>
          <p:nvPr/>
        </p:nvSpPr>
        <p:spPr>
          <a:xfrm>
            <a:off x="5096075" y="500617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96075" y="500617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8" name="Shape 6"/>
          <p:cNvSpPr/>
          <p:nvPr/>
        </p:nvSpPr>
        <p:spPr>
          <a:xfrm>
            <a:off x="5342756" y="500617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2756" y="500617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0" name="Shape 8"/>
          <p:cNvSpPr/>
          <p:nvPr/>
        </p:nvSpPr>
        <p:spPr>
          <a:xfrm>
            <a:off x="5589437" y="500617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89437" y="500617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2" name="Shape 10"/>
          <p:cNvSpPr/>
          <p:nvPr/>
        </p:nvSpPr>
        <p:spPr>
          <a:xfrm>
            <a:off x="9263581" y="0"/>
            <a:ext cx="2925258" cy="55793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414789" y="491911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414789" y="491911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15" name="Shape 13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7" name="Shape 15"/>
          <p:cNvSpPr/>
          <p:nvPr/>
        </p:nvSpPr>
        <p:spPr>
          <a:xfrm>
            <a:off x="1349491" y="145106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349491" y="145106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9" name="Shape 17"/>
          <p:cNvSpPr/>
          <p:nvPr/>
        </p:nvSpPr>
        <p:spPr>
          <a:xfrm>
            <a:off x="1349491" y="196619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349491" y="196619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69674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1077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타이틀 &amp;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화면 타이틀과 상세과제 신규 등록 버튼으로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상세과제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"상세과제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/api/mtrm/task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통합 로드맵/담당자/기간/진행상태 드롭다운으로 필터링하는 단일 목록 조회 영역이다(로드맵별 탭 방식이 아님).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SCR-006에서 로드맵명 클릭 후 진입 시 "통합 로드맵" 필터가 해당 값으로 자동 선택됨.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/api/mtrm/task?roadmap=&amp;owner=&amp;period=&amp;status=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727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상세과제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통합 로드맵에 속한 세부 과제 16건의 담당자·기간·진행상태를 관리하는 목록 표이다(페이지당 10건, 2페이지).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3-1 진행상태 뱃지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진행중=파랑, 계획=주황, 반려=빨강, 보류=회색 뱃지로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3-2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"수정" 클릭 시 "상세과제 등록" 팝업이 해당 값으로 프리필되어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PUT /api/mtrm/task/{id}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56488"/>
                <a:gridCol w="1576318"/>
                <a:gridCol w="2015809"/>
                <a:gridCol w="1996710"/>
                <a:gridCol w="2370000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상세과제 로드맵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/portal/mtrm/roadmap/task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56846" cy="159617"/>
        </p:xfrm>
        <a:graphic>
          <a:graphicData uri="http://schemas.openxmlformats.org/drawingml/2006/table">
            <a:tbl>
              <a:tblPr/>
              <a:tblGrid>
                <a:gridCol w="27842"/>
                <a:gridCol w="501162"/>
                <a:gridCol w="27842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SCR-007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386483"/>
                <a:gridCol w="3836053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공유&gt;상세과제 로드맵 관리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509108"/>
          <a:ext cx="1155090" cy="232171"/>
        </p:xfrm>
        <a:graphic>
          <a:graphicData uri="http://schemas.openxmlformats.org/drawingml/2006/table">
            <a:tbl>
              <a:tblPr/>
              <a:tblGrid>
                <a:gridCol w="990498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로드맵: 전체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9497" y="1509108"/>
          <a:ext cx="847066" cy="232171"/>
        </p:xfrm>
        <a:graphic>
          <a:graphicData uri="http://schemas.openxmlformats.org/drawingml/2006/table">
            <a:tbl>
              <a:tblPr/>
              <a:tblGrid>
                <a:gridCol w="682474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담당자: 전체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49116" y="1509108"/>
          <a:ext cx="770060" cy="232171"/>
        </p:xfrm>
        <a:graphic>
          <a:graphicData uri="http://schemas.openxmlformats.org/drawingml/2006/table">
            <a:tbl>
              <a:tblPr/>
              <a:tblGrid>
                <a:gridCol w="605468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기간: 전체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91729" y="1509108"/>
          <a:ext cx="1001078" cy="232171"/>
        </p:xfrm>
        <a:graphic>
          <a:graphicData uri="http://schemas.openxmlformats.org/drawingml/2006/table">
            <a:tbl>
              <a:tblPr/>
              <a:tblGrid>
                <a:gridCol w="836486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진행상태: 전체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75899" y="1509108"/>
          <a:ext cx="492838" cy="232171"/>
        </p:xfrm>
        <a:graphic>
          <a:graphicData uri="http://schemas.openxmlformats.org/drawingml/2006/table">
            <a:tbl>
              <a:tblPr/>
              <a:tblGrid>
                <a:gridCol w="492838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7638387" cy="261192"/>
        </p:xfrm>
        <a:graphic>
          <a:graphicData uri="http://schemas.openxmlformats.org/drawingml/2006/table">
            <a:tbl>
              <a:tblPr/>
              <a:tblGrid>
                <a:gridCol w="2376055"/>
                <a:gridCol w="4351122"/>
                <a:gridCol w="911209"/>
              </a:tblGrid>
              <a:tr h="261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상세과제 로드맵 관리</a:t>
                      </a:r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통합 로드맵에 속한 세부 과제의 담당자·기간·진행상태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상세과제 등록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1893641"/>
          <a:ext cx="7623877" cy="2773208"/>
        </p:xfrm>
        <a:graphic>
          <a:graphicData uri="http://schemas.openxmlformats.org/drawingml/2006/table">
            <a:tbl>
              <a:tblPr/>
              <a:tblGrid>
                <a:gridCol w="381194"/>
                <a:gridCol w="2287163"/>
                <a:gridCol w="914865"/>
                <a:gridCol w="1372298"/>
                <a:gridCol w="1219820"/>
                <a:gridCol w="1448537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진행상태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 로봇 도입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2026.03~2026.09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검사공정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2026.06~2027.02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 조립라인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2026.10~2027.06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ECU S/W 다운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2027.01~2027.09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세부과제(28.Q4 종료 예시)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2026.10~2028.12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세부과제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2026.01~2026.12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세부과제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2026.04~2027.06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세부과제 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2026.01~2026.09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 세부과제 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2026.10~2027.09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세부과제 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2026.01~2026.12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진행중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19"/>
          <p:cNvSpPr/>
          <p:nvPr/>
        </p:nvSpPr>
        <p:spPr>
          <a:xfrm>
            <a:off x="1414789" y="491911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5" name="Text 20"/>
          <p:cNvSpPr txBox="1"/>
          <p:nvPr/>
        </p:nvSpPr>
        <p:spPr>
          <a:xfrm>
            <a:off x="1414789" y="491911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sp>
        <p:nvSpPr>
          <p:cNvPr id="36" name="Shape 21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7" name="Text 22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38" name="Shape 23"/>
          <p:cNvSpPr/>
          <p:nvPr/>
        </p:nvSpPr>
        <p:spPr>
          <a:xfrm>
            <a:off x="1349491" y="145106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9" name="Text 24"/>
          <p:cNvSpPr txBox="1"/>
          <p:nvPr/>
        </p:nvSpPr>
        <p:spPr>
          <a:xfrm>
            <a:off x="1349491" y="145106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40" name="Shape 25"/>
          <p:cNvSpPr/>
          <p:nvPr/>
        </p:nvSpPr>
        <p:spPr>
          <a:xfrm>
            <a:off x="1349491" y="196619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1" name="Text 26"/>
          <p:cNvSpPr txBox="1"/>
          <p:nvPr/>
        </p:nvSpPr>
        <p:spPr>
          <a:xfrm>
            <a:off x="1349491" y="196619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56846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26251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57464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57464" y="337882"/>
            <a:ext cx="184580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 - 상세과제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49946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149946" y="348765"/>
            <a:ext cx="1635170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상세과제 등록"(1-1) 또는 행 "수정"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031797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5031797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2154833"/>
            <a:ext cx="4643410" cy="2786046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285429"/>
            <a:ext cx="63302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227091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276428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325775" y="2698982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328" y="2698982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과제명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311253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325775" y="3047238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328" y="3047238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2455135" y="346079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기간(시작)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325775" y="3395494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98328" y="3395494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2455135" y="380904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기간(종료)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325775" y="3743750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98328" y="3743750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2455135" y="4157303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진행상태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325775" y="4092005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98328" y="4092005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31" name="Shape 29"/>
          <p:cNvSpPr/>
          <p:nvPr/>
        </p:nvSpPr>
        <p:spPr>
          <a:xfrm>
            <a:off x="2310029" y="4483793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12299" y="4592623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42895" y="4592623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6396592" y="4592623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27188" y="4592623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9263581" y="0"/>
            <a:ext cx="2925258" cy="2336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2965" y="206776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2222965" y="206776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71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00178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727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상세과제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상세과제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상세과제 등록"(1-1) 또는 행 "수정"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과제명*, 담당자*, 기간(시작)*, 기간(종료)*, 진행상태*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필수값(과제명, 담당자, 기간(시작), 기간(종료), 진행상태)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501853" y="1146342"/>
            <a:ext cx="7681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501853" y="1291448"/>
            <a:ext cx="7681919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분과별 로드맵·과제 일정을 간트차트로 조회 · 막대 선택 시 상세 팝업</a:t>
            </a:r>
            <a:endParaRPr lang="en-US" sz="628" dirty="0"/>
          </a:p>
        </p:txBody>
      </p:sp>
      <p:sp>
        <p:nvSpPr>
          <p:cNvPr id="5" name="Text 3"/>
          <p:cNvSpPr txBox="1"/>
          <p:nvPr/>
        </p:nvSpPr>
        <p:spPr>
          <a:xfrm>
            <a:off x="7456777" y="1570779"/>
            <a:ext cx="27547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7768870" y="1570779"/>
            <a:ext cx="27547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28" dirty="0"/>
          </a:p>
        </p:txBody>
      </p:sp>
      <p:sp>
        <p:nvSpPr>
          <p:cNvPr id="7" name="Shape 5"/>
          <p:cNvSpPr/>
          <p:nvPr/>
        </p:nvSpPr>
        <p:spPr>
          <a:xfrm>
            <a:off x="1501853" y="1850109"/>
            <a:ext cx="763838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67151" y="1915407"/>
            <a:ext cx="1523619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/ 과제</a:t>
            </a:r>
            <a:endParaRPr lang="en-US" sz="686" dirty="0"/>
          </a:p>
        </p:txBody>
      </p:sp>
      <p:sp>
        <p:nvSpPr>
          <p:cNvPr id="9" name="Text 7"/>
          <p:cNvSpPr txBox="1"/>
          <p:nvPr/>
        </p:nvSpPr>
        <p:spPr>
          <a:xfrm>
            <a:off x="3119791" y="1915407"/>
            <a:ext cx="498294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26.Q1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621996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26.Q2</a:t>
            </a:r>
            <a:endParaRPr lang="en-US" sz="628" dirty="0"/>
          </a:p>
        </p:txBody>
      </p:sp>
      <p:sp>
        <p:nvSpPr>
          <p:cNvPr id="11" name="Text 9"/>
          <p:cNvSpPr txBox="1"/>
          <p:nvPr/>
        </p:nvSpPr>
        <p:spPr>
          <a:xfrm>
            <a:off x="4124314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26.Q3</a:t>
            </a:r>
            <a:endParaRPr lang="en-US" sz="628" dirty="0"/>
          </a:p>
        </p:txBody>
      </p:sp>
      <p:sp>
        <p:nvSpPr>
          <p:cNvPr id="12" name="Text 10"/>
          <p:cNvSpPr txBox="1"/>
          <p:nvPr/>
        </p:nvSpPr>
        <p:spPr>
          <a:xfrm>
            <a:off x="4626632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26.Q4</a:t>
            </a:r>
            <a:endParaRPr lang="en-US" sz="628" dirty="0"/>
          </a:p>
        </p:txBody>
      </p:sp>
      <p:sp>
        <p:nvSpPr>
          <p:cNvPr id="13" name="Text 11"/>
          <p:cNvSpPr txBox="1"/>
          <p:nvPr/>
        </p:nvSpPr>
        <p:spPr>
          <a:xfrm>
            <a:off x="5128950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27.Q1</a:t>
            </a:r>
            <a:endParaRPr lang="en-US" sz="628" dirty="0"/>
          </a:p>
        </p:txBody>
      </p:sp>
      <p:sp>
        <p:nvSpPr>
          <p:cNvPr id="14" name="Text 12"/>
          <p:cNvSpPr txBox="1"/>
          <p:nvPr/>
        </p:nvSpPr>
        <p:spPr>
          <a:xfrm>
            <a:off x="5631269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27.Q2</a:t>
            </a:r>
            <a:endParaRPr lang="en-US" sz="628" dirty="0"/>
          </a:p>
        </p:txBody>
      </p:sp>
      <p:sp>
        <p:nvSpPr>
          <p:cNvPr id="15" name="Text 13"/>
          <p:cNvSpPr txBox="1"/>
          <p:nvPr/>
        </p:nvSpPr>
        <p:spPr>
          <a:xfrm>
            <a:off x="6133587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27.Q3</a:t>
            </a:r>
            <a:endParaRPr lang="en-US" sz="628" dirty="0"/>
          </a:p>
        </p:txBody>
      </p:sp>
      <p:sp>
        <p:nvSpPr>
          <p:cNvPr id="16" name="Text 14"/>
          <p:cNvSpPr txBox="1"/>
          <p:nvPr/>
        </p:nvSpPr>
        <p:spPr>
          <a:xfrm>
            <a:off x="6635905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27.Q4</a:t>
            </a:r>
            <a:endParaRPr lang="en-US" sz="628" dirty="0"/>
          </a:p>
        </p:txBody>
      </p:sp>
      <p:sp>
        <p:nvSpPr>
          <p:cNvPr id="17" name="Text 15"/>
          <p:cNvSpPr txBox="1"/>
          <p:nvPr/>
        </p:nvSpPr>
        <p:spPr>
          <a:xfrm>
            <a:off x="7138223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28.Q1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7640541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28.Q2</a:t>
            </a:r>
            <a:endParaRPr lang="en-US" sz="628" dirty="0"/>
          </a:p>
        </p:txBody>
      </p:sp>
      <p:sp>
        <p:nvSpPr>
          <p:cNvPr id="19" name="Text 17"/>
          <p:cNvSpPr txBox="1"/>
          <p:nvPr/>
        </p:nvSpPr>
        <p:spPr>
          <a:xfrm>
            <a:off x="8142859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28.Q3</a:t>
            </a:r>
            <a:endParaRPr lang="en-US" sz="628" dirty="0"/>
          </a:p>
        </p:txBody>
      </p:sp>
      <p:sp>
        <p:nvSpPr>
          <p:cNvPr id="20" name="Text 18"/>
          <p:cNvSpPr txBox="1"/>
          <p:nvPr/>
        </p:nvSpPr>
        <p:spPr>
          <a:xfrm>
            <a:off x="8645177" y="1915407"/>
            <a:ext cx="498413" cy="1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28.Q4</a:t>
            </a:r>
            <a:endParaRPr lang="en-US" sz="628" dirty="0"/>
          </a:p>
        </p:txBody>
      </p:sp>
      <p:sp>
        <p:nvSpPr>
          <p:cNvPr id="21" name="Text 19"/>
          <p:cNvSpPr txBox="1"/>
          <p:nvPr/>
        </p:nvSpPr>
        <p:spPr>
          <a:xfrm>
            <a:off x="1567151" y="2143950"/>
            <a:ext cx="152361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자동화 로드맵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3105281" y="2136694"/>
            <a:ext cx="6027704" cy="11608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3105281" y="2136694"/>
            <a:ext cx="1506841" cy="116085"/>
          </a:xfrm>
          <a:prstGeom prst="rect">
            <a:avLst/>
          </a:prstGeom>
          <a:solidFill>
            <a:srgbClr val="3B6F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501853" y="2321705"/>
            <a:ext cx="7638387" cy="20314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683236" y="2372492"/>
            <a:ext cx="140753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 용접 로봇 도입</a:t>
            </a:r>
            <a:endParaRPr lang="en-US" sz="628" dirty="0"/>
          </a:p>
        </p:txBody>
      </p:sp>
      <p:sp>
        <p:nvSpPr>
          <p:cNvPr id="26" name="Text 24"/>
          <p:cNvSpPr txBox="1"/>
          <p:nvPr/>
        </p:nvSpPr>
        <p:spPr>
          <a:xfrm>
            <a:off x="3163323" y="2372492"/>
            <a:ext cx="595515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김기획 책임 · 진행중 75% · 26.01~26.09</a:t>
            </a:r>
            <a:endParaRPr lang="en-US" sz="628" dirty="0"/>
          </a:p>
        </p:txBody>
      </p:sp>
      <p:sp>
        <p:nvSpPr>
          <p:cNvPr id="27" name="Text 25"/>
          <p:cNvSpPr txBox="1"/>
          <p:nvPr/>
        </p:nvSpPr>
        <p:spPr>
          <a:xfrm>
            <a:off x="1567151" y="2593780"/>
            <a:ext cx="152361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 로드맵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3105281" y="2586525"/>
            <a:ext cx="6027704" cy="11608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1844" y="2586525"/>
            <a:ext cx="2007119" cy="116085"/>
          </a:xfrm>
          <a:prstGeom prst="rect">
            <a:avLst/>
          </a:prstGeom>
          <a:solidFill>
            <a:srgbClr val="E8930C"/>
          </a:solidFill>
          <a:ln/>
        </p:spPr>
      </p:sp>
      <p:sp>
        <p:nvSpPr>
          <p:cNvPr id="30" name="Shape 28"/>
          <p:cNvSpPr/>
          <p:nvPr/>
        </p:nvSpPr>
        <p:spPr>
          <a:xfrm>
            <a:off x="1501853" y="2771536"/>
            <a:ext cx="7638387" cy="20314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683236" y="2822323"/>
            <a:ext cx="140753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 코봇 도입</a:t>
            </a:r>
            <a:endParaRPr lang="en-US" sz="628" dirty="0"/>
          </a:p>
        </p:txBody>
      </p:sp>
      <p:sp>
        <p:nvSpPr>
          <p:cNvPr id="32" name="Text 30"/>
          <p:cNvSpPr txBox="1"/>
          <p:nvPr/>
        </p:nvSpPr>
        <p:spPr>
          <a:xfrm>
            <a:off x="3163323" y="2822323"/>
            <a:ext cx="595515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박생기 수석 · 검토중 40% · 26.07~27.06</a:t>
            </a:r>
            <a:endParaRPr lang="en-US" sz="628" dirty="0"/>
          </a:p>
        </p:txBody>
      </p:sp>
      <p:sp>
        <p:nvSpPr>
          <p:cNvPr id="33" name="Text 31"/>
          <p:cNvSpPr txBox="1"/>
          <p:nvPr/>
        </p:nvSpPr>
        <p:spPr>
          <a:xfrm>
            <a:off x="1567151" y="3043610"/>
            <a:ext cx="152361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물류/반송 자동화 표준화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3105281" y="3036355"/>
            <a:ext cx="6027704" cy="11608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3"/>
          <p:cNvSpPr/>
          <p:nvPr/>
        </p:nvSpPr>
        <p:spPr>
          <a:xfrm>
            <a:off x="5112399" y="3036355"/>
            <a:ext cx="2007119" cy="116085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567151" y="3290292"/>
            <a:ext cx="152361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</a:t>
            </a:r>
            <a:pPr algn="l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검사 시스템 도입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3105281" y="3283036"/>
            <a:ext cx="6027704" cy="11608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Shape 36"/>
          <p:cNvSpPr/>
          <p:nvPr/>
        </p:nvSpPr>
        <p:spPr>
          <a:xfrm>
            <a:off x="3605558" y="3283036"/>
            <a:ext cx="1506841" cy="116085"/>
          </a:xfrm>
          <a:prstGeom prst="rect">
            <a:avLst/>
          </a:prstGeom>
          <a:solidFill>
            <a:srgbClr val="2FA86B"/>
          </a:solidFill>
          <a:ln/>
        </p:spPr>
      </p:sp>
      <p:sp>
        <p:nvSpPr>
          <p:cNvPr id="39" name="Shape 37"/>
          <p:cNvSpPr/>
          <p:nvPr/>
        </p:nvSpPr>
        <p:spPr>
          <a:xfrm>
            <a:off x="9263581" y="0"/>
            <a:ext cx="2925258" cy="45490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480087" y="200972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480087" y="200972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42" name="Shape 40"/>
          <p:cNvSpPr/>
          <p:nvPr/>
        </p:nvSpPr>
        <p:spPr>
          <a:xfrm>
            <a:off x="1480087" y="2256407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480087" y="2256407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44" name="Shape 42"/>
          <p:cNvSpPr/>
          <p:nvPr/>
        </p:nvSpPr>
        <p:spPr>
          <a:xfrm>
            <a:off x="1349491" y="144381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1349491" y="144381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46" name="Shape 44"/>
          <p:cNvSpPr/>
          <p:nvPr/>
        </p:nvSpPr>
        <p:spPr>
          <a:xfrm>
            <a:off x="1349491" y="179206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349491" y="179206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459690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975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분과 필터 &amp; 표시 모드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분과/기간 필터와 요약본·전체보기 토글로 구성된 상단 컨트롤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요약본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기본 선택 상태.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 시 상세과제가 있는 로드맵만 기본 펼침 상태를 유지, 나머지는 접힘.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전체보기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 시 상세과제가 있는 모든 로드맵이 강제로 펼쳐짐.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/api/mtrm/chart?section=&amp;period=&amp;mode=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472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통합 로드맵 간트 차트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분과별 로드맵과 하위 상세과제 일정을 계층형 간트로 표시하는 영역이다(4개 로드맵, 아코디언으로 여러 개 동시 펼침 가능).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로드맵 막대(아코디언 토글)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로드맵 행 클릭 시 하위 상세과제 목록이 펼쳐지거나 접힘. 상세과제가 없는 로드맵은 "등록된 상세과제가 없습니다." 안내 문구가 펼침 영역에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상세과제 막대 클릭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펼쳐진 하위 상세과제 막대 클릭 시 "과제 상세" 팝업(chartDetail)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팝업에 담당자/진행상태(%)/과제목표/일정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/api/mtrm/task/{id}/detail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3744"/>
                <a:gridCol w="1246252"/>
                <a:gridCol w="2092009"/>
                <a:gridCol w="1996710"/>
                <a:gridCol w="2616611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 차트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/portal/mtrm/roadmap/chart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4102" cy="159617"/>
        </p:xfrm>
        <a:graphic>
          <a:graphicData uri="http://schemas.openxmlformats.org/drawingml/2006/table">
            <a:tbl>
              <a:tblPr/>
              <a:tblGrid>
                <a:gridCol w="28205"/>
                <a:gridCol w="507692"/>
                <a:gridCol w="28205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SCR-008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132429"/>
                <a:gridCol w="4090106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공유&gt;통합 로드맵 차트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501853"/>
          <a:ext cx="855252" cy="232171"/>
        </p:xfrm>
        <a:graphic>
          <a:graphicData uri="http://schemas.openxmlformats.org/drawingml/2006/table">
            <a:tbl>
              <a:tblPr/>
              <a:tblGrid>
                <a:gridCol w="690660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분과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9659" y="1501853"/>
          <a:ext cx="855252" cy="232171"/>
        </p:xfrm>
        <a:graphic>
          <a:graphicData uri="http://schemas.openxmlformats.org/drawingml/2006/table">
            <a:tbl>
              <a:tblPr/>
              <a:tblGrid>
                <a:gridCol w="690660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 ~ 2028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0962" y="1509108"/>
          <a:ext cx="497601" cy="217660"/>
        </p:xfrm>
        <a:graphic>
          <a:graphicData uri="http://schemas.openxmlformats.org/drawingml/2006/table">
            <a:tbl>
              <a:tblPr/>
              <a:tblGrid>
                <a:gridCol w="497601"/>
              </a:tblGrid>
              <a:tr h="217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요약본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17857" y="1509108"/>
          <a:ext cx="559802" cy="217660"/>
        </p:xfrm>
        <a:graphic>
          <a:graphicData uri="http://schemas.openxmlformats.org/drawingml/2006/table">
            <a:tbl>
              <a:tblPr/>
              <a:tblGrid>
                <a:gridCol w="559802"/>
              </a:tblGrid>
              <a:tr h="217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전체보기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Shape 46"/>
          <p:cNvSpPr/>
          <p:nvPr/>
        </p:nvSpPr>
        <p:spPr>
          <a:xfrm>
            <a:off x="1480087" y="200972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59" name="Text 47"/>
          <p:cNvSpPr txBox="1"/>
          <p:nvPr/>
        </p:nvSpPr>
        <p:spPr>
          <a:xfrm>
            <a:off x="1480087" y="200972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60" name="Shape 48"/>
          <p:cNvSpPr/>
          <p:nvPr/>
        </p:nvSpPr>
        <p:spPr>
          <a:xfrm>
            <a:off x="1480087" y="2256407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61" name="Text 49"/>
          <p:cNvSpPr txBox="1"/>
          <p:nvPr/>
        </p:nvSpPr>
        <p:spPr>
          <a:xfrm>
            <a:off x="1480087" y="2256407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62" name="Shape 50"/>
          <p:cNvSpPr/>
          <p:nvPr/>
        </p:nvSpPr>
        <p:spPr>
          <a:xfrm>
            <a:off x="1349491" y="144381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63" name="Text 51"/>
          <p:cNvSpPr txBox="1"/>
          <p:nvPr/>
        </p:nvSpPr>
        <p:spPr>
          <a:xfrm>
            <a:off x="1349491" y="144381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64" name="Shape 52"/>
          <p:cNvSpPr/>
          <p:nvPr/>
        </p:nvSpPr>
        <p:spPr>
          <a:xfrm>
            <a:off x="1349491" y="179206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65" name="Text 53"/>
          <p:cNvSpPr txBox="1"/>
          <p:nvPr/>
        </p:nvSpPr>
        <p:spPr>
          <a:xfrm>
            <a:off x="1349491" y="179206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102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506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719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719" y="337882"/>
            <a:ext cx="146954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 - 과제 상세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80945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780945" y="348765"/>
            <a:ext cx="101132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펼쳐진 상세과제 막대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038951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038951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0455" y="2379748"/>
            <a:ext cx="3482558" cy="2336216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35561" y="2510344"/>
            <a:ext cx="44484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상세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068289" y="249583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035561" y="2923897"/>
            <a:ext cx="32358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endParaRPr lang="en-US" sz="628" dirty="0"/>
          </a:p>
        </p:txBody>
      </p:sp>
      <p:sp>
        <p:nvSpPr>
          <p:cNvPr id="17" name="Text 15"/>
          <p:cNvSpPr txBox="1"/>
          <p:nvPr/>
        </p:nvSpPr>
        <p:spPr>
          <a:xfrm>
            <a:off x="3035561" y="3047238"/>
            <a:ext cx="323587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김기획 책임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035561" y="3243132"/>
            <a:ext cx="32358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진행상태</a:t>
            </a:r>
            <a:endParaRPr lang="en-US" sz="628" dirty="0"/>
          </a:p>
        </p:txBody>
      </p:sp>
      <p:sp>
        <p:nvSpPr>
          <p:cNvPr id="19" name="Text 17"/>
          <p:cNvSpPr txBox="1"/>
          <p:nvPr/>
        </p:nvSpPr>
        <p:spPr>
          <a:xfrm>
            <a:off x="3035561" y="3366472"/>
            <a:ext cx="323587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 (75%)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035561" y="3562366"/>
            <a:ext cx="32358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과제목표</a:t>
            </a:r>
            <a:endParaRPr lang="en-US" sz="628" dirty="0"/>
          </a:p>
        </p:txBody>
      </p:sp>
      <p:sp>
        <p:nvSpPr>
          <p:cNvPr id="21" name="Text 19"/>
          <p:cNvSpPr txBox="1"/>
          <p:nvPr/>
        </p:nvSpPr>
        <p:spPr>
          <a:xfrm>
            <a:off x="3035561" y="3685707"/>
            <a:ext cx="323587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용접공정 자동화율 94% 달성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3035561" y="3881601"/>
            <a:ext cx="32358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</a:t>
            </a:r>
            <a:endParaRPr lang="en-US" sz="628" dirty="0"/>
          </a:p>
        </p:txBody>
      </p:sp>
      <p:sp>
        <p:nvSpPr>
          <p:cNvPr id="23" name="Text 21"/>
          <p:cNvSpPr txBox="1"/>
          <p:nvPr/>
        </p:nvSpPr>
        <p:spPr>
          <a:xfrm>
            <a:off x="3035561" y="4004941"/>
            <a:ext cx="323587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2026.01 ~ 2026.09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890455" y="4258878"/>
            <a:ext cx="348255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6166" y="4367708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6762" y="4367708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</a:t>
            </a:r>
            <a:endParaRPr lang="en-US" sz="686" dirty="0"/>
          </a:p>
        </p:txBody>
      </p:sp>
      <p:sp>
        <p:nvSpPr>
          <p:cNvPr id="27" name="Shape 25"/>
          <p:cNvSpPr/>
          <p:nvPr/>
        </p:nvSpPr>
        <p:spPr>
          <a:xfrm>
            <a:off x="9263581" y="0"/>
            <a:ext cx="2925258" cy="20750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03391" y="229268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803391" y="229268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71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00178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727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과제 상세를 트리거하는 영역이다(상위 SCR-008 Description NO=2 "통합 로드맵 간트 차트" 요소 2-2와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과제 상세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아코디언으로 펼쳐진 상세과제 막대 클릭 시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담당자/진행상태(%)/과제목표/일정을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전용 팝업. "닫기" 또는 배경 클릭 시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/api/mtrm/task/{id}/detail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652980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56954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2227386" y="1146342"/>
            <a:ext cx="108829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5429" y="1146342"/>
            <a:ext cx="101574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3388238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8238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9" name="Shape 7"/>
          <p:cNvSpPr/>
          <p:nvPr/>
        </p:nvSpPr>
        <p:spPr>
          <a:xfrm>
            <a:off x="8443729" y="1146342"/>
            <a:ext cx="696512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43729" y="1146342"/>
            <a:ext cx="731337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문의/제안</a:t>
            </a:r>
            <a:endParaRPr lang="en-US" sz="686" dirty="0"/>
          </a:p>
        </p:txBody>
      </p:sp>
      <p:sp>
        <p:nvSpPr>
          <p:cNvPr id="11" name="Shape 9"/>
          <p:cNvSpPr/>
          <p:nvPr/>
        </p:nvSpPr>
        <p:spPr>
          <a:xfrm>
            <a:off x="1501853" y="1523619"/>
            <a:ext cx="1434741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9108" y="1530874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5883" y="2117649"/>
            <a:ext cx="246681" cy="246681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95883" y="2117649"/>
            <a:ext cx="283683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1567151" y="3009148"/>
            <a:ext cx="1347677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567151" y="3190531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로봇 도입</a:t>
            </a:r>
            <a:endParaRPr lang="en-US" sz="686" dirty="0"/>
          </a:p>
        </p:txBody>
      </p:sp>
      <p:sp>
        <p:nvSpPr>
          <p:cNvPr id="17" name="Text 15"/>
          <p:cNvSpPr txBox="1"/>
          <p:nvPr/>
        </p:nvSpPr>
        <p:spPr>
          <a:xfrm>
            <a:off x="1567151" y="3335637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차체·2026-07-01</a:t>
            </a:r>
            <a:endParaRPr lang="en-US" sz="628" dirty="0"/>
          </a:p>
        </p:txBody>
      </p:sp>
      <p:sp>
        <p:nvSpPr>
          <p:cNvPr id="18" name="Shape 16"/>
          <p:cNvSpPr/>
          <p:nvPr/>
        </p:nvSpPr>
        <p:spPr>
          <a:xfrm>
            <a:off x="3052679" y="1523619"/>
            <a:ext cx="1434855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9935" y="1530874"/>
            <a:ext cx="1420344" cy="14203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59935" y="1530874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6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17977" y="3009261"/>
            <a:ext cx="1347791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3117977" y="3190644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AI 적용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3117977" y="3335751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검사·2026-07-03</a:t>
            </a:r>
            <a:endParaRPr lang="en-US" sz="628" dirty="0"/>
          </a:p>
        </p:txBody>
      </p:sp>
      <p:sp>
        <p:nvSpPr>
          <p:cNvPr id="24" name="Shape 22"/>
          <p:cNvSpPr/>
          <p:nvPr/>
        </p:nvSpPr>
        <p:spPr>
          <a:xfrm>
            <a:off x="4603619" y="1523619"/>
            <a:ext cx="1434741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0875" y="1530874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Shape 24"/>
          <p:cNvSpPr/>
          <p:nvPr/>
        </p:nvSpPr>
        <p:spPr>
          <a:xfrm>
            <a:off x="5197649" y="2117649"/>
            <a:ext cx="246681" cy="246681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97649" y="2117649"/>
            <a:ext cx="283683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668917" y="3009148"/>
            <a:ext cx="1347677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668917" y="3190531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코봇 활용 사례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4668917" y="3335637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조립·2026-07-05</a:t>
            </a:r>
            <a:endParaRPr lang="en-US" sz="628" dirty="0"/>
          </a:p>
        </p:txBody>
      </p:sp>
      <p:sp>
        <p:nvSpPr>
          <p:cNvPr id="31" name="Shape 29"/>
          <p:cNvSpPr/>
          <p:nvPr/>
        </p:nvSpPr>
        <p:spPr>
          <a:xfrm>
            <a:off x="6154446" y="1523619"/>
            <a:ext cx="1434855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4254" y="1603428"/>
            <a:ext cx="1318769" cy="1275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배선·2026-07-08</a:t>
            </a:r>
            <a:endParaRPr lang="en-US" sz="628" dirty="0"/>
          </a:p>
        </p:txBody>
      </p:sp>
      <p:sp>
        <p:nvSpPr>
          <p:cNvPr id="33" name="Text 31"/>
          <p:cNvSpPr txBox="1"/>
          <p:nvPr/>
        </p:nvSpPr>
        <p:spPr>
          <a:xfrm>
            <a:off x="6219744" y="3009261"/>
            <a:ext cx="1347791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6219744" y="3190644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 자동화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7705386" y="1523619"/>
            <a:ext cx="1434741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12641" y="1530874"/>
            <a:ext cx="1420231" cy="14202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12641" y="1530874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4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pPr algn="ctr" indent="0" marL="0">
              <a:buNone/>
            </a:pPr>
            <a:r>
              <a:rPr lang="en-US" sz="700" dirty="0">
                <a:solidFill>
                  <a:srgbClr val="6B4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pPr algn="ctr" indent="0" marL="0">
              <a:buNone/>
            </a:pPr>
            <a:r>
              <a:rPr lang="en-US" sz="700" dirty="0">
                <a:solidFill>
                  <a:srgbClr val="6B4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☰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7770684" y="3009148"/>
            <a:ext cx="1347677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복합자료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7770684" y="3190531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 시스템 개선</a:t>
            </a:r>
            <a:endParaRPr lang="en-US" sz="686" dirty="0"/>
          </a:p>
        </p:txBody>
      </p:sp>
      <p:sp>
        <p:nvSpPr>
          <p:cNvPr id="40" name="Text 38"/>
          <p:cNvSpPr txBox="1"/>
          <p:nvPr/>
        </p:nvSpPr>
        <p:spPr>
          <a:xfrm>
            <a:off x="7770684" y="3335637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냉각·2026-07-10</a:t>
            </a:r>
            <a:endParaRPr lang="en-US" sz="628" dirty="0"/>
          </a:p>
        </p:txBody>
      </p:sp>
      <p:sp>
        <p:nvSpPr>
          <p:cNvPr id="41" name="Shape 39"/>
          <p:cNvSpPr/>
          <p:nvPr/>
        </p:nvSpPr>
        <p:spPr>
          <a:xfrm>
            <a:off x="1501853" y="3611453"/>
            <a:ext cx="1434741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81662" y="3691262"/>
            <a:ext cx="1318656" cy="127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배선·2026-07-17</a:t>
            </a:r>
            <a:endParaRPr lang="en-US" sz="628" dirty="0"/>
          </a:p>
        </p:txBody>
      </p:sp>
      <p:sp>
        <p:nvSpPr>
          <p:cNvPr id="43" name="Text 41"/>
          <p:cNvSpPr txBox="1"/>
          <p:nvPr/>
        </p:nvSpPr>
        <p:spPr>
          <a:xfrm>
            <a:off x="1567151" y="5096982"/>
            <a:ext cx="1347677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1567151" y="5278365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반송 자동화</a:t>
            </a:r>
            <a:endParaRPr lang="en-US" sz="686" dirty="0"/>
          </a:p>
        </p:txBody>
      </p:sp>
      <p:sp>
        <p:nvSpPr>
          <p:cNvPr id="45" name="Shape 43"/>
          <p:cNvSpPr/>
          <p:nvPr/>
        </p:nvSpPr>
        <p:spPr>
          <a:xfrm>
            <a:off x="3052679" y="3611453"/>
            <a:ext cx="1434855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59935" y="3618708"/>
            <a:ext cx="1420344" cy="14203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7" name="Shape 45"/>
          <p:cNvSpPr/>
          <p:nvPr/>
        </p:nvSpPr>
        <p:spPr>
          <a:xfrm>
            <a:off x="3646710" y="4205483"/>
            <a:ext cx="246681" cy="246681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46710" y="4205483"/>
            <a:ext cx="283683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3117977" y="5097095"/>
            <a:ext cx="1347791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3117977" y="5278478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 조립 자동화</a:t>
            </a:r>
            <a:endParaRPr lang="en-US" sz="686" dirty="0"/>
          </a:p>
        </p:txBody>
      </p:sp>
      <p:sp>
        <p:nvSpPr>
          <p:cNvPr id="51" name="Text 49"/>
          <p:cNvSpPr txBox="1"/>
          <p:nvPr/>
        </p:nvSpPr>
        <p:spPr>
          <a:xfrm>
            <a:off x="3117977" y="5423585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냉각·2026-07-18</a:t>
            </a:r>
            <a:endParaRPr lang="en-US" sz="628" dirty="0"/>
          </a:p>
        </p:txBody>
      </p:sp>
      <p:sp>
        <p:nvSpPr>
          <p:cNvPr id="52" name="Shape 50"/>
          <p:cNvSpPr/>
          <p:nvPr/>
        </p:nvSpPr>
        <p:spPr>
          <a:xfrm>
            <a:off x="4603619" y="3611453"/>
            <a:ext cx="1434741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0875" y="3618708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610875" y="3618708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6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4668917" y="5096982"/>
            <a:ext cx="1347677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4668917" y="5278365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섀시 검사 고도화</a:t>
            </a:r>
            <a:endParaRPr lang="en-US" sz="686" dirty="0"/>
          </a:p>
        </p:txBody>
      </p:sp>
      <p:sp>
        <p:nvSpPr>
          <p:cNvPr id="57" name="Text 55"/>
          <p:cNvSpPr txBox="1"/>
          <p:nvPr/>
        </p:nvSpPr>
        <p:spPr>
          <a:xfrm>
            <a:off x="4668917" y="5423471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물류·2026-07-19</a:t>
            </a:r>
            <a:endParaRPr lang="en-US" sz="628" dirty="0"/>
          </a:p>
        </p:txBody>
      </p:sp>
      <p:sp>
        <p:nvSpPr>
          <p:cNvPr id="58" name="Shape 56"/>
          <p:cNvSpPr/>
          <p:nvPr/>
        </p:nvSpPr>
        <p:spPr>
          <a:xfrm>
            <a:off x="6154446" y="3611453"/>
            <a:ext cx="1434855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234254" y="3691262"/>
            <a:ext cx="1318769" cy="1275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28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도어·2026-07-20</a:t>
            </a:r>
            <a:endParaRPr lang="en-US" sz="628" dirty="0"/>
          </a:p>
        </p:txBody>
      </p:sp>
      <p:sp>
        <p:nvSpPr>
          <p:cNvPr id="60" name="Text 58"/>
          <p:cNvSpPr txBox="1"/>
          <p:nvPr/>
        </p:nvSpPr>
        <p:spPr>
          <a:xfrm>
            <a:off x="6219744" y="5097095"/>
            <a:ext cx="1347791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6219744" y="5278478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로봇 튜닝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7705386" y="3611453"/>
            <a:ext cx="1434741" cy="1971749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12641" y="3618708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4" name="Shape 62"/>
          <p:cNvSpPr/>
          <p:nvPr/>
        </p:nvSpPr>
        <p:spPr>
          <a:xfrm>
            <a:off x="8299416" y="4205483"/>
            <a:ext cx="246681" cy="246681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299416" y="4205483"/>
            <a:ext cx="283683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7770684" y="5096982"/>
            <a:ext cx="1347677" cy="13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7770684" y="5278365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검사 확대</a:t>
            </a:r>
            <a:endParaRPr lang="en-US" sz="686" dirty="0"/>
          </a:p>
        </p:txBody>
      </p:sp>
      <p:sp>
        <p:nvSpPr>
          <p:cNvPr id="68" name="Text 66"/>
          <p:cNvSpPr txBox="1"/>
          <p:nvPr/>
        </p:nvSpPr>
        <p:spPr>
          <a:xfrm>
            <a:off x="7770684" y="5423471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섀시·2026-07-21</a:t>
            </a:r>
            <a:endParaRPr lang="en-US" sz="628" dirty="0"/>
          </a:p>
        </p:txBody>
      </p:sp>
      <p:sp>
        <p:nvSpPr>
          <p:cNvPr id="69" name="Shape 67"/>
          <p:cNvSpPr/>
          <p:nvPr/>
        </p:nvSpPr>
        <p:spPr>
          <a:xfrm>
            <a:off x="4849394" y="569928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849394" y="569928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71" name="Shape 69"/>
          <p:cNvSpPr/>
          <p:nvPr/>
        </p:nvSpPr>
        <p:spPr>
          <a:xfrm>
            <a:off x="5096075" y="569928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096075" y="569928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73" name="Shape 71"/>
          <p:cNvSpPr/>
          <p:nvPr/>
        </p:nvSpPr>
        <p:spPr>
          <a:xfrm>
            <a:off x="5342756" y="569928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42756" y="569928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75" name="Shape 73"/>
          <p:cNvSpPr/>
          <p:nvPr/>
        </p:nvSpPr>
        <p:spPr>
          <a:xfrm>
            <a:off x="5589437" y="569928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589437" y="569928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77" name="Shape 75"/>
          <p:cNvSpPr/>
          <p:nvPr/>
        </p:nvSpPr>
        <p:spPr>
          <a:xfrm>
            <a:off x="9263581" y="0"/>
            <a:ext cx="2925258" cy="5064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372198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372198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80" name="Shape 78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81" name="Text 79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82" name="Shape 80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3" name="Text 81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84" name="Shape 82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86" name="Shape 84"/>
          <p:cNvSpPr/>
          <p:nvPr/>
        </p:nvSpPr>
        <p:spPr>
          <a:xfrm>
            <a:off x="1349491" y="452007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1349491" y="452007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084848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975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검색 &amp; 문의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제목 검색 조건과 기술 문의/제안 버튼으로 구성된 상단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/api/mtrm/techpr?field=title&amp;keyword=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기술 문의/제안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"기술 문의/제안"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/api/mtrm/techpr/inquiry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514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Tech PR 카드 그리드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자료 유형(동영상/파일/텍스트/복합자료)별로 썸네일이 다른 카드 15건을 그리드로 표시하는 영역이다(페이지당 10건, 2페이지).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카드 상단 뱃지로 자료 유형(동영상=파랑, 파일=주황, 텍스트=녹색, 복합자료=보라)을 구분.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카드 클릭 시 techPrDetail 커스텀 상세 오버레이 오픈. type별로 오버레이 내용이 분기(video=재생 목업, file=파일명·용량, text=본문 텍스트, multi=여러 자료 탭 전환).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/api/mtrm/techpr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카드 그리드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카드로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63857"/>
                <a:gridCol w="1420139"/>
                <a:gridCol w="1471469"/>
                <a:gridCol w="1996710"/>
                <a:gridCol w="3063151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/portal/mtrm/techpr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64215" cy="159617"/>
        </p:xfrm>
        <a:graphic>
          <a:graphicData uri="http://schemas.openxmlformats.org/drawingml/2006/table">
            <a:tbl>
              <a:tblPr/>
              <a:tblGrid>
                <a:gridCol w="28211"/>
                <a:gridCol w="507794"/>
                <a:gridCol w="28211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SCR-009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266152"/>
                <a:gridCol w="3956384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공유&gt;생산기술 Tech PR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694607" cy="232171"/>
        </p:xfrm>
        <a:graphic>
          <a:graphicData uri="http://schemas.openxmlformats.org/drawingml/2006/table">
            <a:tbl>
              <a:tblPr/>
              <a:tblGrid>
                <a:gridCol w="530015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27386" y="1146342"/>
          <a:ext cx="1157678" cy="232171"/>
        </p:xfrm>
        <a:graphic>
          <a:graphicData uri="http://schemas.openxmlformats.org/drawingml/2006/table">
            <a:tbl>
              <a:tblPr/>
              <a:tblGrid>
                <a:gridCol w="1157678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0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8238" y="1146342"/>
          <a:ext cx="493943" cy="232171"/>
        </p:xfrm>
        <a:graphic>
          <a:graphicData uri="http://schemas.openxmlformats.org/drawingml/2006/table">
            <a:tbl>
              <a:tblPr/>
              <a:tblGrid>
                <a:gridCol w="493943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3729" y="1146342"/>
          <a:ext cx="740914" cy="232171"/>
        </p:xfrm>
        <a:graphic>
          <a:graphicData uri="http://schemas.openxmlformats.org/drawingml/2006/table">
            <a:tbl>
              <a:tblPr/>
              <a:tblGrid>
                <a:gridCol w="740914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8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문의/제안</a:t>
                      </a:r>
                      <a:endParaRPr lang="en-US" sz="778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98" name="Shape 86"/>
          <p:cNvSpPr/>
          <p:nvPr/>
        </p:nvSpPr>
        <p:spPr>
          <a:xfrm>
            <a:off x="372198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99" name="Text 87"/>
          <p:cNvSpPr txBox="1"/>
          <p:nvPr/>
        </p:nvSpPr>
        <p:spPr>
          <a:xfrm>
            <a:off x="372198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00" name="Shape 88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01" name="Text 89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02" name="Shape 90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03" name="Text 91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04" name="Shape 92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05" name="Text 93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sp>
        <p:nvSpPr>
          <p:cNvPr id="106" name="Shape 94"/>
          <p:cNvSpPr/>
          <p:nvPr/>
        </p:nvSpPr>
        <p:spPr>
          <a:xfrm>
            <a:off x="1349491" y="452007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07" name="Text 95"/>
          <p:cNvSpPr txBox="1"/>
          <p:nvPr/>
        </p:nvSpPr>
        <p:spPr>
          <a:xfrm>
            <a:off x="1349491" y="452007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21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61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833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833" y="337882"/>
            <a:ext cx="179569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- 기술 문의/제안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07208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107208" y="348765"/>
            <a:ext cx="104476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"기술 문의/제안"(1-2)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398656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398656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2568386"/>
            <a:ext cx="4643410" cy="1958939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698982"/>
            <a:ext cx="673385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문의/제안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268447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317783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소재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325775" y="3112536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328" y="3112536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로봇 도입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352609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문의/제안 내용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325775" y="3460792"/>
            <a:ext cx="3482558" cy="46434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328" y="3518834"/>
            <a:ext cx="3380983" cy="3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또는 제안 내용을 입력하세요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2310029" y="4070239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2299" y="4179069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42895" y="4179069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25" name="Shape 23"/>
          <p:cNvSpPr/>
          <p:nvPr/>
        </p:nvSpPr>
        <p:spPr>
          <a:xfrm>
            <a:off x="6396592" y="4179069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27188" y="4179069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</a:t>
            </a:r>
            <a:endParaRPr lang="en-US" sz="686" dirty="0"/>
          </a:p>
        </p:txBody>
      </p:sp>
      <p:sp>
        <p:nvSpPr>
          <p:cNvPr id="27" name="Shape 25"/>
          <p:cNvSpPr/>
          <p:nvPr/>
        </p:nvSpPr>
        <p:spPr>
          <a:xfrm>
            <a:off x="9263581" y="0"/>
            <a:ext cx="2925258" cy="2205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2965" y="2481322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222965" y="248132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71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75387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479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기술 문의/제안을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기술 문의/제안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"기술 문의/제안"(1-2)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대상 소재, 문의/제안 내용*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"전송"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필수값(문의/제안 내용)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6421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3361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64833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64833" y="337882"/>
            <a:ext cx="267925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- Tech PR 상세 오버레이(techPrDetail)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990771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990771" y="348765"/>
            <a:ext cx="3477003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PR 카드 클릭(SCR-009/MTRM-MAIN 공통 오버레이, 화면 이동 없이 그 자리에 오픈)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7714455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7714455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1438029"/>
            <a:ext cx="4643410" cy="4219654"/>
          </a:xfrm>
          <a:prstGeom prst="roundRect">
            <a:avLst>
              <a:gd name="adj" fmla="val 1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5135" y="1575880"/>
            <a:ext cx="366961" cy="116085"/>
          </a:xfrm>
          <a:prstGeom prst="roundRect">
            <a:avLst>
              <a:gd name="adj" fmla="val 50000"/>
            </a:avLst>
          </a:prstGeom>
          <a:solidFill>
            <a:srgbClr val="F1EA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13178" y="1590391"/>
            <a:ext cx="294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1" b="1" dirty="0">
                <a:solidFill>
                  <a:srgbClr val="6B46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복합자료</a:t>
            </a:r>
            <a:endParaRPr lang="en-US" sz="571" dirty="0"/>
          </a:p>
        </p:txBody>
      </p:sp>
      <p:sp>
        <p:nvSpPr>
          <p:cNvPr id="16" name="Text 14"/>
          <p:cNvSpPr txBox="1"/>
          <p:nvPr/>
        </p:nvSpPr>
        <p:spPr>
          <a:xfrm>
            <a:off x="2894649" y="1568625"/>
            <a:ext cx="372504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 시스템 개선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648715" y="155411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2455135" y="1953157"/>
            <a:ext cx="4396729" cy="9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 · 냉각 등록일 · 2026-07-10 담당자 · 최**</a:t>
            </a:r>
            <a:endParaRPr lang="en-US" sz="628" dirty="0"/>
          </a:p>
        </p:txBody>
      </p:sp>
      <p:sp>
        <p:nvSpPr>
          <p:cNvPr id="19" name="Shape 17"/>
          <p:cNvSpPr/>
          <p:nvPr/>
        </p:nvSpPr>
        <p:spPr>
          <a:xfrm>
            <a:off x="2455135" y="2185328"/>
            <a:ext cx="304270" cy="116085"/>
          </a:xfrm>
          <a:prstGeom prst="roundRect">
            <a:avLst>
              <a:gd name="adj" fmla="val 50000"/>
            </a:avLst>
          </a:prstGeom>
          <a:solidFill>
            <a:srgbClr val="E9F0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13178" y="2199838"/>
            <a:ext cx="2317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1" b="1" dirty="0">
                <a:solidFill>
                  <a:srgbClr val="1A5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</a:t>
            </a:r>
            <a:endParaRPr lang="en-US" sz="571" dirty="0"/>
          </a:p>
        </p:txBody>
      </p:sp>
      <p:sp>
        <p:nvSpPr>
          <p:cNvPr id="21" name="Shape 19"/>
          <p:cNvSpPr/>
          <p:nvPr/>
        </p:nvSpPr>
        <p:spPr>
          <a:xfrm>
            <a:off x="2455135" y="2373966"/>
            <a:ext cx="4353197" cy="145106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3095" y="2910860"/>
            <a:ext cx="377277" cy="377277"/>
          </a:xfrm>
          <a:prstGeom prst="ellipse">
            <a:avLst/>
          </a:prstGeom>
          <a:solidFill>
            <a:srgbClr val="3C3C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43095" y="2910860"/>
            <a:ext cx="420809" cy="37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43" dirty="0"/>
          </a:p>
        </p:txBody>
      </p:sp>
      <p:sp>
        <p:nvSpPr>
          <p:cNvPr id="24" name="Text 22"/>
          <p:cNvSpPr txBox="1"/>
          <p:nvPr/>
        </p:nvSpPr>
        <p:spPr>
          <a:xfrm>
            <a:off x="2455135" y="3897585"/>
            <a:ext cx="4396729" cy="15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냉각수 순환 자동화 적용 전/후 비교 영상입니다.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55135" y="4186325"/>
            <a:ext cx="241580" cy="116085"/>
          </a:xfrm>
          <a:prstGeom prst="roundRect">
            <a:avLst>
              <a:gd name="adj" fmla="val 50000"/>
            </a:avLst>
          </a:prstGeom>
          <a:solidFill>
            <a:srgbClr val="FDEED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513178" y="4200835"/>
            <a:ext cx="1617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1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571" dirty="0"/>
          </a:p>
        </p:txBody>
      </p:sp>
      <p:sp>
        <p:nvSpPr>
          <p:cNvPr id="27" name="Text 25"/>
          <p:cNvSpPr txBox="1"/>
          <p:nvPr/>
        </p:nvSpPr>
        <p:spPr>
          <a:xfrm>
            <a:off x="2730838" y="4385846"/>
            <a:ext cx="3598416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냉각시스템_개선보고서.pdf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2730838" y="4487421"/>
            <a:ext cx="3598416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1.1MB</a:t>
            </a:r>
            <a:endParaRPr lang="en-US" sz="628" dirty="0"/>
          </a:p>
        </p:txBody>
      </p:sp>
      <p:sp>
        <p:nvSpPr>
          <p:cNvPr id="29" name="Shape 27"/>
          <p:cNvSpPr/>
          <p:nvPr/>
        </p:nvSpPr>
        <p:spPr>
          <a:xfrm>
            <a:off x="6358275" y="4374963"/>
            <a:ext cx="450057" cy="21766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5339" y="4374963"/>
            <a:ext cx="319461" cy="217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</a:t>
            </a:r>
            <a:endParaRPr lang="en-US" sz="628" dirty="0"/>
          </a:p>
        </p:txBody>
      </p:sp>
      <p:sp>
        <p:nvSpPr>
          <p:cNvPr id="31" name="Shape 29"/>
          <p:cNvSpPr/>
          <p:nvPr/>
        </p:nvSpPr>
        <p:spPr>
          <a:xfrm>
            <a:off x="2455135" y="4730474"/>
            <a:ext cx="304270" cy="116085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513178" y="4744985"/>
            <a:ext cx="23171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71" b="1" dirty="0">
                <a:solidFill>
                  <a:srgbClr val="157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</a:t>
            </a:r>
            <a:endParaRPr lang="en-US" sz="571" dirty="0"/>
          </a:p>
        </p:txBody>
      </p:sp>
      <p:sp>
        <p:nvSpPr>
          <p:cNvPr id="33" name="Text 31"/>
          <p:cNvSpPr txBox="1"/>
          <p:nvPr/>
        </p:nvSpPr>
        <p:spPr>
          <a:xfrm>
            <a:off x="2455135" y="4919113"/>
            <a:ext cx="4396729" cy="15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 효율을 15% 개선하고 설비 정지시간을 줄인 사례입니다. 관련 부품 표준화도 함께 진행했습니다.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310029" y="5186086"/>
            <a:ext cx="4643410" cy="47159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082" y="5294916"/>
            <a:ext cx="426251" cy="261192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2678" y="5294916"/>
            <a:ext cx="208591" cy="261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9263581" y="0"/>
            <a:ext cx="2925258" cy="36421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222965" y="1350965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2222965" y="1350965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3489205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32148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Tech PR 상세 · 냉각 시스템 개선(복합자료 케이스)을 트리거하는 영역이다(상위 SCR-009 Description NO=2 "Tech PR 카드 그리드"와 동일 NO. MTRM-MAIN에서는 NO=3 요소 3-1과도 연동됨).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Tech PR 상세 · 냉각 시스템 개선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SCR-009 카드 또는 MTRM-MAIN "생산기술 Tech PR" 미리보기 카드 클릭 시 공용 오버레이로 오픈(공용 modal-root와 별개 컨테이너, techpr-overlay). 본 샘플은 자료 유형(type)이 multi(복합자료)인 케이스로, 상세설명·첨부문서·첨부 동영상이 모두 포함된 항목을 예시로 표시한다.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헤더에 자료 유형 배지("복합자료") + 제목을 표시. 본문 상단에 "분과·등록일·담당자" 메타 라인 고정 표시 후, type이 multi이므로 items 배열의 유형별 항목(동영상 → 파일 → 텍스트 순)을 각각 유형 배지와 함께 세로로 나열한다 — video: 재생 목업+설명, file: 파일 아이콘·파일명·용량+다운로드 버튼, text: 본문 텍스트. (단일 유형 카드 클릭 시에는 items 나열 없이 해당 유형 콘텐츠 1건만 표시된다.)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우측 상단 ×, 하단 "닫기" 버튼, 또는 오버레이 바깥 클릭 시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/api/mtrm/techpr/{id}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2445046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03088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과제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3243132" y="1146342"/>
            <a:ext cx="72553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01175" y="1146342"/>
            <a:ext cx="645724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검색</a:t>
            </a:r>
            <a:endParaRPr lang="en-US" sz="686" dirty="0"/>
          </a:p>
        </p:txBody>
      </p:sp>
      <p:sp>
        <p:nvSpPr>
          <p:cNvPr id="9" name="Shape 7"/>
          <p:cNvSpPr/>
          <p:nvPr/>
        </p:nvSpPr>
        <p:spPr>
          <a:xfrm>
            <a:off x="4041218" y="1146342"/>
            <a:ext cx="108829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99261" y="1146342"/>
            <a:ext cx="101574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첨부(문서/동영상) 검색</a:t>
            </a:r>
            <a:endParaRPr lang="en-US" sz="686" dirty="0"/>
          </a:p>
        </p:txBody>
      </p:sp>
      <p:sp>
        <p:nvSpPr>
          <p:cNvPr id="11" name="Shape 9"/>
          <p:cNvSpPr/>
          <p:nvPr/>
        </p:nvSpPr>
        <p:spPr>
          <a:xfrm>
            <a:off x="5202071" y="1146342"/>
            <a:ext cx="79808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0113" y="1146342"/>
            <a:ext cx="721905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13" name="Shape 11"/>
          <p:cNvSpPr/>
          <p:nvPr/>
        </p:nvSpPr>
        <p:spPr>
          <a:xfrm>
            <a:off x="6072710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72710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15" name="Shape 13"/>
          <p:cNvSpPr/>
          <p:nvPr/>
        </p:nvSpPr>
        <p:spPr>
          <a:xfrm>
            <a:off x="8501771" y="1146342"/>
            <a:ext cx="638469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1771" y="1146342"/>
            <a:ext cx="670392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자료 등록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1501853" y="1523619"/>
            <a:ext cx="7638387" cy="3003706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12736" y="1534502"/>
            <a:ext cx="380791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70779" y="159254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1893527" y="1534502"/>
            <a:ext cx="1675641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51570" y="1592545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3569168" y="1534502"/>
            <a:ext cx="121855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27211" y="159254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686" dirty="0"/>
          </a:p>
        </p:txBody>
      </p:sp>
      <p:sp>
        <p:nvSpPr>
          <p:cNvPr id="24" name="Shape 22"/>
          <p:cNvSpPr/>
          <p:nvPr/>
        </p:nvSpPr>
        <p:spPr>
          <a:xfrm>
            <a:off x="4787723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5766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5549306" y="1534502"/>
            <a:ext cx="106630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07349" y="159254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첨부(문서/동영상)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6615613" y="1534502"/>
            <a:ext cx="121855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3655" y="159254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등록일</a:t>
            </a:r>
            <a:endParaRPr lang="en-US" sz="686" dirty="0"/>
          </a:p>
        </p:txBody>
      </p:sp>
      <p:sp>
        <p:nvSpPr>
          <p:cNvPr id="30" name="Shape 28"/>
          <p:cNvSpPr/>
          <p:nvPr/>
        </p:nvSpPr>
        <p:spPr>
          <a:xfrm>
            <a:off x="7834168" y="1534502"/>
            <a:ext cx="1295190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92210" y="1592545"/>
            <a:ext cx="12226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1512736" y="1759417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70779" y="1817460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1893527" y="1759417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51570" y="1817460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로봇 도입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3569168" y="1759417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27211" y="1817460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자동화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4787723" y="1759417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5766" y="1817460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홍**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5549306" y="1759417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07349" y="1817460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 1건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6615613" y="1759417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73655" y="1817460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2026-07-01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7834168" y="1759417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92210" y="1817460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1512736" y="2035120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570779" y="2093162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686" dirty="0"/>
          </a:p>
        </p:txBody>
      </p:sp>
      <p:sp>
        <p:nvSpPr>
          <p:cNvPr id="48" name="Shape 46"/>
          <p:cNvSpPr/>
          <p:nvPr/>
        </p:nvSpPr>
        <p:spPr>
          <a:xfrm>
            <a:off x="1893527" y="2035120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51570" y="2093162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자료 1</a:t>
            </a:r>
            <a:endParaRPr lang="en-US" sz="686" dirty="0"/>
          </a:p>
        </p:txBody>
      </p:sp>
      <p:sp>
        <p:nvSpPr>
          <p:cNvPr id="50" name="Shape 48"/>
          <p:cNvSpPr/>
          <p:nvPr/>
        </p:nvSpPr>
        <p:spPr>
          <a:xfrm>
            <a:off x="3569168" y="2035120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27211" y="2093162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자동화</a:t>
            </a:r>
            <a:endParaRPr lang="en-US" sz="686" dirty="0"/>
          </a:p>
        </p:txBody>
      </p:sp>
      <p:sp>
        <p:nvSpPr>
          <p:cNvPr id="52" name="Shape 50"/>
          <p:cNvSpPr/>
          <p:nvPr/>
        </p:nvSpPr>
        <p:spPr>
          <a:xfrm>
            <a:off x="4787723" y="2035120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45766" y="2093162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김**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5549306" y="2035120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07349" y="2093162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1건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6615613" y="2035120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73655" y="2093162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2026-07-02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7834168" y="2035120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92210" y="2093162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1512736" y="2310822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570779" y="2368865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1893527" y="2310822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951570" y="2368865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자료 2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3569168" y="2310822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627211" y="2368865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4787723" y="2310822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845766" y="2368865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이**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5549306" y="2310822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607349" y="2368865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 2건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6615613" y="2310822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673655" y="2368865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2026-07-03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7834168" y="2310822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892210" y="2368865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1512736" y="2586525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570779" y="2644567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1893527" y="2586525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951570" y="2644567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자료 3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3569168" y="2586525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627211" y="2644567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자동화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4787723" y="2586525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845766" y="2644567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박**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5549306" y="2586525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607349" y="2644567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2건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6615613" y="2586525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673655" y="2644567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2026-07-04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7834168" y="2586525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892210" y="2644567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1512736" y="2862227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570779" y="2920270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1893527" y="2862227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951570" y="2920270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자료 4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3569168" y="2862227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627211" y="2920270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자동화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4787723" y="2862227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845766" y="2920270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최**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5549306" y="2862227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607349" y="2920270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 1건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6615613" y="2862227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673655" y="2920270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2026-07-05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7834168" y="2862227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892210" y="2920270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1512736" y="3137930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570779" y="3195972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1893527" y="3137930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951570" y="3195972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자료 5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3569168" y="3137930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3627211" y="3195972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용접 자동화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4787723" y="3137930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845766" y="3195972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홍**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5549306" y="3137930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5607349" y="3195972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1건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6615613" y="3137930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673655" y="3195972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2026-07-06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7834168" y="3137930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892210" y="3195972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1512736" y="3413632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1570779" y="3471675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1893527" y="3413632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951570" y="3471675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자료 6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3569168" y="3413632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3627211" y="3471675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자동화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4787723" y="3413632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845766" y="3471675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김**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5549306" y="3413632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5607349" y="3471675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 2건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6615613" y="3413632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6673655" y="3471675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2026-07-07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7834168" y="3413632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7892210" y="3471675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1512736" y="3689335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570779" y="3747377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1893527" y="3689335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951570" y="3747377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자료 7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3569168" y="3689335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3627211" y="3747377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자동화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4787723" y="3689335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4845766" y="3747377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이**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5549306" y="3689335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5607349" y="3747377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2건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6615613" y="3689335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6673655" y="3747377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2026-07-08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7834168" y="3689335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7892210" y="3747377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1512736" y="3965037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570779" y="4023080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1893527" y="3965037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951570" y="4023080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자료 8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3569168" y="3965037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3627211" y="4023080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자동화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4787723" y="3965037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4845766" y="4023080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박**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5549306" y="3965037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5607349" y="4023080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 1건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6615613" y="3965037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6673655" y="4023080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2026-07-09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7834168" y="3965037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7892210" y="4023080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1512736" y="4240740"/>
            <a:ext cx="38079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1570779" y="4298782"/>
            <a:ext cx="28374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1893527" y="4240740"/>
            <a:ext cx="1675641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951570" y="4298782"/>
            <a:ext cx="1603088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자료 9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3569168" y="4240740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3627211" y="4298782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자동화</a:t>
            </a:r>
            <a:endParaRPr lang="en-US" sz="686" dirty="0"/>
          </a:p>
        </p:txBody>
      </p:sp>
      <p:sp>
        <p:nvSpPr>
          <p:cNvPr id="164" name="Shape 162"/>
          <p:cNvSpPr/>
          <p:nvPr/>
        </p:nvSpPr>
        <p:spPr>
          <a:xfrm>
            <a:off x="4787723" y="4240740"/>
            <a:ext cx="761583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4845766" y="4298782"/>
            <a:ext cx="683577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최**</a:t>
            </a:r>
            <a:endParaRPr lang="en-US" sz="686" dirty="0"/>
          </a:p>
        </p:txBody>
      </p:sp>
      <p:sp>
        <p:nvSpPr>
          <p:cNvPr id="166" name="Shape 164"/>
          <p:cNvSpPr/>
          <p:nvPr/>
        </p:nvSpPr>
        <p:spPr>
          <a:xfrm>
            <a:off x="5549306" y="4240740"/>
            <a:ext cx="1066307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5607349" y="4298782"/>
            <a:ext cx="993753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1건</a:t>
            </a:r>
            <a:endParaRPr lang="en-US" sz="686" dirty="0"/>
          </a:p>
        </p:txBody>
      </p:sp>
      <p:sp>
        <p:nvSpPr>
          <p:cNvPr id="168" name="Shape 166"/>
          <p:cNvSpPr/>
          <p:nvPr/>
        </p:nvSpPr>
        <p:spPr>
          <a:xfrm>
            <a:off x="6615613" y="4240740"/>
            <a:ext cx="1218555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6673655" y="4298782"/>
            <a:ext cx="1146002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2026-07-10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7834168" y="4240740"/>
            <a:ext cx="1295190" cy="275702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7892210" y="4298782"/>
            <a:ext cx="1222636" cy="159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4849394" y="4643410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4849394" y="4643410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5096075" y="4643410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5096075" y="4643410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5342756" y="4643410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5342756" y="4643410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5589437" y="4643410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5589437" y="4643410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9263581" y="0"/>
            <a:ext cx="2925258" cy="51948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Shape 179"/>
          <p:cNvSpPr/>
          <p:nvPr/>
        </p:nvSpPr>
        <p:spPr>
          <a:xfrm>
            <a:off x="6406455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2" name="Text 180"/>
          <p:cNvSpPr txBox="1"/>
          <p:nvPr/>
        </p:nvSpPr>
        <p:spPr>
          <a:xfrm>
            <a:off x="6406455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83" name="Shape 181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4" name="Text 182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85" name="Shape 183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6" name="Text 184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87" name="Shape 185"/>
          <p:cNvSpPr/>
          <p:nvPr/>
        </p:nvSpPr>
        <p:spPr>
          <a:xfrm>
            <a:off x="8478192" y="1639704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8" name="Text 186"/>
          <p:cNvSpPr txBox="1"/>
          <p:nvPr/>
        </p:nvSpPr>
        <p:spPr>
          <a:xfrm>
            <a:off x="8478192" y="1639704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89" name="Shape 187"/>
          <p:cNvSpPr/>
          <p:nvPr/>
        </p:nvSpPr>
        <p:spPr>
          <a:xfrm>
            <a:off x="1414789" y="4556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0" name="Text 188"/>
          <p:cNvSpPr txBox="1"/>
          <p:nvPr/>
        </p:nvSpPr>
        <p:spPr>
          <a:xfrm>
            <a:off x="1414789" y="4556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91" name="Shape 189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2" name="Text 190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93" name="Shape 191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4" name="Text 192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4836944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97536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&amp;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제목/과제/담당자/첨부/등록일 조건 필터와 신규 자료 등록 버튼으로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/api/admin/techpr?title=&amp;task=&amp;owner=&amp;attach=&amp;date=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자료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표시(관리자 화면).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"자료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SCR-009 생산기술 Tech PR 카드 그리드에 노출되는 원천 데이터를 관리.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Tech PR 자료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생산기술 Tech PR 자료 15건을 관리하는 목록 표이다(페이지당 10건, 2페이지).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목록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/api/admin/techpr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"수정" 클릭 시 "자료 등록" 팝업이 해당 값으로 프리필되어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PUT /api/admin/techpr/{id}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48779"/>
                <a:gridCol w="1960699"/>
                <a:gridCol w="1533742"/>
                <a:gridCol w="1996710"/>
                <a:gridCol w="2475396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/portal/admin/techpr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49138" cy="159617"/>
        </p:xfrm>
        <a:graphic>
          <a:graphicData uri="http://schemas.openxmlformats.org/drawingml/2006/table">
            <a:tbl>
              <a:tblPr/>
              <a:tblGrid>
                <a:gridCol w="27457"/>
                <a:gridCol w="494224"/>
                <a:gridCol w="27457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SCR-010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682049"/>
                <a:gridCol w="3540486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공유&gt;생산기술 Tech PR 관리자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931299" cy="232171"/>
        </p:xfrm>
        <a:graphic>
          <a:graphicData uri="http://schemas.openxmlformats.org/drawingml/2006/table">
            <a:tbl>
              <a:tblPr/>
              <a:tblGrid>
                <a:gridCol w="931299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45046" y="1146342"/>
          <a:ext cx="776082" cy="232171"/>
        </p:xfrm>
        <a:graphic>
          <a:graphicData uri="http://schemas.openxmlformats.org/drawingml/2006/table">
            <a:tbl>
              <a:tblPr/>
              <a:tblGrid>
                <a:gridCol w="611490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과제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7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3132" y="1146342"/>
          <a:ext cx="776082" cy="232171"/>
        </p:xfrm>
        <a:graphic>
          <a:graphicData uri="http://schemas.openxmlformats.org/drawingml/2006/table">
            <a:tbl>
              <a:tblPr/>
              <a:tblGrid>
                <a:gridCol w="776082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41218" y="1146342"/>
          <a:ext cx="1164123" cy="232171"/>
        </p:xfrm>
        <a:graphic>
          <a:graphicData uri="http://schemas.openxmlformats.org/drawingml/2006/table">
            <a:tbl>
              <a:tblPr/>
              <a:tblGrid>
                <a:gridCol w="1164123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8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첨부(문서/동영상) 검색</a:t>
                      </a:r>
                      <a:endParaRPr lang="en-US" sz="778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5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02071" y="1146342"/>
          <a:ext cx="853691" cy="232171"/>
        </p:xfrm>
        <a:graphic>
          <a:graphicData uri="http://schemas.openxmlformats.org/drawingml/2006/table">
            <a:tbl>
              <a:tblPr/>
              <a:tblGrid>
                <a:gridCol w="853691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9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72710" y="1146342"/>
          <a:ext cx="496693" cy="232171"/>
        </p:xfrm>
        <a:graphic>
          <a:graphicData uri="http://schemas.openxmlformats.org/drawingml/2006/table">
            <a:tbl>
              <a:tblPr/>
              <a:tblGrid>
                <a:gridCol w="496693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1771" y="1146342"/>
          <a:ext cx="682952" cy="232171"/>
        </p:xfrm>
        <a:graphic>
          <a:graphicData uri="http://schemas.openxmlformats.org/drawingml/2006/table">
            <a:tbl>
              <a:tblPr/>
              <a:tblGrid>
                <a:gridCol w="682952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자료 등록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7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1530874"/>
          <a:ext cx="7623877" cy="2773208"/>
        </p:xfrm>
        <a:graphic>
          <a:graphicData uri="http://schemas.openxmlformats.org/drawingml/2006/table">
            <a:tbl>
              <a:tblPr/>
              <a:tblGrid>
                <a:gridCol w="381194"/>
                <a:gridCol w="1677253"/>
                <a:gridCol w="1219820"/>
                <a:gridCol w="762388"/>
                <a:gridCol w="1067343"/>
                <a:gridCol w="1219820"/>
                <a:gridCol w="1296059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첨부(문서/동영상)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 로봇 도입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동영상 1건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자료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1건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자료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동영상 2건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자료 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2건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자료 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동영상 1건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 자료 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용접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1건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자료 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동영상 2건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자료 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2건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자료 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동영상 1건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자료 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자동화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1건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Shape 193"/>
          <p:cNvSpPr/>
          <p:nvPr/>
        </p:nvSpPr>
        <p:spPr>
          <a:xfrm>
            <a:off x="6406455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0" name="Text 194"/>
          <p:cNvSpPr txBox="1"/>
          <p:nvPr/>
        </p:nvSpPr>
        <p:spPr>
          <a:xfrm>
            <a:off x="6406455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211" name="Shape 195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2" name="Text 196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213" name="Shape 197"/>
          <p:cNvSpPr/>
          <p:nvPr/>
        </p:nvSpPr>
        <p:spPr>
          <a:xfrm>
            <a:off x="8958857" y="146557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4" name="Text 198"/>
          <p:cNvSpPr txBox="1"/>
          <p:nvPr/>
        </p:nvSpPr>
        <p:spPr>
          <a:xfrm>
            <a:off x="8958857" y="146557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215" name="Shape 199"/>
          <p:cNvSpPr/>
          <p:nvPr/>
        </p:nvSpPr>
        <p:spPr>
          <a:xfrm>
            <a:off x="8478192" y="1639704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6" name="Text 200"/>
          <p:cNvSpPr txBox="1"/>
          <p:nvPr/>
        </p:nvSpPr>
        <p:spPr>
          <a:xfrm>
            <a:off x="8478192" y="1639704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217" name="Shape 201"/>
          <p:cNvSpPr/>
          <p:nvPr/>
        </p:nvSpPr>
        <p:spPr>
          <a:xfrm>
            <a:off x="1414789" y="455634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18" name="Text 202"/>
          <p:cNvSpPr txBox="1"/>
          <p:nvPr/>
        </p:nvSpPr>
        <p:spPr>
          <a:xfrm>
            <a:off x="1414789" y="45563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219" name="Shape 203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20" name="Text 204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21" name="Shape 205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22" name="Text 206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13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854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9755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9755" y="337882"/>
            <a:ext cx="187663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 - 자료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73073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173073" y="348765"/>
            <a:ext cx="148314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자료 등록"(1-2) 또는 행 "수정"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902902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902902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29602" y="1697747"/>
            <a:ext cx="5804263" cy="3700218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874709" y="1828343"/>
            <a:ext cx="44484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7229141" y="181383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1874709" y="230719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2745348" y="2241897"/>
            <a:ext cx="4643410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17902" y="2241897"/>
            <a:ext cx="4541836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1874709" y="265545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2745348" y="2590152"/>
            <a:ext cx="4643410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7902" y="2590152"/>
            <a:ext cx="4541836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874709" y="300370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2745348" y="2938408"/>
            <a:ext cx="4643410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17902" y="2938408"/>
            <a:ext cx="4541836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1874709" y="335196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이메일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2745348" y="3286664"/>
            <a:ext cx="4643410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17902" y="3286664"/>
            <a:ext cx="4541836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name@company.com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1874709" y="370021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2745348" y="3634920"/>
            <a:ext cx="4643410" cy="46434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17902" y="3692962"/>
            <a:ext cx="4541836" cy="3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입력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874709" y="4266133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문서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2745348" y="4200835"/>
            <a:ext cx="4643410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81625" y="4229857"/>
            <a:ext cx="455612" cy="188639"/>
          </a:xfrm>
          <a:prstGeom prst="rect">
            <a:avLst/>
          </a:prstGeom>
          <a:solidFill>
            <a:srgbClr val="EEEEEE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54178" y="4229857"/>
            <a:ext cx="333286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선택</a:t>
            </a:r>
            <a:endParaRPr lang="en-US" sz="628" dirty="0"/>
          </a:p>
        </p:txBody>
      </p:sp>
      <p:sp>
        <p:nvSpPr>
          <p:cNvPr id="35" name="Text 33"/>
          <p:cNvSpPr txBox="1"/>
          <p:nvPr/>
        </p:nvSpPr>
        <p:spPr>
          <a:xfrm>
            <a:off x="3295280" y="4277016"/>
            <a:ext cx="56648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파일 없음</a:t>
            </a:r>
            <a:endParaRPr lang="en-US" sz="628" dirty="0"/>
          </a:p>
        </p:txBody>
      </p:sp>
      <p:sp>
        <p:nvSpPr>
          <p:cNvPr id="36" name="Text 34"/>
          <p:cNvSpPr txBox="1"/>
          <p:nvPr/>
        </p:nvSpPr>
        <p:spPr>
          <a:xfrm>
            <a:off x="1874709" y="4614389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동영상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2745348" y="4549091"/>
            <a:ext cx="4643410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1625" y="4578112"/>
            <a:ext cx="455612" cy="188639"/>
          </a:xfrm>
          <a:prstGeom prst="rect">
            <a:avLst/>
          </a:prstGeom>
          <a:solidFill>
            <a:srgbClr val="EEEEEE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54178" y="4578112"/>
            <a:ext cx="333286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선택</a:t>
            </a:r>
            <a:endParaRPr lang="en-US" sz="628" dirty="0"/>
          </a:p>
        </p:txBody>
      </p:sp>
      <p:sp>
        <p:nvSpPr>
          <p:cNvPr id="40" name="Text 38"/>
          <p:cNvSpPr txBox="1"/>
          <p:nvPr/>
        </p:nvSpPr>
        <p:spPr>
          <a:xfrm>
            <a:off x="3295280" y="4625272"/>
            <a:ext cx="56648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파일 없음</a:t>
            </a:r>
            <a:endParaRPr lang="en-US" sz="628" dirty="0"/>
          </a:p>
        </p:txBody>
      </p:sp>
      <p:sp>
        <p:nvSpPr>
          <p:cNvPr id="41" name="Shape 39"/>
          <p:cNvSpPr/>
          <p:nvPr/>
        </p:nvSpPr>
        <p:spPr>
          <a:xfrm>
            <a:off x="1729602" y="4940879"/>
            <a:ext cx="5804263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726" y="5049709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23321" y="5049709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6977019" y="5049709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07615" y="5049709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9263581" y="0"/>
            <a:ext cx="2925258" cy="2336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642538" y="161068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1642538" y="161068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71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87782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자료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자료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자료 등록"(1-2) 또는 행 "수정"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제목*, 과제*, 담당자*, 담당자 이메일*, 상세 설명, 첨부 문서, 첨부 동영상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필수값(제목, 과제, 담당자, 담당자 이메일)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협의체명 검색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2445046" y="1146342"/>
            <a:ext cx="652980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03088" y="1146342"/>
            <a:ext cx="56954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분과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3170579" y="1146342"/>
            <a:ext cx="87063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28621" y="1146342"/>
            <a:ext cx="79808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의제 검색</a:t>
            </a:r>
            <a:endParaRPr lang="en-US" sz="686" dirty="0"/>
          </a:p>
        </p:txBody>
      </p:sp>
      <p:sp>
        <p:nvSpPr>
          <p:cNvPr id="9" name="Shape 7"/>
          <p:cNvSpPr/>
          <p:nvPr/>
        </p:nvSpPr>
        <p:spPr>
          <a:xfrm>
            <a:off x="4113771" y="1146342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71814" y="1146342"/>
            <a:ext cx="870639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분과장 검색</a:t>
            </a:r>
            <a:endParaRPr lang="en-US" sz="686" dirty="0"/>
          </a:p>
        </p:txBody>
      </p:sp>
      <p:sp>
        <p:nvSpPr>
          <p:cNvPr id="11" name="Shape 9"/>
          <p:cNvSpPr/>
          <p:nvPr/>
        </p:nvSpPr>
        <p:spPr>
          <a:xfrm>
            <a:off x="5129517" y="1146342"/>
            <a:ext cx="79808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87560" y="1146342"/>
            <a:ext cx="721905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13" name="Shape 11"/>
          <p:cNvSpPr/>
          <p:nvPr/>
        </p:nvSpPr>
        <p:spPr>
          <a:xfrm>
            <a:off x="6000157" y="1146342"/>
            <a:ext cx="652980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58199" y="1146342"/>
            <a:ext cx="56954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상태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15" name="Shape 13"/>
          <p:cNvSpPr/>
          <p:nvPr/>
        </p:nvSpPr>
        <p:spPr>
          <a:xfrm>
            <a:off x="6725690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5690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8501771" y="1146342"/>
            <a:ext cx="638469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1771" y="1146342"/>
            <a:ext cx="670392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협의체 등록</a:t>
            </a:r>
            <a:endParaRPr lang="en-US" sz="686" dirty="0"/>
          </a:p>
        </p:txBody>
      </p:sp>
      <p:sp>
        <p:nvSpPr>
          <p:cNvPr id="19" name="Shape 17"/>
          <p:cNvSpPr/>
          <p:nvPr/>
        </p:nvSpPr>
        <p:spPr>
          <a:xfrm>
            <a:off x="1501853" y="1523619"/>
            <a:ext cx="7638387" cy="249583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2736" y="1534502"/>
            <a:ext cx="380791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70779" y="159254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1893527" y="1534502"/>
            <a:ext cx="1675641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51570" y="1592545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협의체명</a:t>
            </a:r>
            <a:endParaRPr lang="en-US" sz="686" dirty="0"/>
          </a:p>
        </p:txBody>
      </p:sp>
      <p:sp>
        <p:nvSpPr>
          <p:cNvPr id="24" name="Shape 22"/>
          <p:cNvSpPr/>
          <p:nvPr/>
        </p:nvSpPr>
        <p:spPr>
          <a:xfrm>
            <a:off x="3569168" y="1534502"/>
            <a:ext cx="761583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27211" y="159254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4330751" y="1534502"/>
            <a:ext cx="152327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8794" y="1592545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의제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5854030" y="1534502"/>
            <a:ext cx="91394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12073" y="159254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분과장</a:t>
            </a:r>
            <a:endParaRPr lang="en-US" sz="686" dirty="0"/>
          </a:p>
        </p:txBody>
      </p:sp>
      <p:sp>
        <p:nvSpPr>
          <p:cNvPr id="30" name="Shape 28"/>
          <p:cNvSpPr/>
          <p:nvPr/>
        </p:nvSpPr>
        <p:spPr>
          <a:xfrm>
            <a:off x="6767975" y="1534502"/>
            <a:ext cx="121855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26017" y="159254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7986530" y="1534502"/>
            <a:ext cx="1142828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4572" y="1592545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메일상태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1512736" y="1759417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70779" y="1817460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1893527" y="1759417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951570" y="1817460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26H1 협의체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3569168" y="1759417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27211" y="181746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4330751" y="1759417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88794" y="1817460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리뷰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5854030" y="1759417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12073" y="1817460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이**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6767975" y="1759417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26017" y="1817460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2026-08-20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7986530" y="1759417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4572" y="1817460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발송완료</a:t>
            </a:r>
            <a:endParaRPr lang="en-US" sz="686" dirty="0"/>
          </a:p>
        </p:txBody>
      </p:sp>
      <p:sp>
        <p:nvSpPr>
          <p:cNvPr id="48" name="Shape 46"/>
          <p:cNvSpPr/>
          <p:nvPr/>
        </p:nvSpPr>
        <p:spPr>
          <a:xfrm>
            <a:off x="1512736" y="1984332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570779" y="204237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686" dirty="0"/>
          </a:p>
        </p:txBody>
      </p:sp>
      <p:sp>
        <p:nvSpPr>
          <p:cNvPr id="50" name="Shape 48"/>
          <p:cNvSpPr/>
          <p:nvPr/>
        </p:nvSpPr>
        <p:spPr>
          <a:xfrm>
            <a:off x="1893527" y="1984332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51570" y="2042375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26H2 조립 협의체 1</a:t>
            </a:r>
            <a:endParaRPr lang="en-US" sz="686" dirty="0"/>
          </a:p>
        </p:txBody>
      </p:sp>
      <p:sp>
        <p:nvSpPr>
          <p:cNvPr id="52" name="Shape 50"/>
          <p:cNvSpPr/>
          <p:nvPr/>
        </p:nvSpPr>
        <p:spPr>
          <a:xfrm>
            <a:off x="3569168" y="1984332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27211" y="204237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4330751" y="1984332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388794" y="2042375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협의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5854030" y="1984332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912073" y="204237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박**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6767975" y="1984332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26017" y="204237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2026-02-02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7986530" y="1984332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044572" y="2042375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발송대기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1512736" y="2209248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570779" y="2267290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1893527" y="2209248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951570" y="2267290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26H1 도장 협의체 1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3569168" y="220924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627211" y="2267290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4330751" y="2209248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388794" y="2267290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 점검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5854030" y="220924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912073" y="2267290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최**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6767975" y="220924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826017" y="2267290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2026-03-03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7986530" y="2209248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044572" y="2267290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발송완료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1512736" y="2434163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570779" y="2492205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1893527" y="2434163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951570" y="2492205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26H2 엔진 협의체 1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3569168" y="243416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627211" y="2492205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4330751" y="2434163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388794" y="2492205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차기 계획 수립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5854030" y="243416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912073" y="2492205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정**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6767975" y="243416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826017" y="249220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2026-04-04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7986530" y="2434163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044572" y="2492205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발송대기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1512736" y="2659078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570779" y="2717121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1893527" y="2659078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951570" y="2717121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26H1 물류 협의체 1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3569168" y="265907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627211" y="271712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4330751" y="2659078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388794" y="2717121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리뷰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5854030" y="265907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912073" y="271712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이**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6767975" y="265907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826017" y="271712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2026-05-05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7986530" y="2659078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044572" y="2717121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발송완료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1512736" y="2883993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570779" y="2942036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1893527" y="2883993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951570" y="2942036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26H2 차체 협의체 2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3569168" y="288399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627211" y="294203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4330751" y="2883993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388794" y="2942036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협의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5854030" y="288399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912073" y="294203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박**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6767975" y="288399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826017" y="294203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2026-06-06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7986530" y="2883993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8044572" y="2942036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발송대기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1512736" y="3108908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570779" y="3166951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1893527" y="3108908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951570" y="3166951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26H1 조립 협의체 2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3569168" y="3108908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3627211" y="316695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4330751" y="3108908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4388794" y="3166951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현황 점검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5854030" y="3108908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912073" y="316695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최**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6767975" y="310890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6826017" y="316695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2026-07-07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7986530" y="3108908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8044572" y="3166951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발송완료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1512736" y="3333823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570779" y="3391866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1893527" y="3333823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1951570" y="3391866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26H2 도장 협의체 2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3569168" y="3333823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3627211" y="339186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4330751" y="3333823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4388794" y="3391866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차기 계획 수립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5854030" y="3333823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912073" y="339186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정**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6767975" y="333382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6826017" y="339186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2026-08-08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7986530" y="3333823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8044572" y="3391866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발송대기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1512736" y="3558739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570779" y="3616781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1893527" y="3558739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951570" y="3616781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26H1 엔진 협의체 2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3569168" y="3558739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3627211" y="3616781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4330751" y="3558739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4388794" y="3616781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 리뷰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5854030" y="3558739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912073" y="3616781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이**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6767975" y="3558739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6826017" y="361678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2026-09-09</a:t>
            </a:r>
            <a:endParaRPr lang="en-US" sz="686" dirty="0"/>
          </a:p>
        </p:txBody>
      </p:sp>
      <p:sp>
        <p:nvSpPr>
          <p:cNvPr id="158" name="Shape 156"/>
          <p:cNvSpPr/>
          <p:nvPr/>
        </p:nvSpPr>
        <p:spPr>
          <a:xfrm>
            <a:off x="7986530" y="3558739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044572" y="3616781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발송완료</a:t>
            </a:r>
            <a:endParaRPr lang="en-US" sz="686" dirty="0"/>
          </a:p>
        </p:txBody>
      </p:sp>
      <p:sp>
        <p:nvSpPr>
          <p:cNvPr id="160" name="Shape 158"/>
          <p:cNvSpPr/>
          <p:nvPr/>
        </p:nvSpPr>
        <p:spPr>
          <a:xfrm>
            <a:off x="1512736" y="3783654"/>
            <a:ext cx="38079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1570779" y="3841696"/>
            <a:ext cx="28374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686" dirty="0"/>
          </a:p>
        </p:txBody>
      </p:sp>
      <p:sp>
        <p:nvSpPr>
          <p:cNvPr id="162" name="Shape 160"/>
          <p:cNvSpPr/>
          <p:nvPr/>
        </p:nvSpPr>
        <p:spPr>
          <a:xfrm>
            <a:off x="1893527" y="3783654"/>
            <a:ext cx="167564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1951570" y="3841696"/>
            <a:ext cx="160308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26H2 물류 협의체 2</a:t>
            </a:r>
            <a:endParaRPr lang="en-US" sz="686" dirty="0"/>
          </a:p>
        </p:txBody>
      </p:sp>
      <p:sp>
        <p:nvSpPr>
          <p:cNvPr id="164" name="Shape 162"/>
          <p:cNvSpPr/>
          <p:nvPr/>
        </p:nvSpPr>
        <p:spPr>
          <a:xfrm>
            <a:off x="3569168" y="3783654"/>
            <a:ext cx="761583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3627211" y="3841696"/>
            <a:ext cx="683577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686" dirty="0"/>
          </a:p>
        </p:txBody>
      </p:sp>
      <p:sp>
        <p:nvSpPr>
          <p:cNvPr id="166" name="Shape 164"/>
          <p:cNvSpPr/>
          <p:nvPr/>
        </p:nvSpPr>
        <p:spPr>
          <a:xfrm>
            <a:off x="4330751" y="3783654"/>
            <a:ext cx="152327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4388794" y="3841696"/>
            <a:ext cx="145072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협의</a:t>
            </a:r>
            <a:endParaRPr lang="en-US" sz="686" dirty="0"/>
          </a:p>
        </p:txBody>
      </p:sp>
      <p:sp>
        <p:nvSpPr>
          <p:cNvPr id="168" name="Shape 166"/>
          <p:cNvSpPr/>
          <p:nvPr/>
        </p:nvSpPr>
        <p:spPr>
          <a:xfrm>
            <a:off x="5854030" y="3783654"/>
            <a:ext cx="91394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5912073" y="3841696"/>
            <a:ext cx="841391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박**</a:t>
            </a:r>
            <a:endParaRPr lang="en-US" sz="686" dirty="0"/>
          </a:p>
        </p:txBody>
      </p:sp>
      <p:sp>
        <p:nvSpPr>
          <p:cNvPr id="170" name="Shape 168"/>
          <p:cNvSpPr/>
          <p:nvPr/>
        </p:nvSpPr>
        <p:spPr>
          <a:xfrm>
            <a:off x="6767975" y="3783654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6826017" y="384169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2026-10-10</a:t>
            </a:r>
            <a:endParaRPr lang="en-US" sz="686" dirty="0"/>
          </a:p>
        </p:txBody>
      </p:sp>
      <p:sp>
        <p:nvSpPr>
          <p:cNvPr id="172" name="Shape 170"/>
          <p:cNvSpPr/>
          <p:nvPr/>
        </p:nvSpPr>
        <p:spPr>
          <a:xfrm>
            <a:off x="7986530" y="3783654"/>
            <a:ext cx="1142828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8044572" y="3841696"/>
            <a:ext cx="107027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발송대기</a:t>
            </a:r>
            <a:endParaRPr lang="en-US" sz="686" dirty="0"/>
          </a:p>
        </p:txBody>
      </p:sp>
      <p:sp>
        <p:nvSpPr>
          <p:cNvPr id="174" name="Shape 172"/>
          <p:cNvSpPr/>
          <p:nvPr/>
        </p:nvSpPr>
        <p:spPr>
          <a:xfrm>
            <a:off x="4849394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4849394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76" name="Shape 174"/>
          <p:cNvSpPr/>
          <p:nvPr/>
        </p:nvSpPr>
        <p:spPr>
          <a:xfrm>
            <a:off x="5096075" y="413553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5096075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78" name="Shape 176"/>
          <p:cNvSpPr/>
          <p:nvPr/>
        </p:nvSpPr>
        <p:spPr>
          <a:xfrm>
            <a:off x="5342756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5342756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80" name="Shape 178"/>
          <p:cNvSpPr/>
          <p:nvPr/>
        </p:nvSpPr>
        <p:spPr>
          <a:xfrm>
            <a:off x="5589437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5589437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82" name="Shape 180"/>
          <p:cNvSpPr/>
          <p:nvPr/>
        </p:nvSpPr>
        <p:spPr>
          <a:xfrm>
            <a:off x="9263581" y="0"/>
            <a:ext cx="2925258" cy="4672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3" name="Shape 181"/>
          <p:cNvSpPr/>
          <p:nvPr/>
        </p:nvSpPr>
        <p:spPr>
          <a:xfrm>
            <a:off x="7059435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4" name="Text 182"/>
          <p:cNvSpPr txBox="1"/>
          <p:nvPr/>
        </p:nvSpPr>
        <p:spPr>
          <a:xfrm>
            <a:off x="7059435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85" name="Shape 183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6" name="Text 184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87" name="Shape 185"/>
          <p:cNvSpPr/>
          <p:nvPr/>
        </p:nvSpPr>
        <p:spPr>
          <a:xfrm>
            <a:off x="1414789" y="40484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88" name="Text 186"/>
          <p:cNvSpPr txBox="1"/>
          <p:nvPr/>
        </p:nvSpPr>
        <p:spPr>
          <a:xfrm>
            <a:off x="1414789" y="40484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89" name="Shape 187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0" name="Text 188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91" name="Shape 189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2" name="Text 190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4465088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099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&amp;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협의체명/분과/의제/대상 분과장/일정/상태 조건 필터와 신규 등록 버튼으로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/api/admin/council?name=§ion=&amp;agenda=&amp;target=&amp;schedule=&amp;status=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협의체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표시(관리자 화면).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분과 선택 후 연동 mTRM 옵션이 표시됨(힌트: "분과를 먼저 선택하세요").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"협의체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mTRM 협의체(SCR-011) 전용.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77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mTRM 협의체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분과별 mTRM 협의체 13건과 메일 발송 상태를 관리하는 목록 표이다(페이지당 10건, 2페이지).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메일상태 뱃지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발송완료=녹색, 발송대기=회색 뱃지로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/api/admin/council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33135"/>
                <a:gridCol w="1103602"/>
                <a:gridCol w="1577313"/>
                <a:gridCol w="1996710"/>
                <a:gridCol w="3304566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/portal/admin/council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33493" cy="159617"/>
        </p:xfrm>
        <a:graphic>
          <a:graphicData uri="http://schemas.openxmlformats.org/drawingml/2006/table">
            <a:tbl>
              <a:tblPr/>
              <a:tblGrid>
                <a:gridCol w="26675"/>
                <a:gridCol w="480144"/>
                <a:gridCol w="26675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SCR-011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3022812"/>
                <a:gridCol w="4199724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공유&gt;mTRM 협의체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934436" cy="232171"/>
        </p:xfrm>
        <a:graphic>
          <a:graphicData uri="http://schemas.openxmlformats.org/drawingml/2006/table">
            <a:tbl>
              <a:tblPr/>
              <a:tblGrid>
                <a:gridCol w="93443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협의체명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45046" y="1146342"/>
          <a:ext cx="700827" cy="232171"/>
        </p:xfrm>
        <a:graphic>
          <a:graphicData uri="http://schemas.openxmlformats.org/drawingml/2006/table">
            <a:tbl>
              <a:tblPr/>
              <a:tblGrid>
                <a:gridCol w="536235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분과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5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70579" y="1146342"/>
          <a:ext cx="934436" cy="232171"/>
        </p:xfrm>
        <a:graphic>
          <a:graphicData uri="http://schemas.openxmlformats.org/drawingml/2006/table">
            <a:tbl>
              <a:tblPr/>
              <a:tblGrid>
                <a:gridCol w="93443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의제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3771" y="1146342"/>
          <a:ext cx="1012306" cy="232171"/>
        </p:xfrm>
        <a:graphic>
          <a:graphicData uri="http://schemas.openxmlformats.org/drawingml/2006/table">
            <a:tbl>
              <a:tblPr/>
              <a:tblGrid>
                <a:gridCol w="101230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분과장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7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9517" y="1146342"/>
          <a:ext cx="856567" cy="232171"/>
        </p:xfrm>
        <a:graphic>
          <a:graphicData uri="http://schemas.openxmlformats.org/drawingml/2006/table">
            <a:tbl>
              <a:tblPr/>
              <a:tblGrid>
                <a:gridCol w="856567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3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48004" y="1146342"/>
          <a:ext cx="700827" cy="232171"/>
        </p:xfrm>
        <a:graphic>
          <a:graphicData uri="http://schemas.openxmlformats.org/drawingml/2006/table">
            <a:tbl>
              <a:tblPr/>
              <a:tblGrid>
                <a:gridCol w="536235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상태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5690" y="1146342"/>
          <a:ext cx="498366" cy="232171"/>
        </p:xfrm>
        <a:graphic>
          <a:graphicData uri="http://schemas.openxmlformats.org/drawingml/2006/table">
            <a:tbl>
              <a:tblPr/>
              <a:tblGrid>
                <a:gridCol w="49836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5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1771" y="1146342"/>
          <a:ext cx="685253" cy="232171"/>
        </p:xfrm>
        <a:graphic>
          <a:graphicData uri="http://schemas.openxmlformats.org/drawingml/2006/table">
            <a:tbl>
              <a:tblPr/>
              <a:tblGrid>
                <a:gridCol w="685253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78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협의체 등록</a:t>
                      </a:r>
                      <a:endParaRPr lang="en-US" sz="778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1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1530874"/>
          <a:ext cx="7623877" cy="2773208"/>
        </p:xfrm>
        <a:graphic>
          <a:graphicData uri="http://schemas.openxmlformats.org/drawingml/2006/table">
            <a:tbl>
              <a:tblPr/>
              <a:tblGrid>
                <a:gridCol w="381194"/>
                <a:gridCol w="1677253"/>
                <a:gridCol w="762388"/>
                <a:gridCol w="1524775"/>
                <a:gridCol w="914865"/>
                <a:gridCol w="1219820"/>
                <a:gridCol w="1143581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협의체명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분과장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메일상태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26H1 협의체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로드맵 리뷰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2026-08-20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26H2 조립 협의체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협의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2026-02-02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발송대기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26H1 도장 협의체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현황 점검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26H2 엔진 협의체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차기 계획 수립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발송대기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26H1 물류 협의체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로드맵 리뷰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26H2 차체 협의체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협의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2026-06-06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발송대기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26H1 조립 협의체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현황 점검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26H2 도장 협의체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차기 계획 수립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발송대기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26H1 엔진 협의체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로드맵 리뷰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2026-09-09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발송완료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26H2 물류 협의체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협의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박**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2026-10-10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발송대기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8" name="Shape 191"/>
          <p:cNvSpPr/>
          <p:nvPr/>
        </p:nvSpPr>
        <p:spPr>
          <a:xfrm>
            <a:off x="7059435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09" name="Text 192"/>
          <p:cNvSpPr txBox="1"/>
          <p:nvPr/>
        </p:nvSpPr>
        <p:spPr>
          <a:xfrm>
            <a:off x="7059435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210" name="Shape 193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11" name="Text 194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212" name="Shape 195"/>
          <p:cNvSpPr/>
          <p:nvPr/>
        </p:nvSpPr>
        <p:spPr>
          <a:xfrm>
            <a:off x="1414789" y="40484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13" name="Text 196"/>
          <p:cNvSpPr txBox="1"/>
          <p:nvPr/>
        </p:nvSpPr>
        <p:spPr>
          <a:xfrm>
            <a:off x="1414789" y="40484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214" name="Shape 197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15" name="Text 198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16" name="Shape 199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17" name="Text 200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33493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02897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34111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34111" y="337882"/>
            <a:ext cx="148235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 - 협의체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63147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763147" y="348765"/>
            <a:ext cx="1014612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협의체 등록"(1-2)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024440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024440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0455" y="1806577"/>
            <a:ext cx="3482558" cy="3482558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35561" y="1937173"/>
            <a:ext cx="538935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협의체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068289" y="1922662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035561" y="241602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협의체명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906201" y="2350726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78754" y="2350726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협의체명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3035561" y="276428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906201" y="2698982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8754" y="2698982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3035561" y="3112536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mTRM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906201" y="3047238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8754" y="3047238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분과를 먼저 선택하세요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3035561" y="346079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의제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906201" y="3395494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78754" y="3395494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의제 입력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3035561" y="380904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분과장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906201" y="3743750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8754" y="3743750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수신자(To)로 자동 발송됩니다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3035561" y="4157303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참조(CC)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3906201" y="4092005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78754" y="4092005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입력 후 Enter</a:t>
            </a:r>
            <a:endParaRPr lang="en-US" sz="686" dirty="0"/>
          </a:p>
        </p:txBody>
      </p:sp>
      <p:sp>
        <p:nvSpPr>
          <p:cNvPr id="34" name="Text 32"/>
          <p:cNvSpPr txBox="1"/>
          <p:nvPr/>
        </p:nvSpPr>
        <p:spPr>
          <a:xfrm>
            <a:off x="3035561" y="4505559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3906201" y="4440261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78754" y="4440261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2890455" y="4832049"/>
            <a:ext cx="348255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31873" y="4940879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62469" y="4940879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5816166" y="4940879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46762" y="4940879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9263581" y="0"/>
            <a:ext cx="2925258" cy="2336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803391" y="171951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2803391" y="171951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71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00178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727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협의체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협의체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협의체 등록"(1-2)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협의체명*, 분과*, 연동 mTRM*, 의제, 대상 분과장*, 참조(CC), 일정*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필수값(협의체명, 분과, 연동 mTRM, 대상 분과장, 일정)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943193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9896" y="1146342"/>
            <a:ext cx="870639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mTRM명 검색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2517599" y="1146342"/>
            <a:ext cx="652980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75642" y="1146342"/>
            <a:ext cx="56954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분과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3243132" y="1146342"/>
            <a:ext cx="652980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01175" y="1146342"/>
            <a:ext cx="56954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상태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9" name="Shape 7"/>
          <p:cNvSpPr/>
          <p:nvPr/>
        </p:nvSpPr>
        <p:spPr>
          <a:xfrm>
            <a:off x="3968665" y="1146342"/>
            <a:ext cx="798086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6707" y="1146342"/>
            <a:ext cx="721905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11" name="Shape 9"/>
          <p:cNvSpPr/>
          <p:nvPr/>
        </p:nvSpPr>
        <p:spPr>
          <a:xfrm>
            <a:off x="4839304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39304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13" name="Shape 11"/>
          <p:cNvSpPr/>
          <p:nvPr/>
        </p:nvSpPr>
        <p:spPr>
          <a:xfrm>
            <a:off x="8559814" y="1146342"/>
            <a:ext cx="580426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9814" y="1146342"/>
            <a:ext cx="609448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mTRM 등록</a:t>
            </a:r>
            <a:endParaRPr lang="en-US" sz="686" dirty="0"/>
          </a:p>
        </p:txBody>
      </p:sp>
      <p:sp>
        <p:nvSpPr>
          <p:cNvPr id="15" name="Shape 13"/>
          <p:cNvSpPr/>
          <p:nvPr/>
        </p:nvSpPr>
        <p:spPr>
          <a:xfrm>
            <a:off x="1501853" y="1523619"/>
            <a:ext cx="7638387" cy="2495833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12736" y="1534502"/>
            <a:ext cx="45697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70779" y="159254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endParaRPr lang="en-US" sz="686" dirty="0"/>
          </a:p>
        </p:txBody>
      </p:sp>
      <p:sp>
        <p:nvSpPr>
          <p:cNvPr id="18" name="Shape 16"/>
          <p:cNvSpPr/>
          <p:nvPr/>
        </p:nvSpPr>
        <p:spPr>
          <a:xfrm>
            <a:off x="1969708" y="1534502"/>
            <a:ext cx="1980251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27751" y="1592545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mTRM명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949960" y="1534502"/>
            <a:ext cx="106630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08002" y="159254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5016266" y="1534502"/>
            <a:ext cx="1218555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309" y="159254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686" dirty="0"/>
          </a:p>
        </p:txBody>
      </p:sp>
      <p:sp>
        <p:nvSpPr>
          <p:cNvPr id="24" name="Shape 22"/>
          <p:cNvSpPr/>
          <p:nvPr/>
        </p:nvSpPr>
        <p:spPr>
          <a:xfrm>
            <a:off x="6234821" y="1534502"/>
            <a:ext cx="1370917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92864" y="159254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등록일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7605738" y="1534502"/>
            <a:ext cx="152361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63781" y="1592545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1512736" y="1759417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70779" y="181746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686" dirty="0"/>
          </a:p>
        </p:txBody>
      </p:sp>
      <p:sp>
        <p:nvSpPr>
          <p:cNvPr id="30" name="Shape 28"/>
          <p:cNvSpPr/>
          <p:nvPr/>
        </p:nvSpPr>
        <p:spPr>
          <a:xfrm>
            <a:off x="1969708" y="1759417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27751" y="1817460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mTRM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3949960" y="1759417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8002" y="181746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86" dirty="0"/>
          </a:p>
        </p:txBody>
      </p:sp>
      <p:sp>
        <p:nvSpPr>
          <p:cNvPr id="34" name="Shape 32"/>
          <p:cNvSpPr/>
          <p:nvPr/>
        </p:nvSpPr>
        <p:spPr>
          <a:xfrm>
            <a:off x="5016266" y="1759417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309" y="1817460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6234821" y="1759417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92864" y="181746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2026-01-05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7605738" y="1759417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63781" y="1817460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40" name="Shape 38"/>
          <p:cNvSpPr/>
          <p:nvPr/>
        </p:nvSpPr>
        <p:spPr>
          <a:xfrm>
            <a:off x="1512736" y="1984332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70779" y="204237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686" dirty="0"/>
          </a:p>
        </p:txBody>
      </p:sp>
      <p:sp>
        <p:nvSpPr>
          <p:cNvPr id="42" name="Shape 40"/>
          <p:cNvSpPr/>
          <p:nvPr/>
        </p:nvSpPr>
        <p:spPr>
          <a:xfrm>
            <a:off x="1969708" y="1984332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027751" y="2042375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mTRM 1</a:t>
            </a:r>
            <a:endParaRPr lang="en-US" sz="686" dirty="0"/>
          </a:p>
        </p:txBody>
      </p:sp>
      <p:sp>
        <p:nvSpPr>
          <p:cNvPr id="44" name="Shape 42"/>
          <p:cNvSpPr/>
          <p:nvPr/>
        </p:nvSpPr>
        <p:spPr>
          <a:xfrm>
            <a:off x="3949960" y="1984332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08002" y="204237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46" name="Shape 44"/>
          <p:cNvSpPr/>
          <p:nvPr/>
        </p:nvSpPr>
        <p:spPr>
          <a:xfrm>
            <a:off x="5016266" y="1984332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74309" y="204237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</a:t>
            </a:r>
            <a:endParaRPr lang="en-US" sz="686" dirty="0"/>
          </a:p>
        </p:txBody>
      </p:sp>
      <p:sp>
        <p:nvSpPr>
          <p:cNvPr id="48" name="Shape 46"/>
          <p:cNvSpPr/>
          <p:nvPr/>
        </p:nvSpPr>
        <p:spPr>
          <a:xfrm>
            <a:off x="6234821" y="1984332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92864" y="204237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2026-02-02</a:t>
            </a:r>
            <a:endParaRPr lang="en-US" sz="686" dirty="0"/>
          </a:p>
        </p:txBody>
      </p:sp>
      <p:sp>
        <p:nvSpPr>
          <p:cNvPr id="50" name="Shape 48"/>
          <p:cNvSpPr/>
          <p:nvPr/>
        </p:nvSpPr>
        <p:spPr>
          <a:xfrm>
            <a:off x="7605738" y="1984332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63781" y="2042375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52" name="Shape 50"/>
          <p:cNvSpPr/>
          <p:nvPr/>
        </p:nvSpPr>
        <p:spPr>
          <a:xfrm>
            <a:off x="1512736" y="220924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570779" y="2267290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686" dirty="0"/>
          </a:p>
        </p:txBody>
      </p:sp>
      <p:sp>
        <p:nvSpPr>
          <p:cNvPr id="54" name="Shape 52"/>
          <p:cNvSpPr/>
          <p:nvPr/>
        </p:nvSpPr>
        <p:spPr>
          <a:xfrm>
            <a:off x="1969708" y="2209248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027751" y="2267290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mTRM 1</a:t>
            </a:r>
            <a:endParaRPr lang="en-US" sz="686" dirty="0"/>
          </a:p>
        </p:txBody>
      </p:sp>
      <p:sp>
        <p:nvSpPr>
          <p:cNvPr id="56" name="Shape 54"/>
          <p:cNvSpPr/>
          <p:nvPr/>
        </p:nvSpPr>
        <p:spPr>
          <a:xfrm>
            <a:off x="3949960" y="220924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008002" y="2267290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58" name="Shape 56"/>
          <p:cNvSpPr/>
          <p:nvPr/>
        </p:nvSpPr>
        <p:spPr>
          <a:xfrm>
            <a:off x="5016266" y="220924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074309" y="2267290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</a:t>
            </a:r>
            <a:endParaRPr lang="en-US" sz="686" dirty="0"/>
          </a:p>
        </p:txBody>
      </p:sp>
      <p:sp>
        <p:nvSpPr>
          <p:cNvPr id="60" name="Shape 58"/>
          <p:cNvSpPr/>
          <p:nvPr/>
        </p:nvSpPr>
        <p:spPr>
          <a:xfrm>
            <a:off x="6234821" y="220924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92864" y="2267290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2026-03-03</a:t>
            </a:r>
            <a:endParaRPr lang="en-US" sz="686" dirty="0"/>
          </a:p>
        </p:txBody>
      </p:sp>
      <p:sp>
        <p:nvSpPr>
          <p:cNvPr id="62" name="Shape 60"/>
          <p:cNvSpPr/>
          <p:nvPr/>
        </p:nvSpPr>
        <p:spPr>
          <a:xfrm>
            <a:off x="7605738" y="2209248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663781" y="2267290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64" name="Shape 62"/>
          <p:cNvSpPr/>
          <p:nvPr/>
        </p:nvSpPr>
        <p:spPr>
          <a:xfrm>
            <a:off x="1512736" y="243416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570779" y="2492205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686" dirty="0"/>
          </a:p>
        </p:txBody>
      </p:sp>
      <p:sp>
        <p:nvSpPr>
          <p:cNvPr id="66" name="Shape 64"/>
          <p:cNvSpPr/>
          <p:nvPr/>
        </p:nvSpPr>
        <p:spPr>
          <a:xfrm>
            <a:off x="1969708" y="2434163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027751" y="2492205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mTRM 1</a:t>
            </a:r>
            <a:endParaRPr lang="en-US" sz="686" dirty="0"/>
          </a:p>
        </p:txBody>
      </p:sp>
      <p:sp>
        <p:nvSpPr>
          <p:cNvPr id="68" name="Shape 66"/>
          <p:cNvSpPr/>
          <p:nvPr/>
        </p:nvSpPr>
        <p:spPr>
          <a:xfrm>
            <a:off x="3949960" y="243416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08002" y="2492205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</a:t>
            </a:r>
            <a:endParaRPr lang="en-US" sz="686" dirty="0"/>
          </a:p>
        </p:txBody>
      </p:sp>
      <p:sp>
        <p:nvSpPr>
          <p:cNvPr id="70" name="Shape 68"/>
          <p:cNvSpPr/>
          <p:nvPr/>
        </p:nvSpPr>
        <p:spPr>
          <a:xfrm>
            <a:off x="5016266" y="243416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074309" y="2492205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</a:t>
            </a:r>
            <a:endParaRPr lang="en-US" sz="686" dirty="0"/>
          </a:p>
        </p:txBody>
      </p:sp>
      <p:sp>
        <p:nvSpPr>
          <p:cNvPr id="72" name="Shape 70"/>
          <p:cNvSpPr/>
          <p:nvPr/>
        </p:nvSpPr>
        <p:spPr>
          <a:xfrm>
            <a:off x="6234821" y="243416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292864" y="2492205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2026-04-04</a:t>
            </a:r>
            <a:endParaRPr lang="en-US" sz="686" dirty="0"/>
          </a:p>
        </p:txBody>
      </p:sp>
      <p:sp>
        <p:nvSpPr>
          <p:cNvPr id="74" name="Shape 72"/>
          <p:cNvSpPr/>
          <p:nvPr/>
        </p:nvSpPr>
        <p:spPr>
          <a:xfrm>
            <a:off x="7605738" y="2434163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663781" y="2492205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76" name="Shape 74"/>
          <p:cNvSpPr/>
          <p:nvPr/>
        </p:nvSpPr>
        <p:spPr>
          <a:xfrm>
            <a:off x="1512736" y="265907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570779" y="271712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686" dirty="0"/>
          </a:p>
        </p:txBody>
      </p:sp>
      <p:sp>
        <p:nvSpPr>
          <p:cNvPr id="78" name="Shape 76"/>
          <p:cNvSpPr/>
          <p:nvPr/>
        </p:nvSpPr>
        <p:spPr>
          <a:xfrm>
            <a:off x="1969708" y="2659078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027751" y="2717121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mTRM 1</a:t>
            </a:r>
            <a:endParaRPr lang="en-US" sz="686" dirty="0"/>
          </a:p>
        </p:txBody>
      </p:sp>
      <p:sp>
        <p:nvSpPr>
          <p:cNvPr id="80" name="Shape 78"/>
          <p:cNvSpPr/>
          <p:nvPr/>
        </p:nvSpPr>
        <p:spPr>
          <a:xfrm>
            <a:off x="3949960" y="265907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008002" y="271712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686" dirty="0"/>
          </a:p>
        </p:txBody>
      </p:sp>
      <p:sp>
        <p:nvSpPr>
          <p:cNvPr id="82" name="Shape 80"/>
          <p:cNvSpPr/>
          <p:nvPr/>
        </p:nvSpPr>
        <p:spPr>
          <a:xfrm>
            <a:off x="5016266" y="265907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74309" y="271712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</a:t>
            </a:r>
            <a:endParaRPr lang="en-US" sz="686" dirty="0"/>
          </a:p>
        </p:txBody>
      </p:sp>
      <p:sp>
        <p:nvSpPr>
          <p:cNvPr id="84" name="Shape 82"/>
          <p:cNvSpPr/>
          <p:nvPr/>
        </p:nvSpPr>
        <p:spPr>
          <a:xfrm>
            <a:off x="6234821" y="265907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292864" y="271712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2026-05-05</a:t>
            </a:r>
            <a:endParaRPr lang="en-US" sz="686" dirty="0"/>
          </a:p>
        </p:txBody>
      </p:sp>
      <p:sp>
        <p:nvSpPr>
          <p:cNvPr id="86" name="Shape 84"/>
          <p:cNvSpPr/>
          <p:nvPr/>
        </p:nvSpPr>
        <p:spPr>
          <a:xfrm>
            <a:off x="7605738" y="2659078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663781" y="2717121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88" name="Shape 86"/>
          <p:cNvSpPr/>
          <p:nvPr/>
        </p:nvSpPr>
        <p:spPr>
          <a:xfrm>
            <a:off x="1512736" y="288399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570779" y="294203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686" dirty="0"/>
          </a:p>
        </p:txBody>
      </p:sp>
      <p:sp>
        <p:nvSpPr>
          <p:cNvPr id="90" name="Shape 88"/>
          <p:cNvSpPr/>
          <p:nvPr/>
        </p:nvSpPr>
        <p:spPr>
          <a:xfrm>
            <a:off x="1969708" y="2883993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027751" y="2942036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 mTRM 2</a:t>
            </a:r>
            <a:endParaRPr lang="en-US" sz="686" dirty="0"/>
          </a:p>
        </p:txBody>
      </p:sp>
      <p:sp>
        <p:nvSpPr>
          <p:cNvPr id="92" name="Shape 90"/>
          <p:cNvSpPr/>
          <p:nvPr/>
        </p:nvSpPr>
        <p:spPr>
          <a:xfrm>
            <a:off x="3949960" y="288399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008002" y="294203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차체</a:t>
            </a:r>
            <a:endParaRPr lang="en-US" sz="686" dirty="0"/>
          </a:p>
        </p:txBody>
      </p:sp>
      <p:sp>
        <p:nvSpPr>
          <p:cNvPr id="94" name="Shape 92"/>
          <p:cNvSpPr/>
          <p:nvPr/>
        </p:nvSpPr>
        <p:spPr>
          <a:xfrm>
            <a:off x="5016266" y="288399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074309" y="294203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</a:t>
            </a:r>
            <a:endParaRPr lang="en-US" sz="686" dirty="0"/>
          </a:p>
        </p:txBody>
      </p:sp>
      <p:sp>
        <p:nvSpPr>
          <p:cNvPr id="96" name="Shape 94"/>
          <p:cNvSpPr/>
          <p:nvPr/>
        </p:nvSpPr>
        <p:spPr>
          <a:xfrm>
            <a:off x="6234821" y="288399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292864" y="294203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2026-06-06</a:t>
            </a:r>
            <a:endParaRPr lang="en-US" sz="686" dirty="0"/>
          </a:p>
        </p:txBody>
      </p:sp>
      <p:sp>
        <p:nvSpPr>
          <p:cNvPr id="98" name="Shape 96"/>
          <p:cNvSpPr/>
          <p:nvPr/>
        </p:nvSpPr>
        <p:spPr>
          <a:xfrm>
            <a:off x="7605738" y="2883993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663781" y="2942036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00" name="Shape 98"/>
          <p:cNvSpPr/>
          <p:nvPr/>
        </p:nvSpPr>
        <p:spPr>
          <a:xfrm>
            <a:off x="1512736" y="3108908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570779" y="316695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686" dirty="0"/>
          </a:p>
        </p:txBody>
      </p:sp>
      <p:sp>
        <p:nvSpPr>
          <p:cNvPr id="102" name="Shape 100"/>
          <p:cNvSpPr/>
          <p:nvPr/>
        </p:nvSpPr>
        <p:spPr>
          <a:xfrm>
            <a:off x="1969708" y="3108908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027751" y="3166951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 mTRM 2</a:t>
            </a:r>
            <a:endParaRPr lang="en-US" sz="686" dirty="0"/>
          </a:p>
        </p:txBody>
      </p:sp>
      <p:sp>
        <p:nvSpPr>
          <p:cNvPr id="104" name="Shape 102"/>
          <p:cNvSpPr/>
          <p:nvPr/>
        </p:nvSpPr>
        <p:spPr>
          <a:xfrm>
            <a:off x="3949960" y="3108908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008002" y="316695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조립</a:t>
            </a:r>
            <a:endParaRPr lang="en-US" sz="686" dirty="0"/>
          </a:p>
        </p:txBody>
      </p:sp>
      <p:sp>
        <p:nvSpPr>
          <p:cNvPr id="106" name="Shape 104"/>
          <p:cNvSpPr/>
          <p:nvPr/>
        </p:nvSpPr>
        <p:spPr>
          <a:xfrm>
            <a:off x="5016266" y="3108908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074309" y="316695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</a:t>
            </a:r>
            <a:endParaRPr lang="en-US" sz="686" dirty="0"/>
          </a:p>
        </p:txBody>
      </p:sp>
      <p:sp>
        <p:nvSpPr>
          <p:cNvPr id="108" name="Shape 106"/>
          <p:cNvSpPr/>
          <p:nvPr/>
        </p:nvSpPr>
        <p:spPr>
          <a:xfrm>
            <a:off x="6234821" y="3108908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292864" y="316695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2026-07-07</a:t>
            </a:r>
            <a:endParaRPr lang="en-US" sz="686" dirty="0"/>
          </a:p>
        </p:txBody>
      </p:sp>
      <p:sp>
        <p:nvSpPr>
          <p:cNvPr id="110" name="Shape 108"/>
          <p:cNvSpPr/>
          <p:nvPr/>
        </p:nvSpPr>
        <p:spPr>
          <a:xfrm>
            <a:off x="7605738" y="3108908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663781" y="3166951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12" name="Shape 110"/>
          <p:cNvSpPr/>
          <p:nvPr/>
        </p:nvSpPr>
        <p:spPr>
          <a:xfrm>
            <a:off x="1512736" y="3333823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570779" y="339186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686" dirty="0"/>
          </a:p>
        </p:txBody>
      </p:sp>
      <p:sp>
        <p:nvSpPr>
          <p:cNvPr id="114" name="Shape 112"/>
          <p:cNvSpPr/>
          <p:nvPr/>
        </p:nvSpPr>
        <p:spPr>
          <a:xfrm>
            <a:off x="1969708" y="3333823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027751" y="3391866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 mTRM 2</a:t>
            </a:r>
            <a:endParaRPr lang="en-US" sz="686" dirty="0"/>
          </a:p>
        </p:txBody>
      </p:sp>
      <p:sp>
        <p:nvSpPr>
          <p:cNvPr id="116" name="Shape 114"/>
          <p:cNvSpPr/>
          <p:nvPr/>
        </p:nvSpPr>
        <p:spPr>
          <a:xfrm>
            <a:off x="3949960" y="3333823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008002" y="339186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도장</a:t>
            </a:r>
            <a:endParaRPr lang="en-US" sz="686" dirty="0"/>
          </a:p>
        </p:txBody>
      </p:sp>
      <p:sp>
        <p:nvSpPr>
          <p:cNvPr id="118" name="Shape 116"/>
          <p:cNvSpPr/>
          <p:nvPr/>
        </p:nvSpPr>
        <p:spPr>
          <a:xfrm>
            <a:off x="5016266" y="3333823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5074309" y="339186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</a:t>
            </a:r>
            <a:endParaRPr lang="en-US" sz="686" dirty="0"/>
          </a:p>
        </p:txBody>
      </p:sp>
      <p:sp>
        <p:nvSpPr>
          <p:cNvPr id="120" name="Shape 118"/>
          <p:cNvSpPr/>
          <p:nvPr/>
        </p:nvSpPr>
        <p:spPr>
          <a:xfrm>
            <a:off x="6234821" y="3333823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292864" y="339186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2026-08-08</a:t>
            </a:r>
            <a:endParaRPr lang="en-US" sz="686" dirty="0"/>
          </a:p>
        </p:txBody>
      </p:sp>
      <p:sp>
        <p:nvSpPr>
          <p:cNvPr id="122" name="Shape 120"/>
          <p:cNvSpPr/>
          <p:nvPr/>
        </p:nvSpPr>
        <p:spPr>
          <a:xfrm>
            <a:off x="7605738" y="3333823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7663781" y="3391866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24" name="Shape 122"/>
          <p:cNvSpPr/>
          <p:nvPr/>
        </p:nvSpPr>
        <p:spPr>
          <a:xfrm>
            <a:off x="1512736" y="3558739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570779" y="3616781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686" dirty="0"/>
          </a:p>
        </p:txBody>
      </p:sp>
      <p:sp>
        <p:nvSpPr>
          <p:cNvPr id="126" name="Shape 124"/>
          <p:cNvSpPr/>
          <p:nvPr/>
        </p:nvSpPr>
        <p:spPr>
          <a:xfrm>
            <a:off x="1969708" y="3558739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027751" y="3616781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mTRM 2</a:t>
            </a:r>
            <a:endParaRPr lang="en-US" sz="686" dirty="0"/>
          </a:p>
        </p:txBody>
      </p:sp>
      <p:sp>
        <p:nvSpPr>
          <p:cNvPr id="128" name="Shape 126"/>
          <p:cNvSpPr/>
          <p:nvPr/>
        </p:nvSpPr>
        <p:spPr>
          <a:xfrm>
            <a:off x="3949960" y="3558739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4008002" y="3616781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</a:t>
            </a:r>
            <a:endParaRPr lang="en-US" sz="686" dirty="0"/>
          </a:p>
        </p:txBody>
      </p:sp>
      <p:sp>
        <p:nvSpPr>
          <p:cNvPr id="130" name="Shape 128"/>
          <p:cNvSpPr/>
          <p:nvPr/>
        </p:nvSpPr>
        <p:spPr>
          <a:xfrm>
            <a:off x="5016266" y="3558739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074309" y="3616781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활성</a:t>
            </a:r>
            <a:endParaRPr lang="en-US" sz="686" dirty="0"/>
          </a:p>
        </p:txBody>
      </p:sp>
      <p:sp>
        <p:nvSpPr>
          <p:cNvPr id="132" name="Shape 130"/>
          <p:cNvSpPr/>
          <p:nvPr/>
        </p:nvSpPr>
        <p:spPr>
          <a:xfrm>
            <a:off x="6234821" y="3558739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6292864" y="3616781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2026-09-09</a:t>
            </a:r>
            <a:endParaRPr lang="en-US" sz="686" dirty="0"/>
          </a:p>
        </p:txBody>
      </p:sp>
      <p:sp>
        <p:nvSpPr>
          <p:cNvPr id="134" name="Shape 132"/>
          <p:cNvSpPr/>
          <p:nvPr/>
        </p:nvSpPr>
        <p:spPr>
          <a:xfrm>
            <a:off x="7605738" y="3558739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7663781" y="3616781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36" name="Shape 134"/>
          <p:cNvSpPr/>
          <p:nvPr/>
        </p:nvSpPr>
        <p:spPr>
          <a:xfrm>
            <a:off x="1512736" y="3783654"/>
            <a:ext cx="456972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1570779" y="3841696"/>
            <a:ext cx="36373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686" dirty="0"/>
          </a:p>
        </p:txBody>
      </p:sp>
      <p:sp>
        <p:nvSpPr>
          <p:cNvPr id="138" name="Shape 136"/>
          <p:cNvSpPr/>
          <p:nvPr/>
        </p:nvSpPr>
        <p:spPr>
          <a:xfrm>
            <a:off x="1969708" y="3783654"/>
            <a:ext cx="1980251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027751" y="3841696"/>
            <a:ext cx="1907698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mTRM 2</a:t>
            </a:r>
            <a:endParaRPr lang="en-US" sz="686" dirty="0"/>
          </a:p>
        </p:txBody>
      </p:sp>
      <p:sp>
        <p:nvSpPr>
          <p:cNvPr id="140" name="Shape 138"/>
          <p:cNvSpPr/>
          <p:nvPr/>
        </p:nvSpPr>
        <p:spPr>
          <a:xfrm>
            <a:off x="3949960" y="3783654"/>
            <a:ext cx="106630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4008002" y="3841696"/>
            <a:ext cx="993753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</a:t>
            </a:r>
            <a:endParaRPr lang="en-US" sz="686" dirty="0"/>
          </a:p>
        </p:txBody>
      </p:sp>
      <p:sp>
        <p:nvSpPr>
          <p:cNvPr id="142" name="Shape 140"/>
          <p:cNvSpPr/>
          <p:nvPr/>
        </p:nvSpPr>
        <p:spPr>
          <a:xfrm>
            <a:off x="5016266" y="3783654"/>
            <a:ext cx="1218555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5074309" y="3841696"/>
            <a:ext cx="1146002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</a:t>
            </a:r>
            <a:endParaRPr lang="en-US" sz="686" dirty="0"/>
          </a:p>
        </p:txBody>
      </p:sp>
      <p:sp>
        <p:nvSpPr>
          <p:cNvPr id="144" name="Shape 142"/>
          <p:cNvSpPr/>
          <p:nvPr/>
        </p:nvSpPr>
        <p:spPr>
          <a:xfrm>
            <a:off x="6234821" y="3783654"/>
            <a:ext cx="1370917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6292864" y="3841696"/>
            <a:ext cx="1298364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2026-10-10</a:t>
            </a:r>
            <a:endParaRPr lang="en-US" sz="686" dirty="0"/>
          </a:p>
        </p:txBody>
      </p:sp>
      <p:sp>
        <p:nvSpPr>
          <p:cNvPr id="146" name="Shape 144"/>
          <p:cNvSpPr/>
          <p:nvPr/>
        </p:nvSpPr>
        <p:spPr>
          <a:xfrm>
            <a:off x="7605738" y="3783654"/>
            <a:ext cx="1523619" cy="224915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7663781" y="3841696"/>
            <a:ext cx="1451066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148" name="Shape 146"/>
          <p:cNvSpPr/>
          <p:nvPr/>
        </p:nvSpPr>
        <p:spPr>
          <a:xfrm>
            <a:off x="4849394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4849394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50" name="Shape 148"/>
          <p:cNvSpPr/>
          <p:nvPr/>
        </p:nvSpPr>
        <p:spPr>
          <a:xfrm>
            <a:off x="5096075" y="4135537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5096075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52" name="Shape 150"/>
          <p:cNvSpPr/>
          <p:nvPr/>
        </p:nvSpPr>
        <p:spPr>
          <a:xfrm>
            <a:off x="5342756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5342756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54" name="Shape 152"/>
          <p:cNvSpPr/>
          <p:nvPr/>
        </p:nvSpPr>
        <p:spPr>
          <a:xfrm>
            <a:off x="5589437" y="4135537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589437" y="4135537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56" name="Shape 154"/>
          <p:cNvSpPr/>
          <p:nvPr/>
        </p:nvSpPr>
        <p:spPr>
          <a:xfrm>
            <a:off x="9263581" y="0"/>
            <a:ext cx="2925258" cy="55866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Shape 155"/>
          <p:cNvSpPr/>
          <p:nvPr/>
        </p:nvSpPr>
        <p:spPr>
          <a:xfrm>
            <a:off x="5173049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58" name="Text 156"/>
          <p:cNvSpPr txBox="1"/>
          <p:nvPr/>
        </p:nvSpPr>
        <p:spPr>
          <a:xfrm>
            <a:off x="5173049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59" name="Shape 157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0" name="Text 158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61" name="Shape 159"/>
          <p:cNvSpPr/>
          <p:nvPr/>
        </p:nvSpPr>
        <p:spPr>
          <a:xfrm>
            <a:off x="6042555" y="1472832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2" name="Text 160"/>
          <p:cNvSpPr txBox="1"/>
          <p:nvPr/>
        </p:nvSpPr>
        <p:spPr>
          <a:xfrm>
            <a:off x="6042555" y="1472832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63" name="Shape 161"/>
          <p:cNvSpPr/>
          <p:nvPr/>
        </p:nvSpPr>
        <p:spPr>
          <a:xfrm>
            <a:off x="8186165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4" name="Text 162"/>
          <p:cNvSpPr txBox="1"/>
          <p:nvPr/>
        </p:nvSpPr>
        <p:spPr>
          <a:xfrm>
            <a:off x="8186165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65" name="Shape 163"/>
          <p:cNvSpPr/>
          <p:nvPr/>
        </p:nvSpPr>
        <p:spPr>
          <a:xfrm>
            <a:off x="8409266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66" name="Text 164"/>
          <p:cNvSpPr txBox="1"/>
          <p:nvPr/>
        </p:nvSpPr>
        <p:spPr>
          <a:xfrm>
            <a:off x="8409266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14" dirty="0"/>
          </a:p>
        </p:txBody>
      </p:sp>
      <p:sp>
        <p:nvSpPr>
          <p:cNvPr id="167" name="Shape 165"/>
          <p:cNvSpPr/>
          <p:nvPr/>
        </p:nvSpPr>
        <p:spPr>
          <a:xfrm>
            <a:off x="1414789" y="40484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68" name="Text 166"/>
          <p:cNvSpPr txBox="1"/>
          <p:nvPr/>
        </p:nvSpPr>
        <p:spPr>
          <a:xfrm>
            <a:off x="1414789" y="40484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69" name="Shape 167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70" name="Text 168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71" name="Shape 169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72" name="Text 170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5332752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8514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조회 필터 &amp;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mTRM명/분과/상태/등록일 조건 필터와 신규 등록 버튼으로 구성된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/api/admin/mtrm?name=§ion=&amp;status=&amp;date=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mTRM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표시(관리자 화면).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"mTRM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화면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mTRM 관리(SCR-012) 전용.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3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mTRM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분과별 mTRM 13건의 활성/비활성 상태를 관리하는 목록 표이다(페이지당 10건, 2페이지).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상태 뱃지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활성=녹색, 비활성=회색 뱃지로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/api/admin/mtrm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"수정" 클릭 시 "mTRM 등록" 팝업이 해당 값으로 프리필되어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PUT /api/admin/mtrm/{id}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2-3 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행별 "삭제" 클릭 시 삭제 확인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DELETE /api/admin/mtrm/{id}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목록으로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45605"/>
                <a:gridCol w="938668"/>
                <a:gridCol w="1442820"/>
                <a:gridCol w="1996710"/>
                <a:gridCol w="3591522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/portal/admin/mtrm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45963" cy="159617"/>
        </p:xfrm>
        <a:graphic>
          <a:graphicData uri="http://schemas.openxmlformats.org/drawingml/2006/table">
            <a:tbl>
              <a:tblPr/>
              <a:tblGrid>
                <a:gridCol w="27298"/>
                <a:gridCol w="491367"/>
                <a:gridCol w="27298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SCR-012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2895785"/>
                <a:gridCol w="4326750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공유&gt;mTRM 관리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b="1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1014267" cy="232171"/>
        </p:xfrm>
        <a:graphic>
          <a:graphicData uri="http://schemas.openxmlformats.org/drawingml/2006/table">
            <a:tbl>
              <a:tblPr/>
              <a:tblGrid>
                <a:gridCol w="1014267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mTRM명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17599" y="1146342"/>
          <a:ext cx="702185" cy="232171"/>
        </p:xfrm>
        <a:graphic>
          <a:graphicData uri="http://schemas.openxmlformats.org/drawingml/2006/table">
            <a:tbl>
              <a:tblPr/>
              <a:tblGrid>
                <a:gridCol w="537593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분과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2337" y="1146342"/>
          <a:ext cx="702185" cy="232171"/>
        </p:xfrm>
        <a:graphic>
          <a:graphicData uri="http://schemas.openxmlformats.org/drawingml/2006/table">
            <a:tbl>
              <a:tblPr/>
              <a:tblGrid>
                <a:gridCol w="537593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상태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68665" y="1146342"/>
          <a:ext cx="858226" cy="232171"/>
        </p:xfrm>
        <a:graphic>
          <a:graphicData uri="http://schemas.openxmlformats.org/drawingml/2006/table">
            <a:tbl>
              <a:tblPr/>
              <a:tblGrid>
                <a:gridCol w="85822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yyyy-mm-dd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39304" y="1146342"/>
          <a:ext cx="499331" cy="232171"/>
        </p:xfrm>
        <a:graphic>
          <a:graphicData uri="http://schemas.openxmlformats.org/drawingml/2006/table">
            <a:tbl>
              <a:tblPr/>
              <a:tblGrid>
                <a:gridCol w="499331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7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59814" y="1146342"/>
          <a:ext cx="624164" cy="232171"/>
        </p:xfrm>
        <a:graphic>
          <a:graphicData uri="http://schemas.openxmlformats.org/drawingml/2006/table">
            <a:tbl>
              <a:tblPr/>
              <a:tblGrid>
                <a:gridCol w="624164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mTRM 등록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5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9108" y="1530874"/>
          <a:ext cx="7623877" cy="2773208"/>
        </p:xfrm>
        <a:graphic>
          <a:graphicData uri="http://schemas.openxmlformats.org/drawingml/2006/table">
            <a:tbl>
              <a:tblPr/>
              <a:tblGrid>
                <a:gridCol w="457433"/>
                <a:gridCol w="1982208"/>
                <a:gridCol w="1067343"/>
                <a:gridCol w="1219820"/>
                <a:gridCol w="1372298"/>
                <a:gridCol w="1524775"/>
              </a:tblGrid>
              <a:tr h="212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mTRM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2026-01-05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mTRM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2026-02-02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mTRM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 mTRM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mTRM 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 mTRM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2026-06-06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 mTRM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2026-07-07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 mTRM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2026-08-08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 mTRM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2026-09-09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 mTRM 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비활성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2026-10-10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3532" marR="43532" marT="36277" marB="3627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Shape 171"/>
          <p:cNvSpPr/>
          <p:nvPr/>
        </p:nvSpPr>
        <p:spPr>
          <a:xfrm>
            <a:off x="5173049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7" name="Text 172"/>
          <p:cNvSpPr txBox="1"/>
          <p:nvPr/>
        </p:nvSpPr>
        <p:spPr>
          <a:xfrm>
            <a:off x="5173049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88" name="Shape 173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89" name="Text 174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90" name="Shape 175"/>
          <p:cNvSpPr/>
          <p:nvPr/>
        </p:nvSpPr>
        <p:spPr>
          <a:xfrm>
            <a:off x="6042555" y="1472832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1" name="Text 176"/>
          <p:cNvSpPr txBox="1"/>
          <p:nvPr/>
        </p:nvSpPr>
        <p:spPr>
          <a:xfrm>
            <a:off x="6042555" y="1472832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192" name="Shape 177"/>
          <p:cNvSpPr/>
          <p:nvPr/>
        </p:nvSpPr>
        <p:spPr>
          <a:xfrm>
            <a:off x="8186165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3" name="Text 178"/>
          <p:cNvSpPr txBox="1"/>
          <p:nvPr/>
        </p:nvSpPr>
        <p:spPr>
          <a:xfrm>
            <a:off x="8186165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94" name="Shape 179"/>
          <p:cNvSpPr/>
          <p:nvPr/>
        </p:nvSpPr>
        <p:spPr>
          <a:xfrm>
            <a:off x="8409266" y="1632449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95" name="Text 180"/>
          <p:cNvSpPr txBox="1"/>
          <p:nvPr/>
        </p:nvSpPr>
        <p:spPr>
          <a:xfrm>
            <a:off x="8409266" y="1632449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14" dirty="0"/>
          </a:p>
        </p:txBody>
      </p:sp>
      <p:sp>
        <p:nvSpPr>
          <p:cNvPr id="196" name="Shape 181"/>
          <p:cNvSpPr/>
          <p:nvPr/>
        </p:nvSpPr>
        <p:spPr>
          <a:xfrm>
            <a:off x="1414789" y="40484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7" name="Text 182"/>
          <p:cNvSpPr txBox="1"/>
          <p:nvPr/>
        </p:nvSpPr>
        <p:spPr>
          <a:xfrm>
            <a:off x="1414789" y="40484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198" name="Shape 183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99" name="Text 184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200" name="Shape 185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01" name="Text 186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5963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5368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6581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6581" y="337882"/>
            <a:ext cx="142691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 - mTRM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20181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720181" y="348765"/>
            <a:ext cx="1590051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mTRM 등록"(1-2) 또는 행 "수정"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56913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556913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0455" y="2328960"/>
            <a:ext cx="3482558" cy="243779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35561" y="2459556"/>
            <a:ext cx="582353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068289" y="244504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035561" y="293840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906201" y="2873110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78754" y="2873110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mTRM명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3035561" y="328666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분과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906201" y="3221366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8754" y="3221366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3035561" y="363492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906201" y="3569622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8754" y="3569622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3035561" y="3983175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등록일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906201" y="3917877"/>
            <a:ext cx="2321705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78754" y="3917877"/>
            <a:ext cx="2220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28" name="Shape 26"/>
          <p:cNvSpPr/>
          <p:nvPr/>
        </p:nvSpPr>
        <p:spPr>
          <a:xfrm>
            <a:off x="2890455" y="4309665"/>
            <a:ext cx="348255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31873" y="4418495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62469" y="4418495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1" name="Shape 29"/>
          <p:cNvSpPr/>
          <p:nvPr/>
        </p:nvSpPr>
        <p:spPr>
          <a:xfrm>
            <a:off x="5816166" y="4418495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6762" y="4418495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33" name="Shape 31"/>
          <p:cNvSpPr/>
          <p:nvPr/>
        </p:nvSpPr>
        <p:spPr>
          <a:xfrm>
            <a:off x="9263581" y="0"/>
            <a:ext cx="2925258" cy="2205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803391" y="2241897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803391" y="2241897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71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753877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479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mTRM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mTRM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mTRM 등록"(1-2) 또는 행 "수정"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mTRM명*, 분과*, 상태*, 등록일*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필수값(mTRM명, 분과, 상태, 등록일)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5963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5368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46581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46581" y="337882"/>
            <a:ext cx="1294283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 - 삭제 확인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587545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587545" y="348765"/>
            <a:ext cx="56999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"삭제"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404223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404223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115" y="2899184"/>
            <a:ext cx="3047238" cy="129723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253221" y="3029780"/>
            <a:ext cx="444842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확인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5850629" y="301526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253221" y="3443334"/>
            <a:ext cx="2800557" cy="15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항목은 12개 모듈에서 사용 중입니다. 계속하시겠습니까?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108115" y="3739328"/>
            <a:ext cx="3047238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4213" y="3848158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44809" y="3848158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5598506" y="3848158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29102" y="3848158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686" dirty="0"/>
          </a:p>
        </p:txBody>
      </p:sp>
      <p:sp>
        <p:nvSpPr>
          <p:cNvPr id="22" name="Shape 20"/>
          <p:cNvSpPr/>
          <p:nvPr/>
        </p:nvSpPr>
        <p:spPr>
          <a:xfrm>
            <a:off x="9263581" y="0"/>
            <a:ext cx="2925258" cy="24668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021051" y="2812120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021051" y="281212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571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125733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85141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삭제 확인을 트리거하는 영역이다(상위 SCR-012 Description NO=2 목록 표 요소 2-3과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2-3 삭제 확인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행 "삭제"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안내 문구 확인 후 진행.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연동 협의체 존재 → "이 항목은 N개 모듈에서 사용 중입니다. 계속하시겠습니까?" 확인 문구 노출 후 확인 시 삭제 진행.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"삭제"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146342"/>
            <a:ext cx="5949369" cy="3569622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26768" y="1371257"/>
            <a:ext cx="270623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5" name="Shape 3"/>
          <p:cNvSpPr/>
          <p:nvPr/>
        </p:nvSpPr>
        <p:spPr>
          <a:xfrm>
            <a:off x="1726768" y="1516364"/>
            <a:ext cx="2662706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63602" y="1371257"/>
            <a:ext cx="270623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7" name="Shape 5"/>
          <p:cNvSpPr/>
          <p:nvPr/>
        </p:nvSpPr>
        <p:spPr>
          <a:xfrm>
            <a:off x="4563602" y="1516364"/>
            <a:ext cx="2662706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6155" y="1516364"/>
            <a:ext cx="2561131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9" name="Text 7"/>
          <p:cNvSpPr txBox="1"/>
          <p:nvPr/>
        </p:nvSpPr>
        <p:spPr>
          <a:xfrm>
            <a:off x="1726768" y="1908151"/>
            <a:ext cx="288762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계획등록일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0" name="Shape 8"/>
          <p:cNvSpPr/>
          <p:nvPr/>
        </p:nvSpPr>
        <p:spPr>
          <a:xfrm>
            <a:off x="1726768" y="2053258"/>
            <a:ext cx="2844089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99321" y="2053258"/>
            <a:ext cx="2742514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yyyy-mm-dd</a:t>
            </a:r>
            <a:endParaRPr lang="en-US" sz="686" dirty="0"/>
          </a:p>
        </p:txBody>
      </p:sp>
      <p:sp>
        <p:nvSpPr>
          <p:cNvPr id="12" name="Shape 10"/>
          <p:cNvSpPr/>
          <p:nvPr/>
        </p:nvSpPr>
        <p:spPr>
          <a:xfrm>
            <a:off x="1726768" y="2474067"/>
            <a:ext cx="5499539" cy="1596172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26768" y="2626429"/>
            <a:ext cx="5543071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연동 영역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726768" y="2829578"/>
            <a:ext cx="288762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mTRM 로드맵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5" name="Shape 13"/>
          <p:cNvSpPr/>
          <p:nvPr/>
        </p:nvSpPr>
        <p:spPr>
          <a:xfrm>
            <a:off x="1726768" y="2974685"/>
            <a:ext cx="2844089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99321" y="2974685"/>
            <a:ext cx="2742514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17" name="Text 15"/>
          <p:cNvSpPr txBox="1"/>
          <p:nvPr/>
        </p:nvSpPr>
        <p:spPr>
          <a:xfrm>
            <a:off x="1726768" y="3322940"/>
            <a:ext cx="5543071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매핑 결과</a:t>
            </a:r>
            <a:endParaRPr lang="en-US" sz="686" dirty="0"/>
          </a:p>
        </p:txBody>
      </p:sp>
      <p:sp>
        <p:nvSpPr>
          <p:cNvPr id="18" name="Shape 16"/>
          <p:cNvSpPr/>
          <p:nvPr/>
        </p:nvSpPr>
        <p:spPr>
          <a:xfrm>
            <a:off x="1726768" y="3482558"/>
            <a:ext cx="5499539" cy="587682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651" y="3493441"/>
            <a:ext cx="186235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95694" y="3551483"/>
            <a:ext cx="1789799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로드맵명</a:t>
            </a:r>
            <a:endParaRPr lang="en-US" sz="686" dirty="0"/>
          </a:p>
        </p:txBody>
      </p:sp>
      <p:sp>
        <p:nvSpPr>
          <p:cNvPr id="21" name="Shape 19"/>
          <p:cNvSpPr/>
          <p:nvPr/>
        </p:nvSpPr>
        <p:spPr>
          <a:xfrm>
            <a:off x="3600003" y="3493441"/>
            <a:ext cx="1862352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8046" y="3551483"/>
            <a:ext cx="1789799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상세과제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5462355" y="3493441"/>
            <a:ext cx="1753069" cy="224915"/>
          </a:xfrm>
          <a:prstGeom prst="rect">
            <a:avLst/>
          </a:prstGeom>
          <a:solidFill>
            <a:srgbClr val="EEEEEE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20398" y="3551483"/>
            <a:ext cx="1680515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매핑상태</a:t>
            </a:r>
            <a:endParaRPr lang="en-US" sz="686" dirty="0"/>
          </a:p>
        </p:txBody>
      </p:sp>
      <p:sp>
        <p:nvSpPr>
          <p:cNvPr id="25" name="Shape 23"/>
          <p:cNvSpPr/>
          <p:nvPr/>
        </p:nvSpPr>
        <p:spPr>
          <a:xfrm>
            <a:off x="1737651" y="3718356"/>
            <a:ext cx="5477773" cy="341000"/>
          </a:xfrm>
          <a:prstGeom prst="rect">
            <a:avLst/>
          </a:prstGeom>
          <a:ln w="762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53736" y="3834441"/>
            <a:ext cx="5289135" cy="108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mTRM 로드맵을 선택하세요.</a:t>
            </a:r>
            <a:endParaRPr lang="en-US" sz="686" dirty="0"/>
          </a:p>
        </p:txBody>
      </p:sp>
      <p:sp>
        <p:nvSpPr>
          <p:cNvPr id="27" name="Shape 25"/>
          <p:cNvSpPr/>
          <p:nvPr/>
        </p:nvSpPr>
        <p:spPr>
          <a:xfrm>
            <a:off x="9263581" y="0"/>
            <a:ext cx="2925258" cy="42878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614389" y="277153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614389" y="277153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30" name="Shape 28"/>
          <p:cNvSpPr/>
          <p:nvPr/>
        </p:nvSpPr>
        <p:spPr>
          <a:xfrm>
            <a:off x="7081201" y="322136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081201" y="322136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32" name="Shape 30"/>
          <p:cNvSpPr/>
          <p:nvPr/>
        </p:nvSpPr>
        <p:spPr>
          <a:xfrm>
            <a:off x="1574406" y="131321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574406" y="131321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34" name="Shape 32"/>
          <p:cNvSpPr/>
          <p:nvPr/>
        </p:nvSpPr>
        <p:spPr>
          <a:xfrm>
            <a:off x="1574406" y="256838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574406" y="256838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422505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1077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기본정보 입력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기술과제의 과제명·담당자·계획등록일을 입력하는 등록 폼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화면 진입 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과제명/담당자/계획등록일 모두 필수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/api/mtrm/tech-task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430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mTRM 연동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기술과제를 통합 로드맵의 상세과제와 매핑하는 영역이다. 셀렉트는 옵션 목록만 노출되는 프로토타입 목업으로, 선택값에 따른 실제 재조회는 없다(값 선택/매핑 결과 연동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연동 mTRM 로드맵 선택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 옵션 목록만 노출되는 프로토타입 목업으로, 값 선택 시에도 하단 매핑 결과 표는 갱신되지 않는다.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 선택 항목(값은 저장되지 않음).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기본값 "선택" 상태로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/api/mtrm/roadmap-options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자동 매핑 결과 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 상태와 무관하게 "연동 mTRM 로드맵을 선택하세요." 안내 문구만 정적으로 노출된다(하단 표는 정적 데이터 유지, 실제 매핑 결과 조회 없음).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/api/mtrm/roadmap-mapping?roadmap= (설계 목표, 현재 프로토타입 미연동)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48099"/>
                <a:gridCol w="1035758"/>
                <a:gridCol w="1701859"/>
                <a:gridCol w="1996710"/>
                <a:gridCol w="3232899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/portal/mtrm/tech-task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48457" cy="159617"/>
        </p:xfrm>
        <a:graphic>
          <a:graphicData uri="http://schemas.openxmlformats.org/drawingml/2006/table">
            <a:tbl>
              <a:tblPr/>
              <a:tblGrid>
                <a:gridCol w="27423"/>
                <a:gridCol w="493612"/>
                <a:gridCol w="27423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SCR-013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2970585"/>
                <a:gridCol w="4251950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공유&gt;기술과제 관리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26768" y="4244367"/>
          <a:ext cx="5499539" cy="246681"/>
        </p:xfrm>
        <a:graphic>
          <a:graphicData uri="http://schemas.openxmlformats.org/drawingml/2006/table">
            <a:tbl>
              <a:tblPr/>
              <a:tblGrid>
                <a:gridCol w="4343611"/>
                <a:gridCol w="587324"/>
                <a:gridCol w="568604"/>
              </a:tblGrid>
              <a:tr h="2466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43" name="Shape 34"/>
          <p:cNvSpPr/>
          <p:nvPr/>
        </p:nvSpPr>
        <p:spPr>
          <a:xfrm>
            <a:off x="4614389" y="277153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44" name="Text 35"/>
          <p:cNvSpPr txBox="1"/>
          <p:nvPr/>
        </p:nvSpPr>
        <p:spPr>
          <a:xfrm>
            <a:off x="4614389" y="277153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45" name="Shape 36"/>
          <p:cNvSpPr/>
          <p:nvPr/>
        </p:nvSpPr>
        <p:spPr>
          <a:xfrm>
            <a:off x="7081201" y="322136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46" name="Text 37"/>
          <p:cNvSpPr txBox="1"/>
          <p:nvPr/>
        </p:nvSpPr>
        <p:spPr>
          <a:xfrm>
            <a:off x="7081201" y="322136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47" name="Shape 38"/>
          <p:cNvSpPr/>
          <p:nvPr/>
        </p:nvSpPr>
        <p:spPr>
          <a:xfrm>
            <a:off x="1574406" y="1313214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8" name="Text 39"/>
          <p:cNvSpPr txBox="1"/>
          <p:nvPr/>
        </p:nvSpPr>
        <p:spPr>
          <a:xfrm>
            <a:off x="1574406" y="1313214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49" name="Shape 40"/>
          <p:cNvSpPr/>
          <p:nvPr/>
        </p:nvSpPr>
        <p:spPr>
          <a:xfrm>
            <a:off x="1574406" y="2568386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50" name="Text 41"/>
          <p:cNvSpPr txBox="1"/>
          <p:nvPr/>
        </p:nvSpPr>
        <p:spPr>
          <a:xfrm>
            <a:off x="1574406" y="2568386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01853" y="1523619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9108" y="1530874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567151" y="3009148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endParaRPr lang="en-US" sz="686" dirty="0"/>
          </a:p>
        </p:txBody>
      </p:sp>
      <p:sp>
        <p:nvSpPr>
          <p:cNvPr id="6" name="Text 4"/>
          <p:cNvSpPr txBox="1"/>
          <p:nvPr/>
        </p:nvSpPr>
        <p:spPr>
          <a:xfrm>
            <a:off x="1567151" y="3168765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121</a:t>
            </a:r>
            <a:endParaRPr lang="en-US" sz="628" dirty="0"/>
          </a:p>
        </p:txBody>
      </p:sp>
      <p:sp>
        <p:nvSpPr>
          <p:cNvPr id="7" name="Text 5"/>
          <p:cNvSpPr txBox="1"/>
          <p:nvPr/>
        </p:nvSpPr>
        <p:spPr>
          <a:xfrm>
            <a:off x="1567151" y="3263084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2026-07-01 · 기획팀 · 박** · #자동화</a:t>
            </a:r>
            <a:endParaRPr lang="en-US" sz="628" dirty="0"/>
          </a:p>
        </p:txBody>
      </p:sp>
      <p:sp>
        <p:nvSpPr>
          <p:cNvPr id="8" name="Shape 6"/>
          <p:cNvSpPr/>
          <p:nvPr/>
        </p:nvSpPr>
        <p:spPr>
          <a:xfrm>
            <a:off x="3052679" y="1523619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59935" y="1530874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117977" y="3009261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신기술 소재 자료 B</a:t>
            </a:r>
            <a:endParaRPr lang="en-US" sz="686" dirty="0"/>
          </a:p>
        </p:txBody>
      </p:sp>
      <p:sp>
        <p:nvSpPr>
          <p:cNvPr id="11" name="Text 9"/>
          <p:cNvSpPr txBox="1"/>
          <p:nvPr/>
        </p:nvSpPr>
        <p:spPr>
          <a:xfrm>
            <a:off x="3117977" y="3168878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85</a:t>
            </a:r>
            <a:endParaRPr lang="en-US" sz="628" dirty="0"/>
          </a:p>
        </p:txBody>
      </p:sp>
      <p:sp>
        <p:nvSpPr>
          <p:cNvPr id="12" name="Text 10"/>
          <p:cNvSpPr txBox="1"/>
          <p:nvPr/>
        </p:nvSpPr>
        <p:spPr>
          <a:xfrm>
            <a:off x="3117977" y="3263197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2026-07-05 · 기획팀 · 이** · #신소재</a:t>
            </a:r>
            <a:endParaRPr lang="en-US" sz="628" dirty="0"/>
          </a:p>
        </p:txBody>
      </p:sp>
      <p:sp>
        <p:nvSpPr>
          <p:cNvPr id="13" name="Shape 11"/>
          <p:cNvSpPr/>
          <p:nvPr/>
        </p:nvSpPr>
        <p:spPr>
          <a:xfrm>
            <a:off x="4603619" y="1523619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0875" y="1530874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668917" y="3009148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기술개발 제안 C</a:t>
            </a:r>
            <a:endParaRPr lang="en-US" sz="686" dirty="0"/>
          </a:p>
        </p:txBody>
      </p:sp>
      <p:sp>
        <p:nvSpPr>
          <p:cNvPr id="16" name="Text 14"/>
          <p:cNvSpPr txBox="1"/>
          <p:nvPr/>
        </p:nvSpPr>
        <p:spPr>
          <a:xfrm>
            <a:off x="4668917" y="3168765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42</a:t>
            </a:r>
            <a:endParaRPr lang="en-US" sz="628" dirty="0"/>
          </a:p>
        </p:txBody>
      </p:sp>
      <p:sp>
        <p:nvSpPr>
          <p:cNvPr id="17" name="Text 15"/>
          <p:cNvSpPr txBox="1"/>
          <p:nvPr/>
        </p:nvSpPr>
        <p:spPr>
          <a:xfrm>
            <a:off x="4668917" y="3263084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2026-07-10 · 기획팀 · 최** · #제안</a:t>
            </a:r>
            <a:endParaRPr lang="en-US" sz="628" dirty="0"/>
          </a:p>
        </p:txBody>
      </p:sp>
      <p:sp>
        <p:nvSpPr>
          <p:cNvPr id="18" name="Shape 16"/>
          <p:cNvSpPr/>
          <p:nvPr/>
        </p:nvSpPr>
        <p:spPr>
          <a:xfrm>
            <a:off x="6154446" y="1523619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61701" y="1530874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6219744" y="3009261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D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6219744" y="3168878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200</a:t>
            </a:r>
            <a:endParaRPr lang="en-US" sz="628" dirty="0"/>
          </a:p>
        </p:txBody>
      </p:sp>
      <p:sp>
        <p:nvSpPr>
          <p:cNvPr id="22" name="Text 20"/>
          <p:cNvSpPr txBox="1"/>
          <p:nvPr/>
        </p:nvSpPr>
        <p:spPr>
          <a:xfrm>
            <a:off x="6219744" y="3263197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2026-07-14 · 기획팀 · 정** · #자동화</a:t>
            </a:r>
            <a:endParaRPr lang="en-US" sz="628" dirty="0"/>
          </a:p>
        </p:txBody>
      </p:sp>
      <p:sp>
        <p:nvSpPr>
          <p:cNvPr id="23" name="Shape 21"/>
          <p:cNvSpPr/>
          <p:nvPr/>
        </p:nvSpPr>
        <p:spPr>
          <a:xfrm>
            <a:off x="7705386" y="1523619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12641" y="1530874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7770684" y="3009148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기술동향 E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7770684" y="3168765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74</a:t>
            </a:r>
            <a:endParaRPr lang="en-US" sz="628" dirty="0"/>
          </a:p>
        </p:txBody>
      </p:sp>
      <p:sp>
        <p:nvSpPr>
          <p:cNvPr id="27" name="Text 25"/>
          <p:cNvSpPr txBox="1"/>
          <p:nvPr/>
        </p:nvSpPr>
        <p:spPr>
          <a:xfrm>
            <a:off x="7770684" y="3263084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2026-07-19 · 기획팀 · 한** · #로봇</a:t>
            </a:r>
            <a:endParaRPr lang="en-US" sz="628" dirty="0"/>
          </a:p>
        </p:txBody>
      </p:sp>
      <p:sp>
        <p:nvSpPr>
          <p:cNvPr id="28" name="Shape 26"/>
          <p:cNvSpPr/>
          <p:nvPr/>
        </p:nvSpPr>
        <p:spPr>
          <a:xfrm>
            <a:off x="1501853" y="3538900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09108" y="3546155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1567151" y="5024428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기술동향 F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567151" y="5184046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85</a:t>
            </a:r>
            <a:endParaRPr lang="en-US" sz="628" dirty="0"/>
          </a:p>
        </p:txBody>
      </p:sp>
      <p:sp>
        <p:nvSpPr>
          <p:cNvPr id="32" name="Text 30"/>
          <p:cNvSpPr txBox="1"/>
          <p:nvPr/>
        </p:nvSpPr>
        <p:spPr>
          <a:xfrm>
            <a:off x="1567151" y="5278365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2026-07-20 · 기획팀 · 조** · #설계</a:t>
            </a:r>
            <a:endParaRPr lang="en-US" sz="628" dirty="0"/>
          </a:p>
        </p:txBody>
      </p:sp>
      <p:sp>
        <p:nvSpPr>
          <p:cNvPr id="33" name="Shape 31"/>
          <p:cNvSpPr/>
          <p:nvPr/>
        </p:nvSpPr>
        <p:spPr>
          <a:xfrm>
            <a:off x="3052679" y="3538900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059935" y="3546155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3117977" y="5024542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기술동향 G</a:t>
            </a:r>
            <a:endParaRPr lang="en-US" sz="686" dirty="0"/>
          </a:p>
        </p:txBody>
      </p:sp>
      <p:sp>
        <p:nvSpPr>
          <p:cNvPr id="36" name="Text 34"/>
          <p:cNvSpPr txBox="1"/>
          <p:nvPr/>
        </p:nvSpPr>
        <p:spPr>
          <a:xfrm>
            <a:off x="3117977" y="5184159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96</a:t>
            </a:r>
            <a:endParaRPr lang="en-US" sz="628" dirty="0"/>
          </a:p>
        </p:txBody>
      </p:sp>
      <p:sp>
        <p:nvSpPr>
          <p:cNvPr id="37" name="Text 35"/>
          <p:cNvSpPr txBox="1"/>
          <p:nvPr/>
        </p:nvSpPr>
        <p:spPr>
          <a:xfrm>
            <a:off x="3117977" y="5278478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2026-07-21 · 기획팀 · 임** · #품질</a:t>
            </a:r>
            <a:endParaRPr lang="en-US" sz="628" dirty="0"/>
          </a:p>
        </p:txBody>
      </p:sp>
      <p:sp>
        <p:nvSpPr>
          <p:cNvPr id="38" name="Shape 36"/>
          <p:cNvSpPr/>
          <p:nvPr/>
        </p:nvSpPr>
        <p:spPr>
          <a:xfrm>
            <a:off x="4603619" y="3538900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10875" y="3546155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4668917" y="5024428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기술동향 H</a:t>
            </a:r>
            <a:endParaRPr lang="en-US" sz="686" dirty="0"/>
          </a:p>
        </p:txBody>
      </p:sp>
      <p:sp>
        <p:nvSpPr>
          <p:cNvPr id="41" name="Text 39"/>
          <p:cNvSpPr txBox="1"/>
          <p:nvPr/>
        </p:nvSpPr>
        <p:spPr>
          <a:xfrm>
            <a:off x="4668917" y="5184046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107</a:t>
            </a:r>
            <a:endParaRPr lang="en-US" sz="628" dirty="0"/>
          </a:p>
        </p:txBody>
      </p:sp>
      <p:sp>
        <p:nvSpPr>
          <p:cNvPr id="42" name="Text 40"/>
          <p:cNvSpPr txBox="1"/>
          <p:nvPr/>
        </p:nvSpPr>
        <p:spPr>
          <a:xfrm>
            <a:off x="4668917" y="5278365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2026-07-22 · 기획팀 · 홍** · #안전</a:t>
            </a:r>
            <a:endParaRPr lang="en-US" sz="628" dirty="0"/>
          </a:p>
        </p:txBody>
      </p:sp>
      <p:sp>
        <p:nvSpPr>
          <p:cNvPr id="43" name="Shape 41"/>
          <p:cNvSpPr/>
          <p:nvPr/>
        </p:nvSpPr>
        <p:spPr>
          <a:xfrm>
            <a:off x="6154446" y="3538900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61701" y="3546155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6219744" y="5024542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기술동향 I</a:t>
            </a:r>
            <a:endParaRPr lang="en-US" sz="686" dirty="0"/>
          </a:p>
        </p:txBody>
      </p:sp>
      <p:sp>
        <p:nvSpPr>
          <p:cNvPr id="46" name="Text 44"/>
          <p:cNvSpPr txBox="1"/>
          <p:nvPr/>
        </p:nvSpPr>
        <p:spPr>
          <a:xfrm>
            <a:off x="6219744" y="5184159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118</a:t>
            </a:r>
            <a:endParaRPr lang="en-US" sz="628" dirty="0"/>
          </a:p>
        </p:txBody>
      </p:sp>
      <p:sp>
        <p:nvSpPr>
          <p:cNvPr id="47" name="Text 45"/>
          <p:cNvSpPr txBox="1"/>
          <p:nvPr/>
        </p:nvSpPr>
        <p:spPr>
          <a:xfrm>
            <a:off x="6219744" y="5278478"/>
            <a:ext cx="1347791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2026-07-23 · 기획팀 · 김** · #원가</a:t>
            </a:r>
            <a:endParaRPr lang="en-US" sz="628" dirty="0"/>
          </a:p>
        </p:txBody>
      </p:sp>
      <p:sp>
        <p:nvSpPr>
          <p:cNvPr id="48" name="Shape 46"/>
          <p:cNvSpPr/>
          <p:nvPr/>
        </p:nvSpPr>
        <p:spPr>
          <a:xfrm>
            <a:off x="7705386" y="3538900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12641" y="3546155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7770684" y="5024428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기술동향 J</a:t>
            </a:r>
            <a:endParaRPr lang="en-US" sz="686" dirty="0"/>
          </a:p>
        </p:txBody>
      </p:sp>
      <p:sp>
        <p:nvSpPr>
          <p:cNvPr id="51" name="Text 49"/>
          <p:cNvSpPr txBox="1"/>
          <p:nvPr/>
        </p:nvSpPr>
        <p:spPr>
          <a:xfrm>
            <a:off x="7770684" y="5184046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129</a:t>
            </a:r>
            <a:endParaRPr lang="en-US" sz="628" dirty="0"/>
          </a:p>
        </p:txBody>
      </p:sp>
      <p:sp>
        <p:nvSpPr>
          <p:cNvPr id="52" name="Text 50"/>
          <p:cNvSpPr txBox="1"/>
          <p:nvPr/>
        </p:nvSpPr>
        <p:spPr>
          <a:xfrm>
            <a:off x="7770684" y="5278365"/>
            <a:ext cx="134767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2026-07-24 · 기획팀 · 이** · #물류</a:t>
            </a:r>
            <a:endParaRPr lang="en-US" sz="628" dirty="0"/>
          </a:p>
        </p:txBody>
      </p:sp>
      <p:sp>
        <p:nvSpPr>
          <p:cNvPr id="53" name="Shape 51"/>
          <p:cNvSpPr/>
          <p:nvPr/>
        </p:nvSpPr>
        <p:spPr>
          <a:xfrm>
            <a:off x="4849394" y="5554181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849394" y="5554181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55" name="Shape 53"/>
          <p:cNvSpPr/>
          <p:nvPr/>
        </p:nvSpPr>
        <p:spPr>
          <a:xfrm>
            <a:off x="5096075" y="5554181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096075" y="5554181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57" name="Shape 55"/>
          <p:cNvSpPr/>
          <p:nvPr/>
        </p:nvSpPr>
        <p:spPr>
          <a:xfrm>
            <a:off x="5342756" y="5554181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342756" y="5554181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59" name="Shape 57"/>
          <p:cNvSpPr/>
          <p:nvPr/>
        </p:nvSpPr>
        <p:spPr>
          <a:xfrm>
            <a:off x="5589437" y="5554181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589437" y="5554181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61" name="Shape 59"/>
          <p:cNvSpPr/>
          <p:nvPr/>
        </p:nvSpPr>
        <p:spPr>
          <a:xfrm>
            <a:off x="9263581" y="0"/>
            <a:ext cx="2925258" cy="63701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472832" y="145832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1472832" y="145832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64" name="Shape 62"/>
          <p:cNvSpPr/>
          <p:nvPr/>
        </p:nvSpPr>
        <p:spPr>
          <a:xfrm>
            <a:off x="1414789" y="5467117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1414789" y="5467117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66" name="Shape 64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68" name="Shape 66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6200416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8430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검색 &amp; 액션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제목 검색 조건과 수정(선택모드 진입)·등록 버튼으로 구성된 상단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1-1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조회 완료 시 화면 우상단에 토스트 알림이 2~3초간 노출된 뒤 자동 소멸된다.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/api/mtrm/trend?field=title&amp;keyword=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1-2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목록 화면에서만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카드 그리드에 라디오 버튼이 오버레이되는 선택모드로 전환되고, "수정할 항목의 라디오 버튼을 선택하세요." 안내문구가 노출된다. 다시 클릭 시 선택모드 해제.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1-3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항상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"기술동향 등록" 팝업 오픈.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POST /api/mtrm/trend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93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기술동향 카드 그리드(목록뷰)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최신 기술동향 15건을 카드로 표시하는 목록 화면이다(페이지당 10건, 2페이지). 선택모드에서는 카드마다 라디오 버튼이 오버레이된다.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2-1 카드(일반 모드)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선택모드가 아닐 때 카드 클릭 시 상세뷰로 전환(trend-detail).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/api/mtrm/trend (list)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2-2 카드+라디오(선택모드)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"수정" 버튼으로 선택모드 진입 시에만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카드 또는 라디오 클릭 시 해당 기술동향 값이 프리필된 "기술동향 수정"(trendEdit) 팝업이 오픈되고 선택모드는 자동 해제됨.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837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페이지네이션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카드 그리드 하단 페이지 이동 영역이다(2페이지, 페이지당 10건).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목록뷰에서만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페이지 번호 클릭 시 해당 페이지 카드로 갱신.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4128" y="58043"/>
          <a:ext cx="8915325" cy="529639"/>
        </p:xfrm>
        <a:graphic>
          <a:graphicData uri="http://schemas.openxmlformats.org/drawingml/2006/table">
            <a:tbl>
              <a:tblPr/>
              <a:tblGrid>
                <a:gridCol w="949346"/>
                <a:gridCol w="660331"/>
                <a:gridCol w="1382934"/>
                <a:gridCol w="1996710"/>
                <a:gridCol w="3926004"/>
              </a:tblGrid>
              <a:tr h="5296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Screen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URL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/portal/mtrm/trend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b="1" dirty="0">
                          <a:solidFill>
                            <a:srgbClr val="ADB5B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Status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36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와이어프레임 (샘플, 보정 예정)</a:t>
                      </a:r>
                      <a:endParaRPr lang="en-US" sz="1152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6490" y="243054"/>
          <a:ext cx="549705" cy="159617"/>
        </p:xfrm>
        <a:graphic>
          <a:graphicData uri="http://schemas.openxmlformats.org/drawingml/2006/table">
            <a:tbl>
              <a:tblPr/>
              <a:tblGrid>
                <a:gridCol w="27485"/>
                <a:gridCol w="494734"/>
                <a:gridCol w="27485"/>
              </a:tblGrid>
              <a:tr h="15961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7" b="1" dirty="0">
                          <a:solidFill>
                            <a:srgbClr val="4950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SCR-014</a:t>
                      </a: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17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652980"/>
          <a:ext cx="9249070" cy="377277"/>
        </p:xfrm>
        <a:graphic>
          <a:graphicData uri="http://schemas.openxmlformats.org/drawingml/2006/table">
            <a:tbl>
              <a:tblPr/>
              <a:tblGrid>
                <a:gridCol w="139527"/>
                <a:gridCol w="459427"/>
                <a:gridCol w="2681715"/>
                <a:gridCol w="4540821"/>
                <a:gridCol w="670568"/>
                <a:gridCol w="131886"/>
                <a:gridCol w="625126"/>
              </a:tblGrid>
              <a:tr h="377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PNDES</a:t>
                      </a:r>
                      <a:endParaRPr 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88888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생기포털&gt;중장기 방향성 공유&gt;기술동향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홍길동 님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로그아웃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55" y="1030257"/>
          <a:ext cx="1378512" cy="5017785"/>
        </p:xfrm>
        <a:graphic>
          <a:graphicData uri="http://schemas.openxmlformats.org/drawingml/2006/table">
            <a:tbl>
              <a:tblPr/>
              <a:tblGrid>
                <a:gridCol w="1250496"/>
                <a:gridCol w="128016"/>
              </a:tblGrid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 자동화 현황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공정 자동화 현황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I/F 실행결과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2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 방향성 공유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대시보드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상세과제 로드맵 관리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3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77777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통합 로드맵 차트</a:t>
                      </a:r>
                      <a:endParaRPr lang="en-US" sz="82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01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5" dirty="0">
                          <a:solidFill>
                            <a:srgbClr val="AAAAA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기술과제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7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765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9021" marR="29021" marT="29021" marB="2902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1853" y="1146342"/>
          <a:ext cx="705341" cy="232171"/>
        </p:xfrm>
        <a:graphic>
          <a:graphicData uri="http://schemas.openxmlformats.org/drawingml/2006/table">
            <a:tbl>
              <a:tblPr/>
              <a:tblGrid>
                <a:gridCol w="540749"/>
                <a:gridCol w="54864"/>
                <a:gridCol w="109728"/>
              </a:tblGrid>
              <a:tr h="232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14511" marB="14511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▾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27386" y="1146342"/>
          <a:ext cx="1175569" cy="232171"/>
        </p:xfrm>
        <a:graphic>
          <a:graphicData uri="http://schemas.openxmlformats.org/drawingml/2006/table">
            <a:tbl>
              <a:tblPr/>
              <a:tblGrid>
                <a:gridCol w="1175569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99999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 검색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8238" y="1146342"/>
          <a:ext cx="501576" cy="232171"/>
        </p:xfrm>
        <a:graphic>
          <a:graphicData uri="http://schemas.openxmlformats.org/drawingml/2006/table">
            <a:tbl>
              <a:tblPr/>
              <a:tblGrid>
                <a:gridCol w="50157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조회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7048" y="1146342"/>
          <a:ext cx="438879" cy="232171"/>
        </p:xfrm>
        <a:graphic>
          <a:graphicData uri="http://schemas.openxmlformats.org/drawingml/2006/table">
            <a:tbl>
              <a:tblPr/>
              <a:tblGrid>
                <a:gridCol w="438879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3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75899" y="1146342"/>
          <a:ext cx="501576" cy="232171"/>
        </p:xfrm>
        <a:graphic>
          <a:graphicData uri="http://schemas.openxmlformats.org/drawingml/2006/table">
            <a:tbl>
              <a:tblPr/>
              <a:tblGrid>
                <a:gridCol w="501576"/>
              </a:tblGrid>
              <a:tr h="232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4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등록</a:t>
                      </a:r>
                      <a:endParaRPr lang="en-US" sz="864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14511" marB="1451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81" name="Shape 68"/>
          <p:cNvSpPr/>
          <p:nvPr/>
        </p:nvSpPr>
        <p:spPr>
          <a:xfrm>
            <a:off x="1472832" y="145832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82" name="Text 69"/>
          <p:cNvSpPr txBox="1"/>
          <p:nvPr/>
        </p:nvSpPr>
        <p:spPr>
          <a:xfrm>
            <a:off x="1472832" y="145832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514" dirty="0"/>
          </a:p>
        </p:txBody>
      </p:sp>
      <p:sp>
        <p:nvSpPr>
          <p:cNvPr id="83" name="Shape 70"/>
          <p:cNvSpPr/>
          <p:nvPr/>
        </p:nvSpPr>
        <p:spPr>
          <a:xfrm>
            <a:off x="1414789" y="5467117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4" name="Text 71"/>
          <p:cNvSpPr txBox="1"/>
          <p:nvPr/>
        </p:nvSpPr>
        <p:spPr>
          <a:xfrm>
            <a:off x="1414789" y="5467117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571" dirty="0"/>
          </a:p>
        </p:txBody>
      </p:sp>
      <p:sp>
        <p:nvSpPr>
          <p:cNvPr id="85" name="Shape 72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6" name="Text 73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87" name="Shape 74"/>
          <p:cNvSpPr/>
          <p:nvPr/>
        </p:nvSpPr>
        <p:spPr>
          <a:xfrm>
            <a:off x="1349491" y="1603428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88" name="Text 75"/>
          <p:cNvSpPr txBox="1"/>
          <p:nvPr/>
        </p:nvSpPr>
        <p:spPr>
          <a:xfrm>
            <a:off x="1349491" y="1603428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70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910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50322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50322" y="337882"/>
            <a:ext cx="1109839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- 수정 선택모드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406842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406842" y="348765"/>
            <a:ext cx="1573386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목록뷰에서 "수정"(1-2) 클릭 시 상태 전환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26909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226909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632676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5176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108830" y="137125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108830" y="18065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459556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65545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108830" y="287311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210405" y="3076259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257643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108830" y="34535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67119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88885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410651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32417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3" name="Shape 31"/>
          <p:cNvSpPr/>
          <p:nvPr/>
        </p:nvSpPr>
        <p:spPr>
          <a:xfrm>
            <a:off x="7255" y="4483793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8830" y="4541836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Shape 33"/>
          <p:cNvSpPr/>
          <p:nvPr/>
        </p:nvSpPr>
        <p:spPr>
          <a:xfrm>
            <a:off x="1501853" y="1146342"/>
            <a:ext cx="652980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59896" y="1146342"/>
            <a:ext cx="569543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37" name="Shape 35"/>
          <p:cNvSpPr/>
          <p:nvPr/>
        </p:nvSpPr>
        <p:spPr>
          <a:xfrm>
            <a:off x="2227386" y="1146342"/>
            <a:ext cx="1088299" cy="23217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85429" y="1146342"/>
            <a:ext cx="1015746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</a:t>
            </a:r>
            <a:endParaRPr lang="en-US" sz="686" dirty="0"/>
          </a:p>
        </p:txBody>
      </p:sp>
      <p:sp>
        <p:nvSpPr>
          <p:cNvPr id="39" name="Shape 37"/>
          <p:cNvSpPr/>
          <p:nvPr/>
        </p:nvSpPr>
        <p:spPr>
          <a:xfrm>
            <a:off x="3388238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388238" y="1146342"/>
            <a:ext cx="507873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686" dirty="0"/>
          </a:p>
        </p:txBody>
      </p:sp>
      <p:sp>
        <p:nvSpPr>
          <p:cNvPr id="41" name="Shape 39"/>
          <p:cNvSpPr/>
          <p:nvPr/>
        </p:nvSpPr>
        <p:spPr>
          <a:xfrm>
            <a:off x="8197048" y="1146342"/>
            <a:ext cx="406298" cy="232171"/>
          </a:xfrm>
          <a:prstGeom prst="rect">
            <a:avLst/>
          </a:prstGeom>
          <a:solidFill>
            <a:srgbClr val="333333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97048" y="1146342"/>
            <a:ext cx="449830" cy="232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686" dirty="0"/>
          </a:p>
        </p:txBody>
      </p:sp>
      <p:sp>
        <p:nvSpPr>
          <p:cNvPr id="43" name="Shape 41"/>
          <p:cNvSpPr/>
          <p:nvPr/>
        </p:nvSpPr>
        <p:spPr>
          <a:xfrm>
            <a:off x="8675899" y="1146342"/>
            <a:ext cx="464341" cy="23217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75899" y="1146342"/>
            <a:ext cx="487558" cy="23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등록</a:t>
            </a:r>
            <a:endParaRPr lang="en-US" sz="686" dirty="0"/>
          </a:p>
        </p:txBody>
      </p:sp>
      <p:sp>
        <p:nvSpPr>
          <p:cNvPr id="45" name="Shape 43"/>
          <p:cNvSpPr/>
          <p:nvPr/>
        </p:nvSpPr>
        <p:spPr>
          <a:xfrm>
            <a:off x="1501853" y="1523619"/>
            <a:ext cx="7638387" cy="232171"/>
          </a:xfrm>
          <a:prstGeom prst="rect">
            <a:avLst/>
          </a:prstGeom>
          <a:solidFill>
            <a:srgbClr val="FAFAFA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603428" y="1581662"/>
            <a:ext cx="7478770" cy="116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수정할 항목의 라디오 버튼을 선택하세요.</a:t>
            </a:r>
            <a:endParaRPr lang="en-US" sz="686" dirty="0"/>
          </a:p>
        </p:txBody>
      </p:sp>
      <p:sp>
        <p:nvSpPr>
          <p:cNvPr id="47" name="Shape 45"/>
          <p:cNvSpPr/>
          <p:nvPr/>
        </p:nvSpPr>
        <p:spPr>
          <a:xfrm>
            <a:off x="1501853" y="1857364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09108" y="1864619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509108" y="1864619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567151" y="1922662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567151" y="3342893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endParaRPr lang="en-US" sz="686" dirty="0"/>
          </a:p>
        </p:txBody>
      </p:sp>
      <p:sp>
        <p:nvSpPr>
          <p:cNvPr id="52" name="Text 50"/>
          <p:cNvSpPr txBox="1"/>
          <p:nvPr/>
        </p:nvSpPr>
        <p:spPr>
          <a:xfrm>
            <a:off x="1567151" y="3502510"/>
            <a:ext cx="1347677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121 · 2026-07-01 · 기획팀 · 박** · #자동화</a:t>
            </a:r>
            <a:endParaRPr lang="en-US" sz="628" dirty="0"/>
          </a:p>
        </p:txBody>
      </p:sp>
      <p:sp>
        <p:nvSpPr>
          <p:cNvPr id="53" name="Shape 51"/>
          <p:cNvSpPr/>
          <p:nvPr/>
        </p:nvSpPr>
        <p:spPr>
          <a:xfrm>
            <a:off x="3052679" y="1857364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59935" y="1864619"/>
            <a:ext cx="1420344" cy="14203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059935" y="1864619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17977" y="1922662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17977" y="3343006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신기술 소재 자료 B</a:t>
            </a:r>
            <a:endParaRPr lang="en-US" sz="686" dirty="0"/>
          </a:p>
        </p:txBody>
      </p:sp>
      <p:sp>
        <p:nvSpPr>
          <p:cNvPr id="58" name="Text 56"/>
          <p:cNvSpPr txBox="1"/>
          <p:nvPr/>
        </p:nvSpPr>
        <p:spPr>
          <a:xfrm>
            <a:off x="3117977" y="3502623"/>
            <a:ext cx="1347791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85 · 2026-07-05 · 기획팀 · 이** · #신소재</a:t>
            </a:r>
            <a:endParaRPr lang="en-US" sz="628" dirty="0"/>
          </a:p>
        </p:txBody>
      </p:sp>
      <p:sp>
        <p:nvSpPr>
          <p:cNvPr id="59" name="Shape 57"/>
          <p:cNvSpPr/>
          <p:nvPr/>
        </p:nvSpPr>
        <p:spPr>
          <a:xfrm>
            <a:off x="4603619" y="1857364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0875" y="1864619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610875" y="1864619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668917" y="1922662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668917" y="3342893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기술개발 제안 C</a:t>
            </a:r>
            <a:endParaRPr lang="en-US" sz="686" dirty="0"/>
          </a:p>
        </p:txBody>
      </p:sp>
      <p:sp>
        <p:nvSpPr>
          <p:cNvPr id="64" name="Text 62"/>
          <p:cNvSpPr txBox="1"/>
          <p:nvPr/>
        </p:nvSpPr>
        <p:spPr>
          <a:xfrm>
            <a:off x="4668917" y="3502510"/>
            <a:ext cx="1347677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42 · 2026-07-10 · 기획팀 · 최** · #제안</a:t>
            </a:r>
            <a:endParaRPr lang="en-US" sz="628" dirty="0"/>
          </a:p>
        </p:txBody>
      </p:sp>
      <p:sp>
        <p:nvSpPr>
          <p:cNvPr id="65" name="Shape 63"/>
          <p:cNvSpPr/>
          <p:nvPr/>
        </p:nvSpPr>
        <p:spPr>
          <a:xfrm>
            <a:off x="6154446" y="1857364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61701" y="1864619"/>
            <a:ext cx="1420344" cy="14203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161701" y="1864619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219744" y="1922662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219744" y="3343006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D</a:t>
            </a:r>
            <a:endParaRPr lang="en-US" sz="686" dirty="0"/>
          </a:p>
        </p:txBody>
      </p:sp>
      <p:sp>
        <p:nvSpPr>
          <p:cNvPr id="70" name="Text 68"/>
          <p:cNvSpPr txBox="1"/>
          <p:nvPr/>
        </p:nvSpPr>
        <p:spPr>
          <a:xfrm>
            <a:off x="6219744" y="3502623"/>
            <a:ext cx="1347791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200 · 2026-07-14 · 기획팀 · 정** · #자동화</a:t>
            </a:r>
            <a:endParaRPr lang="en-US" sz="628" dirty="0"/>
          </a:p>
        </p:txBody>
      </p:sp>
      <p:sp>
        <p:nvSpPr>
          <p:cNvPr id="71" name="Shape 69"/>
          <p:cNvSpPr/>
          <p:nvPr/>
        </p:nvSpPr>
        <p:spPr>
          <a:xfrm>
            <a:off x="7705386" y="1857364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12641" y="1864619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712641" y="1864619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770684" y="1922662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70684" y="3342893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기술동향 E</a:t>
            </a:r>
            <a:endParaRPr lang="en-US" sz="686" dirty="0"/>
          </a:p>
        </p:txBody>
      </p:sp>
      <p:sp>
        <p:nvSpPr>
          <p:cNvPr id="76" name="Text 74"/>
          <p:cNvSpPr txBox="1"/>
          <p:nvPr/>
        </p:nvSpPr>
        <p:spPr>
          <a:xfrm>
            <a:off x="7770684" y="3502510"/>
            <a:ext cx="1347677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74 · 2026-07-19 · 기획팀 · 한** · #로봇</a:t>
            </a:r>
            <a:endParaRPr lang="en-US" sz="628" dirty="0"/>
          </a:p>
        </p:txBody>
      </p:sp>
      <p:sp>
        <p:nvSpPr>
          <p:cNvPr id="77" name="Shape 75"/>
          <p:cNvSpPr/>
          <p:nvPr/>
        </p:nvSpPr>
        <p:spPr>
          <a:xfrm>
            <a:off x="1501853" y="3872645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09108" y="3879900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509108" y="3879900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567151" y="3937943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567151" y="5358174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기술동향 F</a:t>
            </a:r>
            <a:endParaRPr lang="en-US" sz="686" dirty="0"/>
          </a:p>
        </p:txBody>
      </p:sp>
      <p:sp>
        <p:nvSpPr>
          <p:cNvPr id="82" name="Text 80"/>
          <p:cNvSpPr txBox="1"/>
          <p:nvPr/>
        </p:nvSpPr>
        <p:spPr>
          <a:xfrm>
            <a:off x="1567151" y="5517791"/>
            <a:ext cx="1347677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85 · 2026-07-20 · 기획팀 · 조** · #설계</a:t>
            </a:r>
            <a:endParaRPr lang="en-US" sz="628" dirty="0"/>
          </a:p>
        </p:txBody>
      </p:sp>
      <p:sp>
        <p:nvSpPr>
          <p:cNvPr id="83" name="Shape 81"/>
          <p:cNvSpPr/>
          <p:nvPr/>
        </p:nvSpPr>
        <p:spPr>
          <a:xfrm>
            <a:off x="3052679" y="3872645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59935" y="3879900"/>
            <a:ext cx="1420344" cy="14203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3059935" y="3879900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117977" y="3937943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3117977" y="5358287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기술동향 G</a:t>
            </a:r>
            <a:endParaRPr lang="en-US" sz="686" dirty="0"/>
          </a:p>
        </p:txBody>
      </p:sp>
      <p:sp>
        <p:nvSpPr>
          <p:cNvPr id="88" name="Text 86"/>
          <p:cNvSpPr txBox="1"/>
          <p:nvPr/>
        </p:nvSpPr>
        <p:spPr>
          <a:xfrm>
            <a:off x="3117977" y="5517904"/>
            <a:ext cx="1347791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96 · 2026-07-21 · 기획팀 · 임** · #품질</a:t>
            </a:r>
            <a:endParaRPr lang="en-US" sz="628" dirty="0"/>
          </a:p>
        </p:txBody>
      </p:sp>
      <p:sp>
        <p:nvSpPr>
          <p:cNvPr id="89" name="Shape 87"/>
          <p:cNvSpPr/>
          <p:nvPr/>
        </p:nvSpPr>
        <p:spPr>
          <a:xfrm>
            <a:off x="4603619" y="3872645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610875" y="3879900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4610875" y="3879900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668917" y="3937943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668917" y="5358174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기술동향 H</a:t>
            </a:r>
            <a:endParaRPr lang="en-US" sz="686" dirty="0"/>
          </a:p>
        </p:txBody>
      </p:sp>
      <p:sp>
        <p:nvSpPr>
          <p:cNvPr id="94" name="Text 92"/>
          <p:cNvSpPr txBox="1"/>
          <p:nvPr/>
        </p:nvSpPr>
        <p:spPr>
          <a:xfrm>
            <a:off x="4668917" y="5517791"/>
            <a:ext cx="1347677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107 · 2026-07-22 · 기획팀 · 홍** · #안전</a:t>
            </a:r>
            <a:endParaRPr lang="en-US" sz="628" dirty="0"/>
          </a:p>
        </p:txBody>
      </p:sp>
      <p:sp>
        <p:nvSpPr>
          <p:cNvPr id="95" name="Shape 93"/>
          <p:cNvSpPr/>
          <p:nvPr/>
        </p:nvSpPr>
        <p:spPr>
          <a:xfrm>
            <a:off x="6154446" y="3872645"/>
            <a:ext cx="1434855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61701" y="3879900"/>
            <a:ext cx="1420344" cy="14203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6161701" y="3879900"/>
            <a:ext cx="1463876" cy="1420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219744" y="3937943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219744" y="5358287"/>
            <a:ext cx="1347791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기술동향 I</a:t>
            </a:r>
            <a:endParaRPr lang="en-US" sz="686" dirty="0"/>
          </a:p>
        </p:txBody>
      </p:sp>
      <p:sp>
        <p:nvSpPr>
          <p:cNvPr id="100" name="Text 98"/>
          <p:cNvSpPr txBox="1"/>
          <p:nvPr/>
        </p:nvSpPr>
        <p:spPr>
          <a:xfrm>
            <a:off x="6219744" y="5517904"/>
            <a:ext cx="1347791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118 · 2026-07-23 · 기획팀 · 김** · #원가</a:t>
            </a:r>
            <a:endParaRPr lang="en-US" sz="628" dirty="0"/>
          </a:p>
        </p:txBody>
      </p:sp>
      <p:sp>
        <p:nvSpPr>
          <p:cNvPr id="101" name="Shape 99"/>
          <p:cNvSpPr/>
          <p:nvPr/>
        </p:nvSpPr>
        <p:spPr>
          <a:xfrm>
            <a:off x="7705386" y="3872645"/>
            <a:ext cx="1434741" cy="1899196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712641" y="3879900"/>
            <a:ext cx="1420231" cy="1420231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7712641" y="3879900"/>
            <a:ext cx="1463763" cy="14202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7770684" y="3937943"/>
            <a:ext cx="130596" cy="130596"/>
          </a:xfrm>
          <a:prstGeom prst="ellipse">
            <a:avLst/>
          </a:prstGeom>
          <a:solidFill>
            <a:srgbClr val="FCFCF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770684" y="5358174"/>
            <a:ext cx="1347677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기술동향 J</a:t>
            </a:r>
            <a:endParaRPr lang="en-US" sz="686" dirty="0"/>
          </a:p>
        </p:txBody>
      </p:sp>
      <p:sp>
        <p:nvSpPr>
          <p:cNvPr id="106" name="Text 104"/>
          <p:cNvSpPr txBox="1"/>
          <p:nvPr/>
        </p:nvSpPr>
        <p:spPr>
          <a:xfrm>
            <a:off x="7770684" y="5517791"/>
            <a:ext cx="1347677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129 · 2026-07-24 · 기획팀 · 이** · #물류</a:t>
            </a:r>
            <a:endParaRPr lang="en-US" sz="628" dirty="0"/>
          </a:p>
        </p:txBody>
      </p:sp>
      <p:sp>
        <p:nvSpPr>
          <p:cNvPr id="107" name="Shape 105"/>
          <p:cNvSpPr/>
          <p:nvPr/>
        </p:nvSpPr>
        <p:spPr>
          <a:xfrm>
            <a:off x="4849394" y="5887926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849394" y="5887926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</a:t>
            </a:r>
            <a:endParaRPr lang="en-US" sz="686" dirty="0"/>
          </a:p>
        </p:txBody>
      </p:sp>
      <p:sp>
        <p:nvSpPr>
          <p:cNvPr id="109" name="Shape 107"/>
          <p:cNvSpPr/>
          <p:nvPr/>
        </p:nvSpPr>
        <p:spPr>
          <a:xfrm>
            <a:off x="5096075" y="5887926"/>
            <a:ext cx="203149" cy="20314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5096075" y="5887926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686" dirty="0"/>
          </a:p>
        </p:txBody>
      </p:sp>
      <p:sp>
        <p:nvSpPr>
          <p:cNvPr id="111" name="Shape 109"/>
          <p:cNvSpPr/>
          <p:nvPr/>
        </p:nvSpPr>
        <p:spPr>
          <a:xfrm>
            <a:off x="5342756" y="5887926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342756" y="5887926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686" dirty="0"/>
          </a:p>
        </p:txBody>
      </p:sp>
      <p:sp>
        <p:nvSpPr>
          <p:cNvPr id="113" name="Shape 111"/>
          <p:cNvSpPr/>
          <p:nvPr/>
        </p:nvSpPr>
        <p:spPr>
          <a:xfrm>
            <a:off x="5589437" y="5887926"/>
            <a:ext cx="203149" cy="20314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589437" y="5887926"/>
            <a:ext cx="233622" cy="203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686" dirty="0"/>
          </a:p>
        </p:txBody>
      </p:sp>
      <p:sp>
        <p:nvSpPr>
          <p:cNvPr id="115" name="Shape 113"/>
          <p:cNvSpPr/>
          <p:nvPr/>
        </p:nvSpPr>
        <p:spPr>
          <a:xfrm>
            <a:off x="9263581" y="0"/>
            <a:ext cx="2925258" cy="2459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72198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17" name="Text 115"/>
          <p:cNvSpPr txBox="1"/>
          <p:nvPr/>
        </p:nvSpPr>
        <p:spPr>
          <a:xfrm>
            <a:off x="372198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1-1</a:t>
            </a:r>
            <a:endParaRPr lang="en-US" sz="514" dirty="0"/>
          </a:p>
        </p:txBody>
      </p:sp>
      <p:sp>
        <p:nvSpPr>
          <p:cNvPr id="118" name="Shape 116"/>
          <p:cNvSpPr/>
          <p:nvPr/>
        </p:nvSpPr>
        <p:spPr>
          <a:xfrm>
            <a:off x="8465495" y="1262427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19" name="Text 117"/>
          <p:cNvSpPr txBox="1"/>
          <p:nvPr/>
        </p:nvSpPr>
        <p:spPr>
          <a:xfrm>
            <a:off x="8465495" y="1262427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514" dirty="0"/>
          </a:p>
        </p:txBody>
      </p:sp>
      <p:sp>
        <p:nvSpPr>
          <p:cNvPr id="120" name="Shape 118"/>
          <p:cNvSpPr/>
          <p:nvPr/>
        </p:nvSpPr>
        <p:spPr>
          <a:xfrm>
            <a:off x="9009644" y="1269683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21" name="Text 119"/>
          <p:cNvSpPr txBox="1"/>
          <p:nvPr/>
        </p:nvSpPr>
        <p:spPr>
          <a:xfrm>
            <a:off x="9009644" y="1269683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514" dirty="0"/>
          </a:p>
        </p:txBody>
      </p:sp>
      <p:sp>
        <p:nvSpPr>
          <p:cNvPr id="122" name="Shape 120"/>
          <p:cNvSpPr/>
          <p:nvPr/>
        </p:nvSpPr>
        <p:spPr>
          <a:xfrm>
            <a:off x="1472832" y="1792066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123" name="Text 121"/>
          <p:cNvSpPr txBox="1"/>
          <p:nvPr/>
        </p:nvSpPr>
        <p:spPr>
          <a:xfrm>
            <a:off x="1472832" y="1792066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514" dirty="0"/>
          </a:p>
        </p:txBody>
      </p:sp>
      <p:sp>
        <p:nvSpPr>
          <p:cNvPr id="124" name="Shape 122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25" name="Text 123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571" dirty="0"/>
          </a:p>
        </p:txBody>
      </p:sp>
      <p:sp>
        <p:nvSpPr>
          <p:cNvPr id="126" name="Shape 124"/>
          <p:cNvSpPr/>
          <p:nvPr/>
        </p:nvSpPr>
        <p:spPr>
          <a:xfrm>
            <a:off x="1349491" y="1937173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127" name="Text 125"/>
          <p:cNvSpPr txBox="1"/>
          <p:nvPr/>
        </p:nvSpPr>
        <p:spPr>
          <a:xfrm>
            <a:off x="1349491" y="1937173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36577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8597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선택모드 안내 배너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"수정할 항목의 라디오 버튼을 선택하세요." 안내 문구가 카드 그리드 상단에 노출되는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목록뷰에서 "수정" 버튼 클릭 시에만 노출.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165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카드 + 라디오 오버레이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선택모드에서 각 카드 좌상단에 라디오 버튼이 오버레이되는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카드 또는 라디오 클릭 시 해당 기술동향 값이 프리필된 "기술동향 수정"(trendEdit) 팝업 오픈, 선택모드 자동 해제.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 없이 화면 이탈 시 별도 확인 없이 선택모드 해제.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70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910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50322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50322" y="337882"/>
            <a:ext cx="2205393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- 기술동향 수정 팝업(trendEdit, 프리필)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502397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3502397" y="348765"/>
            <a:ext cx="118216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선택모드에서 카드/라디오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931243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4931243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1871875"/>
            <a:ext cx="4643410" cy="3351962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002471"/>
            <a:ext cx="63302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수정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198796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248132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325775" y="2416024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328" y="2416024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282957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이름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325775" y="2764280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328" y="2764280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박**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2455135" y="317783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325775" y="3112536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98328" y="3112536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기획팀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2455135" y="352609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325775" y="3460792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98328" y="3460792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2455135" y="3874345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325775" y="3809048"/>
            <a:ext cx="3482558" cy="46434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98328" y="3867090"/>
            <a:ext cx="3380983" cy="3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완성차 OEM의 조립라인 자동화 도입 현황과 협동로봇 적용 사례를 정리한 자료입니다.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2455135" y="4440261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3325775" y="4374963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2051" y="4403984"/>
            <a:ext cx="455612" cy="188639"/>
          </a:xfrm>
          <a:prstGeom prst="rect">
            <a:avLst/>
          </a:prstGeom>
          <a:solidFill>
            <a:srgbClr val="EEEEEE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34605" y="4403984"/>
            <a:ext cx="333286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선택</a:t>
            </a:r>
            <a:endParaRPr lang="en-US" sz="628" dirty="0"/>
          </a:p>
        </p:txBody>
      </p:sp>
      <p:sp>
        <p:nvSpPr>
          <p:cNvPr id="35" name="Text 33"/>
          <p:cNvSpPr txBox="1"/>
          <p:nvPr/>
        </p:nvSpPr>
        <p:spPr>
          <a:xfrm>
            <a:off x="3875706" y="4451144"/>
            <a:ext cx="497443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첨부 없음</a:t>
            </a:r>
            <a:endParaRPr lang="en-US" sz="628" dirty="0"/>
          </a:p>
        </p:txBody>
      </p:sp>
      <p:sp>
        <p:nvSpPr>
          <p:cNvPr id="36" name="Shape 34"/>
          <p:cNvSpPr/>
          <p:nvPr/>
        </p:nvSpPr>
        <p:spPr>
          <a:xfrm>
            <a:off x="2310029" y="4766751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12299" y="4875581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2895" y="4875581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9" name="Shape 37"/>
          <p:cNvSpPr/>
          <p:nvPr/>
        </p:nvSpPr>
        <p:spPr>
          <a:xfrm>
            <a:off x="6396592" y="4875581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27188" y="4875581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686" dirty="0"/>
          </a:p>
        </p:txBody>
      </p:sp>
      <p:sp>
        <p:nvSpPr>
          <p:cNvPr id="41" name="Shape 39"/>
          <p:cNvSpPr/>
          <p:nvPr/>
        </p:nvSpPr>
        <p:spPr>
          <a:xfrm>
            <a:off x="9263581" y="0"/>
            <a:ext cx="2925258" cy="29891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222965" y="1784811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222965" y="1784811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571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249758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22232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기술동향 수정을 트리거하는 영역이다(상위 SCR-014(scr-014-selectmode) Description NO=2 "카드+라디오 오버레이"와 동일 NO).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기술동향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선택모드에서 카드/라디오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제목*, 담당자 이름*, 부서명*, 태그, 내용*, 첨부파일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선택한 기술동향의 제목/담당자이름/부서명/태그/내용/첨부파일 값이 폼에 프리필된다.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"확인" 클릭 시 저장 후 모달 닫힘, toast: "기술동향이 수정되었습니다." 노출.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필수값(제목, 담당자 이름, 부서명, 내용)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70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910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50322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50322" y="337882"/>
            <a:ext cx="80194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- 상세뷰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098944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098944" y="348765"/>
            <a:ext cx="1303125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목록뷰에서 카드 클릭 시 상태 전환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648750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648750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6212276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377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2362" y="769065"/>
            <a:ext cx="397456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PNDES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22371" y="783575"/>
            <a:ext cx="1632676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생기포털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pPr algn="l" indent="0" marL="0">
              <a:buNone/>
            </a:pPr>
            <a:r>
              <a:rPr lang="en-US" sz="686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algn="l" indent="0" marL="0">
              <a:buNone/>
            </a:pPr>
            <a:r>
              <a:rPr lang="en-US" sz="686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5" name="Text 13"/>
          <p:cNvSpPr txBox="1"/>
          <p:nvPr/>
        </p:nvSpPr>
        <p:spPr>
          <a:xfrm>
            <a:off x="8141499" y="783575"/>
            <a:ext cx="839124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 님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</a:t>
            </a:r>
            <a:pPr algn="l" indent="0" marL="0">
              <a:buNone/>
            </a:pPr>
            <a:r>
              <a:rPr lang="en-US" sz="686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로그아웃</a:t>
            </a:r>
            <a:pPr algn="l" indent="0" marL="0">
              <a:buNone/>
            </a:pPr>
            <a:endParaRPr lang="en-US" sz="686" dirty="0"/>
          </a:p>
        </p:txBody>
      </p:sp>
      <p:sp>
        <p:nvSpPr>
          <p:cNvPr id="16" name="Shape 14"/>
          <p:cNvSpPr/>
          <p:nvPr/>
        </p:nvSpPr>
        <p:spPr>
          <a:xfrm>
            <a:off x="7255" y="1030257"/>
            <a:ext cx="1378512" cy="42725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8830" y="1175363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자동화 현황</a:t>
            </a:r>
            <a:endParaRPr lang="en-US" sz="628" dirty="0"/>
          </a:p>
        </p:txBody>
      </p:sp>
      <p:sp>
        <p:nvSpPr>
          <p:cNvPr id="18" name="Text 16"/>
          <p:cNvSpPr txBox="1"/>
          <p:nvPr/>
        </p:nvSpPr>
        <p:spPr>
          <a:xfrm>
            <a:off x="108830" y="137125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공정 자동화 현황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108830" y="158891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표준공정 마스터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0" name="Text 18"/>
          <p:cNvSpPr txBox="1"/>
          <p:nvPr/>
        </p:nvSpPr>
        <p:spPr>
          <a:xfrm>
            <a:off x="108830" y="180657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공정 자동화 현황</a:t>
            </a:r>
            <a:endParaRPr lang="en-US" sz="686" dirty="0"/>
          </a:p>
        </p:txBody>
      </p:sp>
      <p:sp>
        <p:nvSpPr>
          <p:cNvPr id="21" name="Text 19"/>
          <p:cNvSpPr txBox="1"/>
          <p:nvPr/>
        </p:nvSpPr>
        <p:spPr>
          <a:xfrm>
            <a:off x="108830" y="202423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표준 작업명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108830" y="2241897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I/F 실행결과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23" name="Text 21"/>
          <p:cNvSpPr txBox="1"/>
          <p:nvPr/>
        </p:nvSpPr>
        <p:spPr>
          <a:xfrm>
            <a:off x="108830" y="2459556"/>
            <a:ext cx="1211640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중장기 방향성 공유</a:t>
            </a:r>
            <a:endParaRPr lang="en-US" sz="628" dirty="0"/>
          </a:p>
        </p:txBody>
      </p:sp>
      <p:sp>
        <p:nvSpPr>
          <p:cNvPr id="24" name="Text 22"/>
          <p:cNvSpPr txBox="1"/>
          <p:nvPr/>
        </p:nvSpPr>
        <p:spPr>
          <a:xfrm>
            <a:off x="108830" y="265545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대시보드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108830" y="2873110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</a:t>
            </a:r>
            <a:endParaRPr lang="en-US" sz="686" dirty="0"/>
          </a:p>
        </p:txBody>
      </p:sp>
      <p:sp>
        <p:nvSpPr>
          <p:cNvPr id="26" name="Text 24"/>
          <p:cNvSpPr txBox="1"/>
          <p:nvPr/>
        </p:nvSpPr>
        <p:spPr>
          <a:xfrm>
            <a:off x="210405" y="3076259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상세과제 로드맵 관리</a:t>
            </a:r>
            <a:endParaRPr lang="en-US" sz="628" dirty="0"/>
          </a:p>
        </p:txBody>
      </p:sp>
      <p:sp>
        <p:nvSpPr>
          <p:cNvPr id="27" name="Text 25"/>
          <p:cNvSpPr txBox="1"/>
          <p:nvPr/>
        </p:nvSpPr>
        <p:spPr>
          <a:xfrm>
            <a:off x="210405" y="3257643"/>
            <a:ext cx="111006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로드맵 차트</a:t>
            </a:r>
            <a:endParaRPr lang="en-US" sz="628" dirty="0"/>
          </a:p>
        </p:txBody>
      </p:sp>
      <p:sp>
        <p:nvSpPr>
          <p:cNvPr id="28" name="Text 26"/>
          <p:cNvSpPr txBox="1"/>
          <p:nvPr/>
        </p:nvSpPr>
        <p:spPr>
          <a:xfrm>
            <a:off x="108830" y="345353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</a:t>
            </a:r>
            <a:endParaRPr lang="en-US" sz="686" dirty="0"/>
          </a:p>
        </p:txBody>
      </p:sp>
      <p:sp>
        <p:nvSpPr>
          <p:cNvPr id="29" name="Text 27"/>
          <p:cNvSpPr txBox="1"/>
          <p:nvPr/>
        </p:nvSpPr>
        <p:spPr>
          <a:xfrm>
            <a:off x="108830" y="367119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생산기술 Tech PR 관리자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0" name="Text 28"/>
          <p:cNvSpPr txBox="1"/>
          <p:nvPr/>
        </p:nvSpPr>
        <p:spPr>
          <a:xfrm>
            <a:off x="108830" y="388885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협의체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108830" y="410651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mTRM 관리</a:t>
            </a:r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686" dirty="0"/>
          </a:p>
        </p:txBody>
      </p:sp>
      <p:sp>
        <p:nvSpPr>
          <p:cNvPr id="32" name="Text 30"/>
          <p:cNvSpPr txBox="1"/>
          <p:nvPr/>
        </p:nvSpPr>
        <p:spPr>
          <a:xfrm>
            <a:off x="108830" y="4324176"/>
            <a:ext cx="1211640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기술과제 관리</a:t>
            </a:r>
            <a:endParaRPr lang="en-US" sz="686" dirty="0"/>
          </a:p>
        </p:txBody>
      </p:sp>
      <p:sp>
        <p:nvSpPr>
          <p:cNvPr id="33" name="Shape 31"/>
          <p:cNvSpPr/>
          <p:nvPr/>
        </p:nvSpPr>
        <p:spPr>
          <a:xfrm>
            <a:off x="7255" y="4483793"/>
            <a:ext cx="1371257" cy="2176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8830" y="4541836"/>
            <a:ext cx="1211640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</a:t>
            </a:r>
            <a:endParaRPr lang="en-US" sz="686" dirty="0"/>
          </a:p>
        </p:txBody>
      </p:sp>
      <p:sp>
        <p:nvSpPr>
          <p:cNvPr id="35" name="Text 33"/>
          <p:cNvSpPr txBox="1"/>
          <p:nvPr/>
        </p:nvSpPr>
        <p:spPr>
          <a:xfrm>
            <a:off x="1501853" y="1211640"/>
            <a:ext cx="39552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 목록으로</a:t>
            </a:r>
            <a:endParaRPr lang="en-US" sz="686" dirty="0"/>
          </a:p>
        </p:txBody>
      </p:sp>
      <p:sp>
        <p:nvSpPr>
          <p:cNvPr id="36" name="Shape 34"/>
          <p:cNvSpPr/>
          <p:nvPr/>
        </p:nvSpPr>
        <p:spPr>
          <a:xfrm>
            <a:off x="8185598" y="1146342"/>
            <a:ext cx="448243" cy="23217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01683" y="1204385"/>
            <a:ext cx="238485" cy="20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BBBB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 이전</a:t>
            </a:r>
            <a:endParaRPr lang="en-US" sz="686" dirty="0"/>
          </a:p>
        </p:txBody>
      </p:sp>
      <p:sp>
        <p:nvSpPr>
          <p:cNvPr id="38" name="Shape 36"/>
          <p:cNvSpPr/>
          <p:nvPr/>
        </p:nvSpPr>
        <p:spPr>
          <a:xfrm>
            <a:off x="8691884" y="1146342"/>
            <a:ext cx="448357" cy="23217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07969" y="1204385"/>
            <a:ext cx="238604" cy="20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›</a:t>
            </a:r>
            <a:endParaRPr lang="en-US" sz="686" dirty="0"/>
          </a:p>
        </p:txBody>
      </p:sp>
      <p:sp>
        <p:nvSpPr>
          <p:cNvPr id="40" name="Text 38"/>
          <p:cNvSpPr txBox="1"/>
          <p:nvPr/>
        </p:nvSpPr>
        <p:spPr>
          <a:xfrm>
            <a:off x="1501853" y="1523619"/>
            <a:ext cx="1376699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43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자동화 트렌드 A</a:t>
            </a:r>
            <a:endParaRPr lang="en-US" sz="1143" dirty="0"/>
          </a:p>
        </p:txBody>
      </p:sp>
      <p:sp>
        <p:nvSpPr>
          <p:cNvPr id="41" name="Text 39"/>
          <p:cNvSpPr txBox="1"/>
          <p:nvPr/>
        </p:nvSpPr>
        <p:spPr>
          <a:xfrm>
            <a:off x="7803786" y="1581662"/>
            <a:ext cx="1379986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122 | 2026-07-01 | 기획팀/박**</a:t>
            </a:r>
            <a:endParaRPr lang="en-US" sz="686" dirty="0"/>
          </a:p>
        </p:txBody>
      </p:sp>
      <p:sp>
        <p:nvSpPr>
          <p:cNvPr id="42" name="Text 40"/>
          <p:cNvSpPr txBox="1"/>
          <p:nvPr/>
        </p:nvSpPr>
        <p:spPr>
          <a:xfrm>
            <a:off x="1501853" y="1770300"/>
            <a:ext cx="7681919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1971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#자동화</a:t>
            </a:r>
            <a:endParaRPr lang="en-US" sz="686" dirty="0"/>
          </a:p>
        </p:txBody>
      </p:sp>
      <p:sp>
        <p:nvSpPr>
          <p:cNvPr id="43" name="Shape 41"/>
          <p:cNvSpPr/>
          <p:nvPr/>
        </p:nvSpPr>
        <p:spPr>
          <a:xfrm>
            <a:off x="1501853" y="2016981"/>
            <a:ext cx="7638387" cy="2864381"/>
          </a:xfrm>
          <a:prstGeom prst="rect">
            <a:avLst/>
          </a:prstGeom>
          <a:solidFill>
            <a:srgbClr val="EEF1F4"/>
          </a:solidFill>
          <a:ln w="7620">
            <a:solidFill>
              <a:srgbClr val="E1E5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01853" y="2133067"/>
            <a:ext cx="7681919" cy="274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브로슈어 / 이미지 / 동영상 프리뷰 영역</a:t>
            </a:r>
            <a:endParaRPr lang="en-US" sz="686" dirty="0"/>
          </a:p>
        </p:txBody>
      </p:sp>
      <p:sp>
        <p:nvSpPr>
          <p:cNvPr id="45" name="Text 43"/>
          <p:cNvSpPr txBox="1"/>
          <p:nvPr/>
        </p:nvSpPr>
        <p:spPr>
          <a:xfrm>
            <a:off x="1501853" y="5026469"/>
            <a:ext cx="7681919" cy="160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완성차 OEM의 조립라인 자동화 도입 현황과 협동로봇 적용 사례를 정리한 자료입니다.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74128" y="6508030"/>
            <a:ext cx="8915325" cy="224915"/>
          </a:xfrm>
          <a:prstGeom prst="roundRect">
            <a:avLst>
              <a:gd name="adj" fmla="val 12903"/>
            </a:avLst>
          </a:prstGeom>
          <a:solidFill>
            <a:srgbClr val="FFF8E1"/>
          </a:solidFill>
          <a:ln w="7620">
            <a:solidFill>
              <a:srgbClr val="FFE08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1192" y="6566072"/>
            <a:ext cx="8784729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D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재작업 시 주의: 위 캔버스의 프리뷰 영역 스타일은 </a:t>
            </a:r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D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src/frontend/css/common.css</a:t>
            </a:r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D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</a:t>
            </a:r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D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.trend-detail-body-preview</a:t>
            </a:r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8D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정의값을 그대로 옮긴 것이다. 색상/비율을 변경하려면 먼저 실제 CSS 파일을 갱신하고, 여기는 그 값을 따라가야 한다(반대 순서 금지).</a:t>
            </a:r>
            <a:endParaRPr lang="en-US" sz="628" dirty="0"/>
          </a:p>
        </p:txBody>
      </p:sp>
      <p:sp>
        <p:nvSpPr>
          <p:cNvPr id="48" name="Shape 46"/>
          <p:cNvSpPr/>
          <p:nvPr/>
        </p:nvSpPr>
        <p:spPr>
          <a:xfrm>
            <a:off x="9263581" y="0"/>
            <a:ext cx="2925258" cy="37727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458321" y="1204385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1458321" y="1204385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4-1</a:t>
            </a:r>
            <a:endParaRPr lang="en-US" sz="514" dirty="0"/>
          </a:p>
        </p:txBody>
      </p:sp>
      <p:sp>
        <p:nvSpPr>
          <p:cNvPr id="51" name="Shape 49"/>
          <p:cNvSpPr/>
          <p:nvPr/>
        </p:nvSpPr>
        <p:spPr>
          <a:xfrm>
            <a:off x="9009644" y="1081044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9009644" y="1081044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4-3</a:t>
            </a:r>
            <a:endParaRPr lang="en-US" sz="514" dirty="0"/>
          </a:p>
        </p:txBody>
      </p:sp>
      <p:sp>
        <p:nvSpPr>
          <p:cNvPr id="53" name="Shape 51"/>
          <p:cNvSpPr/>
          <p:nvPr/>
        </p:nvSpPr>
        <p:spPr>
          <a:xfrm>
            <a:off x="1458321" y="1458321"/>
            <a:ext cx="174128" cy="174128"/>
          </a:xfrm>
          <a:prstGeom prst="ellipse">
            <a:avLst/>
          </a:prstGeom>
          <a:solidFill>
            <a:srgbClr val="EE2B2B"/>
          </a:solidFill>
          <a:ln w="15240">
            <a:solidFill>
              <a:srgbClr val="FFFFFF"/>
            </a:solidFill>
            <a:prstDash val="solid"/>
          </a:ln>
          <a:effectLst>
            <a:outerShdw sx="100000" sy="100000" kx="0" ky="0" algn="bl" rotWithShape="0" blurRad="43532" dist="14511" dir="540000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1458321" y="1458321"/>
            <a:ext cx="200247" cy="17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4-2</a:t>
            </a:r>
            <a:endParaRPr lang="en-US" sz="514" dirty="0"/>
          </a:p>
        </p:txBody>
      </p:sp>
      <p:sp>
        <p:nvSpPr>
          <p:cNvPr id="55" name="Shape 53"/>
          <p:cNvSpPr/>
          <p:nvPr/>
        </p:nvSpPr>
        <p:spPr>
          <a:xfrm>
            <a:off x="1349491" y="1088299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1349491" y="1088299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571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3861061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35867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상세뷰(목록 → 상세 전환)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카드 클릭 시 전환되는 상세 화면 영역이다. 상단에 목록 복귀 링크와 이전/다음 탐색이, 하단에 본문이 배치된다(카드형 박스 없이 페이지 전체 폭을 사용하는 패널 구조).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4-1 목록으로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좌측 상단 고정.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목록뷰(2)로 복귀.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4-2 본문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최상단에 제목(좌)과 조회수·등록일·부서/담당자 메타(우, 같은 줄 baseline 정렬)를 표시하고, 그 아래 별도 줄에 태그(#태그)를 노출한다. 이어서 브로슈어/이미지/동영상 프리뷰 영역(상단 구분선 아래 16:6 와이드 비율 박스, 옅은 회색 대각선 체크무늬 배경에 자리표시 문구 중앙 노출 — 실 미디어 등록 전 플레이스홀더), 마지막으로 본문 내용을 순서대로 표시.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 연동: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GET /api/mtrm/trend/{id}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4-3 이전/다음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"목록으로" 링크와 같은 줄, 우측 상단에 고정 배치.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첫 항목에서 "이전", 마지막 항목에서 "다음" 비활성화(회색 처리).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클릭 시 인접 기술동향 상세로 이동(조회수 갱신).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8915325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549705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19109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050322" y="221796"/>
            <a:ext cx="371495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050322" y="337882"/>
            <a:ext cx="1323871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- 기술동향 등록 팝업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620874" y="232679"/>
            <a:ext cx="401764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620874" y="348765"/>
            <a:ext cx="751267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"+ 등록"(1-3) 클릭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618822" y="232679"/>
            <a:ext cx="36344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628" dirty="0"/>
          </a:p>
        </p:txBody>
      </p:sp>
      <p:sp>
        <p:nvSpPr>
          <p:cNvPr id="10" name="Text 8"/>
          <p:cNvSpPr txBox="1"/>
          <p:nvPr/>
        </p:nvSpPr>
        <p:spPr>
          <a:xfrm>
            <a:off x="3618822" y="348765"/>
            <a:ext cx="1181258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와이어프레임 (샘플, 보정 예정)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0" y="645724"/>
            <a:ext cx="9263581" cy="5804263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5" y="652980"/>
            <a:ext cx="9249070" cy="5789752"/>
          </a:xfrm>
          <a:prstGeom prst="rect">
            <a:avLst/>
          </a:prstGeom>
          <a:solidFill>
            <a:srgbClr val="8E8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10029" y="1871875"/>
            <a:ext cx="4643410" cy="3351962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17660" dist="72553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455135" y="2002471"/>
            <a:ext cx="633027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기술동향 등록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6648715" y="1987960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455135" y="2481322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17" name="Shape 15"/>
          <p:cNvSpPr/>
          <p:nvPr/>
        </p:nvSpPr>
        <p:spPr>
          <a:xfrm>
            <a:off x="3325775" y="2416024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328" y="2416024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입력</a:t>
            </a:r>
            <a:endParaRPr lang="en-US" sz="686" dirty="0"/>
          </a:p>
        </p:txBody>
      </p:sp>
      <p:sp>
        <p:nvSpPr>
          <p:cNvPr id="19" name="Text 17"/>
          <p:cNvSpPr txBox="1"/>
          <p:nvPr/>
        </p:nvSpPr>
        <p:spPr>
          <a:xfrm>
            <a:off x="2455135" y="2829578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이름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0" name="Shape 18"/>
          <p:cNvSpPr/>
          <p:nvPr/>
        </p:nvSpPr>
        <p:spPr>
          <a:xfrm>
            <a:off x="3325775" y="2764280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328" y="2764280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이름 입력</a:t>
            </a:r>
            <a:endParaRPr lang="en-US" sz="686" dirty="0"/>
          </a:p>
        </p:txBody>
      </p:sp>
      <p:sp>
        <p:nvSpPr>
          <p:cNvPr id="22" name="Text 20"/>
          <p:cNvSpPr txBox="1"/>
          <p:nvPr/>
        </p:nvSpPr>
        <p:spPr>
          <a:xfrm>
            <a:off x="2455135" y="3177834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3" name="Shape 21"/>
          <p:cNvSpPr/>
          <p:nvPr/>
        </p:nvSpPr>
        <p:spPr>
          <a:xfrm>
            <a:off x="3325775" y="3112536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98328" y="3112536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 입력</a:t>
            </a:r>
            <a:endParaRPr lang="en-US" sz="686" dirty="0"/>
          </a:p>
        </p:txBody>
      </p:sp>
      <p:sp>
        <p:nvSpPr>
          <p:cNvPr id="25" name="Text 23"/>
          <p:cNvSpPr txBox="1"/>
          <p:nvPr/>
        </p:nvSpPr>
        <p:spPr>
          <a:xfrm>
            <a:off x="2455135" y="3526090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lang="en-US" sz="686" dirty="0"/>
          </a:p>
        </p:txBody>
      </p:sp>
      <p:sp>
        <p:nvSpPr>
          <p:cNvPr id="26" name="Shape 24"/>
          <p:cNvSpPr/>
          <p:nvPr/>
        </p:nvSpPr>
        <p:spPr>
          <a:xfrm>
            <a:off x="3325775" y="3460792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98328" y="3460792"/>
            <a:ext cx="3380983" cy="246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입력</a:t>
            </a:r>
            <a:endParaRPr lang="en-US" sz="686" dirty="0"/>
          </a:p>
        </p:txBody>
      </p:sp>
      <p:sp>
        <p:nvSpPr>
          <p:cNvPr id="28" name="Text 26"/>
          <p:cNvSpPr txBox="1"/>
          <p:nvPr/>
        </p:nvSpPr>
        <p:spPr>
          <a:xfrm>
            <a:off x="2455135" y="3874345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</a:t>
            </a:r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686" dirty="0"/>
          </a:p>
        </p:txBody>
      </p:sp>
      <p:sp>
        <p:nvSpPr>
          <p:cNvPr id="29" name="Shape 27"/>
          <p:cNvSpPr/>
          <p:nvPr/>
        </p:nvSpPr>
        <p:spPr>
          <a:xfrm>
            <a:off x="3325775" y="3809048"/>
            <a:ext cx="3482558" cy="46434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98328" y="3867090"/>
            <a:ext cx="3380983" cy="3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3"/>
              </a:lnSpc>
              <a:buNone/>
            </a:pPr>
            <a:r>
              <a:rPr lang="en-US" sz="686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 입력</a:t>
            </a:r>
            <a:endParaRPr lang="en-US" sz="686" dirty="0"/>
          </a:p>
        </p:txBody>
      </p:sp>
      <p:sp>
        <p:nvSpPr>
          <p:cNvPr id="31" name="Text 29"/>
          <p:cNvSpPr txBox="1"/>
          <p:nvPr/>
        </p:nvSpPr>
        <p:spPr>
          <a:xfrm>
            <a:off x="2455135" y="4440261"/>
            <a:ext cx="841618" cy="10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86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</a:t>
            </a:r>
            <a:endParaRPr lang="en-US" sz="686" dirty="0"/>
          </a:p>
        </p:txBody>
      </p:sp>
      <p:sp>
        <p:nvSpPr>
          <p:cNvPr id="32" name="Shape 30"/>
          <p:cNvSpPr/>
          <p:nvPr/>
        </p:nvSpPr>
        <p:spPr>
          <a:xfrm>
            <a:off x="3325775" y="4374963"/>
            <a:ext cx="3482558" cy="246681"/>
          </a:xfrm>
          <a:prstGeom prst="rect">
            <a:avLst/>
          </a:prstGeom>
          <a:solidFill>
            <a:srgbClr val="FFFFFF"/>
          </a:solidFill>
          <a:ln w="762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2051" y="4403984"/>
            <a:ext cx="455612" cy="188639"/>
          </a:xfrm>
          <a:prstGeom prst="rect">
            <a:avLst/>
          </a:prstGeom>
          <a:solidFill>
            <a:srgbClr val="EEEEEE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34605" y="4403984"/>
            <a:ext cx="333286" cy="191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28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선택</a:t>
            </a:r>
            <a:endParaRPr lang="en-US" sz="628" dirty="0"/>
          </a:p>
        </p:txBody>
      </p:sp>
      <p:sp>
        <p:nvSpPr>
          <p:cNvPr id="35" name="Text 33"/>
          <p:cNvSpPr txBox="1"/>
          <p:nvPr/>
        </p:nvSpPr>
        <p:spPr>
          <a:xfrm>
            <a:off x="3875706" y="4451144"/>
            <a:ext cx="566482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파일 없음</a:t>
            </a:r>
            <a:endParaRPr lang="en-US" sz="628" dirty="0"/>
          </a:p>
        </p:txBody>
      </p:sp>
      <p:sp>
        <p:nvSpPr>
          <p:cNvPr id="36" name="Shape 34"/>
          <p:cNvSpPr/>
          <p:nvPr/>
        </p:nvSpPr>
        <p:spPr>
          <a:xfrm>
            <a:off x="2310029" y="4766751"/>
            <a:ext cx="4643410" cy="457086"/>
          </a:xfrm>
          <a:prstGeom prst="rect">
            <a:avLst/>
          </a:prstGeom>
          <a:ln w="762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12299" y="4875581"/>
            <a:ext cx="426251" cy="246681"/>
          </a:xfrm>
          <a:prstGeom prst="rect">
            <a:avLst/>
          </a:prstGeom>
          <a:ln w="762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2895" y="4875581"/>
            <a:ext cx="208591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endParaRPr lang="en-US" sz="686" dirty="0"/>
          </a:p>
        </p:txBody>
      </p:sp>
      <p:sp>
        <p:nvSpPr>
          <p:cNvPr id="39" name="Shape 37"/>
          <p:cNvSpPr/>
          <p:nvPr/>
        </p:nvSpPr>
        <p:spPr>
          <a:xfrm>
            <a:off x="6396592" y="4875581"/>
            <a:ext cx="411740" cy="246681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27188" y="4875581"/>
            <a:ext cx="194080" cy="246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6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</a:t>
            </a:r>
            <a:endParaRPr lang="en-US" sz="686" dirty="0"/>
          </a:p>
        </p:txBody>
      </p:sp>
      <p:sp>
        <p:nvSpPr>
          <p:cNvPr id="41" name="Shape 39"/>
          <p:cNvSpPr/>
          <p:nvPr/>
        </p:nvSpPr>
        <p:spPr>
          <a:xfrm>
            <a:off x="9263581" y="0"/>
            <a:ext cx="2925258" cy="2336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222965" y="1784811"/>
            <a:ext cx="159617" cy="159617"/>
          </a:xfrm>
          <a:prstGeom prst="ellipse">
            <a:avLst/>
          </a:prstGeom>
          <a:solidFill>
            <a:srgbClr val="E67700"/>
          </a:solidFill>
          <a:ln/>
          <a:effectLst>
            <a:outerShdw sx="100000" sy="100000" kx="0" ky="0" algn="bl" rotWithShape="0" blurRad="43532" dist="14511" dir="5400000">
              <a:srgbClr val="E67700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222965" y="1784811"/>
            <a:ext cx="183560" cy="1596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</a:t>
            </a:r>
            <a:endParaRPr lang="en-US" sz="571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116085"/>
          <a:ext cx="2678577" cy="252164"/>
        </p:xfrm>
        <a:graphic>
          <a:graphicData uri="http://schemas.openxmlformats.org/drawingml/2006/table">
            <a:tbl>
              <a:tblPr/>
              <a:tblGrid>
                <a:gridCol w="2678577"/>
              </a:tblGrid>
              <a:tr h="252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1252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Description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43532" marB="435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94177" y="304724"/>
          <a:ext cx="2678577" cy="1877829"/>
        </p:xfrm>
        <a:graphic>
          <a:graphicData uri="http://schemas.openxmlformats.org/drawingml/2006/table">
            <a:tbl>
              <a:tblPr/>
              <a:tblGrid>
                <a:gridCol w="246681"/>
                <a:gridCol w="2431895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0"/>
                    </a:solidFill>
                  </a:tcPr>
                </a:tc>
              </a:tr>
              <a:tr h="16035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77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영역명: 팝업 영역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ㄴ 기술동향 등록을 트리거하는 영역이다.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요소: 기술동향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"+ 등록"(1-3) 클릭 시 오픈. 배경 화면은 비활성화(딤 처리)된다.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입력조건: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제목*, 담당자 이름*, 부서명*, 태그, 내용*, 첨부파일 입력.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인터랙션: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"등록" 클릭 시 처리 후 모달 닫힘. 배경 클릭/우측 상단 × 클릭 시 입력 폐기 후 닫힘.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Case:</a:t>
                      </a:r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필수값(제목, 담당자 이름, 부서명, 내용)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2553" marR="72553" marT="58043" marB="58043" anchor="t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11840696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60978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7919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110405" y="221796"/>
            <a:ext cx="26373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Title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110405" y="337882"/>
            <a:ext cx="1541304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 / Alert 문구 모음 (1/2)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98390" y="232679"/>
            <a:ext cx="167003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898390" y="348765"/>
            <a:ext cx="1848862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화면 Description의 "예외 Case" 항목 통합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4128" y="645724"/>
            <a:ext cx="11840696" cy="4892812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383" y="621792"/>
          <a:ext cx="11826186" cy="5582666"/>
        </p:xfrm>
        <a:graphic>
          <a:graphicData uri="http://schemas.openxmlformats.org/drawingml/2006/table">
            <a:tbl>
              <a:tblPr/>
              <a:tblGrid>
                <a:gridCol w="473047"/>
                <a:gridCol w="1655666"/>
                <a:gridCol w="2128713"/>
                <a:gridCol w="1419142"/>
                <a:gridCol w="6149616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 / Alert·Toast 문구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필터 &amp; 조회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 / Toast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조회 결과 데이터 없음 → alert: "조회된 데이터가 없습니다."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네트워크 오류 시 → toast: "잠시 후 다시 시도해주세요."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5-1 + 공정 등록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5-2 엑셀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다운로드 대상 데이터 없음 → alert: "다운로드할 데이터가 없습니다."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5-3 이메일 공유 버튼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수신자 미입력 → alert: "받는 사람을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 - 공정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 폼(공정명·Best Practice 지정·상태·담당자·첨부)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 - 이메일 공유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폼(수신자·메모)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수신자 미입력 → alert: "받는 사람을 입력해주세요." · 이메일 형식 오류 → alert: "올바른 이메일 형식이 아닙니다."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공정 자동화 현황 - 자동화 설비 동영상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공정명 + 동영상 플레이어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등록된 동영상 없음 → alert: "등록된 동영상이 없습니다."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 엑셀 다운로드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다운로드 대상 없음 → alert: "다운로드할 데이터가 없습니다."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2-3 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모달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모듈 존재 → 삭제 확인 팝업에 "이 항목은 N개 모듈에서 사용 중입니다. 계속하시겠습니까?" 안내 후 확인 시 삭제.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 - 표준공정 마스터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필수값(공장, 라인, 표준공정명, 순서)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표준공정 마스터 관리 - 삭제 확인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 확인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모달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모듈 존재 → "이 항목은 N개 모듈에서 사용 중입니다. 계속하시겠습니까?" 확인 문구 노출 후 확인 시 삭제 진행.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2-2 삭제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모달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모듈 존재 → 삭제 확인 팝업에 "이 항목은 N개 모듈에서 사용 중입니다. 계속하시겠습니까?" 안내.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모듈 표준 작업명 관리 - 표준 작업명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 작업명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필수값(작업명, 공정유형)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 - 통합 로드맵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로드맵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필수값(분과, 로드맵명, 기간(시작), 기간(종료))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28" y="62179"/>
            <a:ext cx="11840696" cy="529639"/>
          </a:xfrm>
          <a:prstGeom prst="roundRect">
            <a:avLst>
              <a:gd name="adj" fmla="val 10959"/>
            </a:avLst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490" y="247190"/>
            <a:ext cx="609788" cy="159617"/>
          </a:xfrm>
          <a:prstGeom prst="roundRect">
            <a:avLst>
              <a:gd name="adj" fmla="val 27273"/>
            </a:avLst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3554" y="268956"/>
            <a:ext cx="479192" cy="116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6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686" dirty="0"/>
          </a:p>
        </p:txBody>
      </p:sp>
      <p:sp>
        <p:nvSpPr>
          <p:cNvPr id="5" name="Text 3"/>
          <p:cNvSpPr txBox="1"/>
          <p:nvPr/>
        </p:nvSpPr>
        <p:spPr>
          <a:xfrm>
            <a:off x="1110405" y="221796"/>
            <a:ext cx="263737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Title</a:t>
            </a:r>
            <a:endParaRPr lang="en-US" sz="628" dirty="0"/>
          </a:p>
        </p:txBody>
      </p:sp>
      <p:sp>
        <p:nvSpPr>
          <p:cNvPr id="6" name="Text 4"/>
          <p:cNvSpPr txBox="1"/>
          <p:nvPr/>
        </p:nvSpPr>
        <p:spPr>
          <a:xfrm>
            <a:off x="1110405" y="337882"/>
            <a:ext cx="1556948" cy="130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 / Alert 문구 모음 (2/2)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914035" y="232679"/>
            <a:ext cx="167003" cy="9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628" dirty="0"/>
          </a:p>
        </p:txBody>
      </p:sp>
      <p:sp>
        <p:nvSpPr>
          <p:cNvPr id="8" name="Text 6"/>
          <p:cNvSpPr txBox="1"/>
          <p:nvPr/>
        </p:nvSpPr>
        <p:spPr>
          <a:xfrm>
            <a:off x="2914035" y="348765"/>
            <a:ext cx="1848862" cy="10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화면 Description의 "예외 Case" 항목 통합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4128" y="645724"/>
            <a:ext cx="11840696" cy="3185089"/>
          </a:xfrm>
          <a:prstGeom prst="rect">
            <a:avLst/>
          </a:prstGeom>
          <a:ln w="7620">
            <a:solidFill>
              <a:srgbClr val="CCCCCC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383" y="621792"/>
          <a:ext cx="11826186" cy="3732476"/>
        </p:xfrm>
        <a:graphic>
          <a:graphicData uri="http://schemas.openxmlformats.org/drawingml/2006/table">
            <a:tbl>
              <a:tblPr/>
              <a:tblGrid>
                <a:gridCol w="473047"/>
                <a:gridCol w="1655666"/>
                <a:gridCol w="2128713"/>
                <a:gridCol w="1419142"/>
                <a:gridCol w="6149616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예외 Case / Alert·Toast 문구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상세과제 로드맵 관리 - 상세과제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상세과제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필수값(과제명, 담당자, 기간(시작), 기간(종료), 진행상태)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SCR-009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- 기술 문의/제안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 문의/제안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필수값(문의/제안 내용)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생산기술 Tech PR 관리자 - 자료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필수값(제목, 과제, 담당자, 담당자 이메일)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협의체 - 협의체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협의체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필수값(협의체명, 분과, 연동 mTRM, 대상 분과장, 일정)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 - mTRM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필수값(mTRM명, 분과, 상태, 등록일)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mTRM 관리 - 삭제 확인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 확인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모달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 협의체 존재 → "이 항목은 N개 모듈에서 사용 중입니다. 계속하시겠습니까?" 확인 문구 노출 후 확인 시 삭제 진행.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 - 수정 선택모드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인라인 안내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없이 화면 이탈 시 별도 확인 없이 선택모드 해제.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40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 - 기술동향 수정 팝업(trendEdit, 프리필)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 수정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필수값(제목, 담당자 이름, 부서명, 내용)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SCR-014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 - 기술동향 등록 팝업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기술동향 등록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43A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필수값(제목, 담당자 이름, 부서명, 내용) 누락 → alert: "필수 항목을 입력해주세요."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8043" marR="58043" marT="36277" marB="36277" anchor="t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2026-08-26T05:23:24Z</dcterms:created>
  <dcterms:modified xsi:type="dcterms:W3CDTF">2026-08-26T05:23:24Z</dcterms:modified>
</cp:coreProperties>
</file>